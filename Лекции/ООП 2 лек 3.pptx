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4"/>
  </p:notesMasterIdLst>
  <p:sldIdLst>
    <p:sldId id="273" r:id="rId2"/>
    <p:sldId id="1212" r:id="rId3"/>
    <p:sldId id="1217" r:id="rId4"/>
    <p:sldId id="1216" r:id="rId5"/>
    <p:sldId id="1215" r:id="rId6"/>
    <p:sldId id="1218" r:id="rId7"/>
    <p:sldId id="1221" r:id="rId8"/>
    <p:sldId id="1220" r:id="rId9"/>
    <p:sldId id="1222" r:id="rId10"/>
    <p:sldId id="1223" r:id="rId11"/>
    <p:sldId id="1225" r:id="rId12"/>
    <p:sldId id="1226" r:id="rId13"/>
    <p:sldId id="1227" r:id="rId14"/>
    <p:sldId id="1228" r:id="rId15"/>
    <p:sldId id="1229" r:id="rId16"/>
    <p:sldId id="1231" r:id="rId17"/>
    <p:sldId id="1232" r:id="rId18"/>
    <p:sldId id="1233" r:id="rId19"/>
    <p:sldId id="1234" r:id="rId20"/>
    <p:sldId id="1235" r:id="rId21"/>
    <p:sldId id="1238" r:id="rId22"/>
    <p:sldId id="1239" r:id="rId23"/>
    <p:sldId id="1240" r:id="rId24"/>
    <p:sldId id="1241" r:id="rId25"/>
    <p:sldId id="1242" r:id="rId26"/>
    <p:sldId id="1243" r:id="rId27"/>
    <p:sldId id="1244" r:id="rId28"/>
    <p:sldId id="1245" r:id="rId29"/>
    <p:sldId id="1246" r:id="rId30"/>
    <p:sldId id="1247" r:id="rId31"/>
    <p:sldId id="1236" r:id="rId32"/>
    <p:sldId id="123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82509" autoAdjust="0"/>
  </p:normalViewPr>
  <p:slideViewPr>
    <p:cSldViewPr snapToGrid="0">
      <p:cViewPr>
        <p:scale>
          <a:sx n="50" d="100"/>
          <a:sy n="50" d="100"/>
        </p:scale>
        <p:origin x="174" y="18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 идея паттернов как способ описания решения распространенных проблем в области проектирования появилась довольно давно, но их популярность стала расти во многом благодаря известной работе четырех авторов Эриха Гаммы, Ричарда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Хелма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Ральфа Джонсона, Джона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Влиссидеса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называлась "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(на русском языке известна как "Приемы объектно-ориентированного проектирования. Паттерны проектирования") и которая вышла в свет в 1994 году. А сам коллектив авторов нередко называют "Банда четырёх"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сокращенно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Данная книга по сути являлась первой масштабной попыткой описать распространенные способы проектирования программ. И со временем применение паттернов стало считаться хорошей практикой программирования.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20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70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32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47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Хотя идея паттернов как способ описания решения распространенных проблем в области проектирования появилась довольно давно, но их популярность стала расти во многом благодаря известной работе четырех авторов Эриха Гаммы, Ричарда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Хелма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Ральфа Джонсона, Джона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Влиссидеса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называлась "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Elements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Reusable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(на русском языке известна как "Приемы объектно-ориентированного проектирования. Паттерны проектирования") и которая вышла в свет в 1994 году. А сам коллектив авторов нередко называют "Банда четырёх"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Gang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сокращенно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GoF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Данная книга по сути являлась первой масштабной попыткой описать распространенные способы проектирования программ. И со временем применение паттернов стало считаться хорошей практикой программирования.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28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20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классе определяется статическая переменная - ссылка на конкретный экземпляр данного объекта и приватный конструктор. В статическом методе 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getInstance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 этот конструктор вызывается для создания объекта, если, конечно, объект отсутствует и равен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применения паттерна Одиночка создадим небольшую программу. Например, на каждом компьютере можно одномоментно запустить только одну операционную систему. В этом плане операционная система будет реализоваться через паттерн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синглтон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83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74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8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032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82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77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2379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857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84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005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195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72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76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254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11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885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78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71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78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840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2317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097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817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349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33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5429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 smtClean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1623948"/>
            <a:ext cx="10670534" cy="1709698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3. 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</a:t>
            </a:r>
            <a:r>
              <a:rPr lang="ru-RU" sz="1800" b="1" dirty="0" smtClean="0">
                <a:solidFill>
                  <a:srgbClr val="292929"/>
                </a:solidFill>
                <a:latin typeface="Bookman Old Style" pitchFamily="18" charset="0"/>
              </a:rPr>
              <a:t>ст. преподаватель каф</a:t>
            </a:r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. </a:t>
            </a:r>
            <a:r>
              <a:rPr lang="ru-RU" sz="1800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sz="1800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3333646"/>
            <a:ext cx="1104134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Классификация паттернов </a:t>
            </a:r>
            <a:r>
              <a:rPr lang="en-US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GoF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Одиночка 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Singleton)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Фабричный 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метод (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Factory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Декоратор 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Decorator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Адаптер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Adapter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Фасад (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Facade)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правильно выбирать паттерн</a:t>
            </a:r>
            <a:endParaRPr lang="en-US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Классификация паттернов 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GoF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501502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GoF</a:t>
            </a:r>
            <a:r>
              <a:rPr lang="ru-RU" sz="2400" b="1" dirty="0">
                <a:latin typeface="Bookman Old Style" panose="02050604050505020204" pitchFamily="18" charset="0"/>
              </a:rPr>
              <a:t> (</a:t>
            </a:r>
            <a:r>
              <a:rPr lang="ru-RU" sz="2400" b="1" dirty="0" err="1">
                <a:latin typeface="Bookman Old Style" panose="02050604050505020204" pitchFamily="18" charset="0"/>
              </a:rPr>
              <a:t>Gang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of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Four</a:t>
            </a:r>
            <a:r>
              <a:rPr lang="ru-RU" sz="2400" b="1" dirty="0">
                <a:latin typeface="Bookman Old Style" panose="02050604050505020204" pitchFamily="18" charset="0"/>
              </a:rPr>
              <a:t>) — «Банда четырёх»</a:t>
            </a:r>
          </a:p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GoF</a:t>
            </a:r>
            <a:r>
              <a:rPr lang="ru-RU" sz="2400" dirty="0">
                <a:latin typeface="Bookman Old Style" panose="02050604050505020204" pitchFamily="18" charset="0"/>
              </a:rPr>
              <a:t> — это прозвище четырёх авторов, которые в 1994 году выпустили книгу, ставшую «Библией» программирования: </a:t>
            </a:r>
            <a:r>
              <a:rPr lang="ru-RU" sz="2400" b="1" dirty="0">
                <a:latin typeface="Bookman Old Style" panose="02050604050505020204" pitchFamily="18" charset="0"/>
              </a:rPr>
              <a:t>«</a:t>
            </a:r>
            <a:r>
              <a:rPr lang="ru-RU" sz="2400" b="1" dirty="0" err="1">
                <a:latin typeface="Bookman Old Style" panose="02050604050505020204" pitchFamily="18" charset="0"/>
              </a:rPr>
              <a:t>Design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Patterns</a:t>
            </a:r>
            <a:r>
              <a:rPr lang="ru-RU" sz="2400" b="1" dirty="0">
                <a:latin typeface="Bookman Old Style" panose="02050604050505020204" pitchFamily="18" charset="0"/>
              </a:rPr>
              <a:t>: </a:t>
            </a:r>
            <a:r>
              <a:rPr lang="ru-RU" sz="2400" b="1" dirty="0" err="1">
                <a:latin typeface="Bookman Old Style" panose="02050604050505020204" pitchFamily="18" charset="0"/>
              </a:rPr>
              <a:t>Elements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of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Reusable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Object-Oriented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Software</a:t>
            </a:r>
            <a:r>
              <a:rPr lang="ru-RU" sz="2400" b="1" dirty="0">
                <a:latin typeface="Bookman Old Style" panose="02050604050505020204" pitchFamily="18" charset="0"/>
              </a:rPr>
              <a:t>»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Состав «Банды»: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Эрих Гамма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dirty="0" err="1">
                <a:latin typeface="Bookman Old Style" panose="02050604050505020204" pitchFamily="18" charset="0"/>
              </a:rPr>
              <a:t>Erich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Gamma</a:t>
            </a:r>
            <a:r>
              <a:rPr lang="ru-RU" sz="2400" dirty="0">
                <a:latin typeface="Bookman Old Style" panose="020506040505050202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Ричард </a:t>
            </a:r>
            <a:r>
              <a:rPr lang="ru-RU" sz="2400" b="1" dirty="0" err="1">
                <a:latin typeface="Bookman Old Style" panose="02050604050505020204" pitchFamily="18" charset="0"/>
              </a:rPr>
              <a:t>Хелм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dirty="0" err="1">
                <a:latin typeface="Bookman Old Style" panose="02050604050505020204" pitchFamily="18" charset="0"/>
              </a:rPr>
              <a:t>Richard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Helm</a:t>
            </a:r>
            <a:r>
              <a:rPr lang="ru-RU" sz="2400" dirty="0">
                <a:latin typeface="Bookman Old Style" panose="020506040505050202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Ральф Джонсон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dirty="0" err="1">
                <a:latin typeface="Bookman Old Style" panose="02050604050505020204" pitchFamily="18" charset="0"/>
              </a:rPr>
              <a:t>Ralph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Johnson</a:t>
            </a:r>
            <a:r>
              <a:rPr lang="ru-RU" sz="2400" dirty="0">
                <a:latin typeface="Bookman Old Style" panose="020506040505050202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Джон </a:t>
            </a:r>
            <a:r>
              <a:rPr lang="ru-RU" sz="2400" b="1" dirty="0" err="1">
                <a:latin typeface="Bookman Old Style" panose="02050604050505020204" pitchFamily="18" charset="0"/>
              </a:rPr>
              <a:t>Влиссидес</a:t>
            </a:r>
            <a:r>
              <a:rPr lang="ru-RU" sz="2400" dirty="0">
                <a:latin typeface="Bookman Old Style" panose="02050604050505020204" pitchFamily="18" charset="0"/>
              </a:rPr>
              <a:t> (</a:t>
            </a:r>
            <a:r>
              <a:rPr lang="ru-RU" sz="2400" dirty="0" err="1">
                <a:latin typeface="Bookman Old Style" panose="02050604050505020204" pitchFamily="18" charset="0"/>
              </a:rPr>
              <a:t>John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Vlissides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38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512064"/>
            <a:ext cx="12192000" cy="556966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Почему </a:t>
            </a:r>
            <a:r>
              <a:rPr lang="ru-RU" sz="2400" b="1" dirty="0">
                <a:latin typeface="Bookman Old Style" panose="02050604050505020204" pitchFamily="18" charset="0"/>
              </a:rPr>
              <a:t>это важно: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Систематизация:</a:t>
            </a:r>
            <a:r>
              <a:rPr lang="ru-RU" sz="2400" dirty="0">
                <a:latin typeface="Bookman Old Style" panose="02050604050505020204" pitchFamily="18" charset="0"/>
              </a:rPr>
              <a:t> До этой книги разработчики решали одни и те же задачи по-разному. Авторы выделили и описали </a:t>
            </a:r>
            <a:r>
              <a:rPr lang="ru-RU" sz="2400" b="1" dirty="0">
                <a:latin typeface="Bookman Old Style" panose="02050604050505020204" pitchFamily="18" charset="0"/>
              </a:rPr>
              <a:t>23 классических паттерна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Единый язык:</a:t>
            </a:r>
            <a:r>
              <a:rPr lang="ru-RU" sz="2400" dirty="0">
                <a:latin typeface="Bookman Old Style" panose="02050604050505020204" pitchFamily="18" charset="0"/>
              </a:rPr>
              <a:t> Они ввели термины (такие как </a:t>
            </a:r>
            <a:r>
              <a:rPr lang="ru-RU" sz="2400" i="1" dirty="0" err="1">
                <a:latin typeface="Bookman Old Style" panose="02050604050505020204" pitchFamily="18" charset="0"/>
              </a:rPr>
              <a:t>Singleton</a:t>
            </a:r>
            <a:r>
              <a:rPr lang="ru-RU" sz="2400" dirty="0">
                <a:latin typeface="Bookman Old Style" panose="02050604050505020204" pitchFamily="18" charset="0"/>
              </a:rPr>
              <a:t>, </a:t>
            </a:r>
            <a:r>
              <a:rPr lang="ru-RU" sz="2400" i="1" dirty="0" err="1">
                <a:latin typeface="Bookman Old Style" panose="02050604050505020204" pitchFamily="18" charset="0"/>
              </a:rPr>
              <a:t>Strategy</a:t>
            </a:r>
            <a:r>
              <a:rPr lang="ru-RU" sz="2400" dirty="0">
                <a:latin typeface="Bookman Old Style" panose="02050604050505020204" pitchFamily="18" charset="0"/>
              </a:rPr>
              <a:t>, </a:t>
            </a:r>
            <a:r>
              <a:rPr lang="ru-RU" sz="2400" i="1" dirty="0" err="1">
                <a:latin typeface="Bookman Old Style" panose="02050604050505020204" pitchFamily="18" charset="0"/>
              </a:rPr>
              <a:t>Observer</a:t>
            </a:r>
            <a:r>
              <a:rPr lang="ru-RU" sz="2400" dirty="0">
                <a:latin typeface="Bookman Old Style" panose="02050604050505020204" pitchFamily="18" charset="0"/>
              </a:rPr>
              <a:t>), которые сегодня понимает любой программист в любой точке мира.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Стандарт ООП:</a:t>
            </a:r>
            <a:r>
              <a:rPr lang="ru-RU" sz="2400" dirty="0">
                <a:latin typeface="Bookman Old Style" panose="02050604050505020204" pitchFamily="18" charset="0"/>
              </a:rPr>
              <a:t> Книга доказала, что объектно-ориентированное проектирование — это не просто классы, а гибкие и </a:t>
            </a:r>
            <a:r>
              <a:rPr lang="ru-RU" sz="2400" dirty="0" err="1">
                <a:latin typeface="Bookman Old Style" panose="02050604050505020204" pitchFamily="18" charset="0"/>
              </a:rPr>
              <a:t>переиспользуемые</a:t>
            </a:r>
            <a:r>
              <a:rPr lang="ru-RU" sz="2400" dirty="0">
                <a:latin typeface="Bookman Old Style" panose="02050604050505020204" pitchFamily="18" charset="0"/>
              </a:rPr>
              <a:t> схемы взаимодействия между ними.</a:t>
            </a:r>
          </a:p>
        </p:txBody>
      </p:sp>
    </p:spTree>
    <p:extLst>
      <p:ext uri="{BB962C8B-B14F-4D97-AF65-F5344CB8AC3E}">
        <p14:creationId xmlns:p14="http://schemas.microsoft.com/office/powerpoint/2010/main" val="270762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361747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Паттерн</a:t>
            </a:r>
            <a:r>
              <a:rPr lang="ru-RU" sz="2400" dirty="0">
                <a:latin typeface="Bookman Old Style" panose="02050604050505020204" pitchFamily="18" charset="0"/>
              </a:rPr>
              <a:t> — это проверенное временем решение типичной задачи проектирования. Это «золотой стандарт» того, как связать объекты и классы.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Универсальность:</a:t>
            </a:r>
            <a:r>
              <a:rPr lang="ru-RU" sz="2400" dirty="0">
                <a:latin typeface="Bookman Old Style" panose="02050604050505020204" pitchFamily="18" charset="0"/>
              </a:rPr>
              <a:t> Паттерны не зависят от языка программирования (принципы в C#, </a:t>
            </a:r>
            <a:r>
              <a:rPr lang="ru-RU" sz="2400" dirty="0" err="1">
                <a:latin typeface="Bookman Old Style" panose="02050604050505020204" pitchFamily="18" charset="0"/>
              </a:rPr>
              <a:t>Java</a:t>
            </a:r>
            <a:r>
              <a:rPr lang="ru-RU" sz="2400" dirty="0">
                <a:latin typeface="Bookman Old Style" panose="02050604050505020204" pitchFamily="18" charset="0"/>
              </a:rPr>
              <a:t> или </a:t>
            </a:r>
            <a:r>
              <a:rPr lang="ru-RU" sz="2400" dirty="0" err="1">
                <a:latin typeface="Bookman Old Style" panose="02050604050505020204" pitchFamily="18" charset="0"/>
              </a:rPr>
              <a:t>Python</a:t>
            </a:r>
            <a:r>
              <a:rPr lang="ru-RU" sz="2400" dirty="0">
                <a:latin typeface="Bookman Old Style" panose="02050604050505020204" pitchFamily="18" charset="0"/>
              </a:rPr>
              <a:t> идентичны).</a:t>
            </a:r>
          </a:p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Общий язык:</a:t>
            </a:r>
            <a:r>
              <a:rPr lang="ru-RU" sz="2400" dirty="0">
                <a:latin typeface="Bookman Old Style" panose="02050604050505020204" pitchFamily="18" charset="0"/>
              </a:rPr>
              <a:t> Позволяют разработчикам понимать друг друга быстрее. Вместо долгого объяснения структуры достаточно сказать название </a:t>
            </a:r>
            <a:r>
              <a:rPr lang="ru-RU" sz="2400" dirty="0" smtClean="0">
                <a:latin typeface="Bookman Old Style" panose="02050604050505020204" pitchFamily="18" charset="0"/>
              </a:rPr>
              <a:t>паттерна.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Паттерн </a:t>
            </a:r>
            <a:r>
              <a:rPr lang="ru-RU" sz="2400" b="1" dirty="0">
                <a:latin typeface="Bookman Old Style" panose="02050604050505020204" pitchFamily="18" charset="0"/>
              </a:rPr>
              <a:t>должен упрощать</a:t>
            </a:r>
            <a:r>
              <a:rPr lang="ru-RU" sz="2400" dirty="0">
                <a:latin typeface="Bookman Old Style" panose="02050604050505020204" pitchFamily="18" charset="0"/>
              </a:rPr>
              <a:t>, а не </a:t>
            </a:r>
            <a:r>
              <a:rPr lang="ru-RU" sz="2400" dirty="0" smtClean="0">
                <a:latin typeface="Bookman Old Style" panose="02050604050505020204" pitchFamily="18" charset="0"/>
              </a:rPr>
              <a:t>усложнять.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Избегайте </a:t>
            </a:r>
            <a:r>
              <a:rPr lang="ru-RU" sz="2400" b="1" dirty="0" err="1">
                <a:latin typeface="Bookman Old Style" panose="02050604050505020204" pitchFamily="18" charset="0"/>
              </a:rPr>
              <a:t>over-engineering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r>
              <a:rPr lang="ru-RU" sz="2400" dirty="0">
                <a:latin typeface="Bookman Old Style" panose="02050604050505020204" pitchFamily="18" charset="0"/>
              </a:rPr>
              <a:t> не используйте паттерны «про запас» или ради самих паттернов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3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0038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Группы </a:t>
            </a:r>
            <a:r>
              <a:rPr lang="ru-RU" sz="2400" b="1" dirty="0" smtClean="0">
                <a:latin typeface="Bookman Old Style" panose="02050604050505020204" pitchFamily="18" charset="0"/>
              </a:rPr>
              <a:t>паттернов</a:t>
            </a:r>
          </a:p>
          <a:p>
            <a:pPr>
              <a:lnSpc>
                <a:spcPct val="114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1</a:t>
            </a:r>
            <a:r>
              <a:rPr lang="ru-RU" sz="2400" b="1" dirty="0">
                <a:latin typeface="Bookman Old Style" panose="02050604050505020204" pitchFamily="18" charset="0"/>
              </a:rPr>
              <a:t>. Порождающие (</a:t>
            </a:r>
            <a:r>
              <a:rPr lang="ru-RU" sz="2400" b="1" dirty="0" err="1">
                <a:latin typeface="Bookman Old Style" panose="02050604050505020204" pitchFamily="18" charset="0"/>
              </a:rPr>
              <a:t>Creational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Задача:</a:t>
            </a:r>
            <a:r>
              <a:rPr lang="ru-RU" sz="2400" dirty="0">
                <a:latin typeface="Bookman Old Style" panose="02050604050505020204" pitchFamily="18" charset="0"/>
              </a:rPr>
              <a:t> Гибкое создание объектов.</a:t>
            </a: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Скрывают логику создания (</a:t>
            </a:r>
            <a:r>
              <a:rPr lang="ru-RU" sz="2400" dirty="0" err="1">
                <a:latin typeface="Bookman Old Style" panose="02050604050505020204" pitchFamily="18" charset="0"/>
              </a:rPr>
              <a:t>инстанцирования</a:t>
            </a:r>
            <a:r>
              <a:rPr lang="ru-RU" sz="2400" dirty="0">
                <a:latin typeface="Bookman Old Style" panose="02050604050505020204" pitchFamily="18" charset="0"/>
              </a:rPr>
              <a:t>). Позволяют системе не зависеть от того, как создаются, компонуются и представляются её объекты.</a:t>
            </a:r>
          </a:p>
          <a:p>
            <a:pPr>
              <a:lnSpc>
                <a:spcPct val="114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Помогают избавиться от бесконечных </a:t>
            </a:r>
            <a:r>
              <a:rPr lang="ru-RU" sz="2400" i="1" dirty="0" err="1">
                <a:latin typeface="Bookman Old Style" panose="02050604050505020204" pitchFamily="18" charset="0"/>
              </a:rPr>
              <a:t>new</a:t>
            </a:r>
            <a:r>
              <a:rPr lang="ru-RU" sz="2400" i="1" dirty="0">
                <a:latin typeface="Bookman Old Style" panose="02050604050505020204" pitchFamily="18" charset="0"/>
              </a:rPr>
              <a:t> в коде.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2. Структурные (</a:t>
            </a:r>
            <a:r>
              <a:rPr lang="ru-RU" sz="2400" b="1" dirty="0" err="1">
                <a:latin typeface="Bookman Old Style" panose="02050604050505020204" pitchFamily="18" charset="0"/>
              </a:rPr>
              <a:t>Structural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Задача:</a:t>
            </a:r>
            <a:r>
              <a:rPr lang="ru-RU" sz="2400" dirty="0">
                <a:latin typeface="Bookman Old Style" panose="02050604050505020204" pitchFamily="18" charset="0"/>
              </a:rPr>
              <a:t> Построение связей между объектами.</a:t>
            </a: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Отвечают за то, как собрать из мелких «кирпичиков» (классов) крупную и эффективную </a:t>
            </a:r>
            <a:r>
              <a:rPr lang="ru-RU" sz="2400" dirty="0" smtClean="0">
                <a:latin typeface="Bookman Old Style" panose="02050604050505020204" pitchFamily="18" charset="0"/>
              </a:rPr>
              <a:t>систему.</a:t>
            </a:r>
          </a:p>
          <a:p>
            <a:pPr>
              <a:lnSpc>
                <a:spcPct val="114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3</a:t>
            </a:r>
            <a:r>
              <a:rPr lang="ru-RU" sz="2400" b="1" dirty="0">
                <a:latin typeface="Bookman Old Style" panose="02050604050505020204" pitchFamily="18" charset="0"/>
              </a:rPr>
              <a:t>. Поведенческие (</a:t>
            </a:r>
            <a:r>
              <a:rPr lang="ru-RU" sz="2400" b="1" dirty="0" err="1">
                <a:latin typeface="Bookman Old Style" panose="02050604050505020204" pitchFamily="18" charset="0"/>
              </a:rPr>
              <a:t>Behavioral</a:t>
            </a:r>
            <a:r>
              <a:rPr lang="ru-RU" sz="2400" b="1" dirty="0">
                <a:latin typeface="Bookman Old Style" panose="02050604050505020204" pitchFamily="18" charset="0"/>
              </a:rPr>
              <a:t>)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Задача:</a:t>
            </a:r>
            <a:r>
              <a:rPr lang="ru-RU" sz="2400" dirty="0">
                <a:latin typeface="Bookman Old Style" panose="02050604050505020204" pitchFamily="18" charset="0"/>
              </a:rPr>
              <a:t> Взаимодействие и алгоритмы.</a:t>
            </a:r>
          </a:p>
          <a:p>
            <a:pPr>
              <a:lnSpc>
                <a:spcPct val="114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Суть:</a:t>
            </a:r>
            <a:r>
              <a:rPr lang="ru-RU" sz="2400" dirty="0">
                <a:latin typeface="Bookman Old Style" panose="02050604050505020204" pitchFamily="18" charset="0"/>
              </a:rPr>
              <a:t> Определяют, как объекты общаются между собой и как распределяются обязанности.</a:t>
            </a:r>
          </a:p>
          <a:p>
            <a:pPr>
              <a:lnSpc>
                <a:spcPct val="114000"/>
              </a:lnSpc>
            </a:pPr>
            <a:r>
              <a:rPr lang="ru-RU" sz="2400" i="1" dirty="0">
                <a:latin typeface="Bookman Old Style" panose="02050604050505020204" pitchFamily="18" charset="0"/>
              </a:rPr>
              <a:t>Подробно разберем на следующей лекции.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Одиночка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Singleton)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624369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Проблема:</a:t>
            </a:r>
            <a:r>
              <a:rPr lang="ru-RU" sz="2400" dirty="0">
                <a:latin typeface="Bookman Old Style" panose="02050604050505020204" pitchFamily="18" charset="0"/>
              </a:rPr>
              <a:t> В приложении существуют ресурсы, которые должны быть уникальны (например, настройки программы, логгер или соединение с базой данных). Создание нескольких копий таких объектов ведет к конфликтам и избыточному потреблению памяти.</a:t>
            </a:r>
          </a:p>
          <a:p>
            <a:pPr algn="just">
              <a:lnSpc>
                <a:spcPct val="14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Решение: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Гарантировать, что у класса есть </a:t>
            </a:r>
            <a:r>
              <a:rPr lang="ru-RU" sz="2400" b="1" dirty="0">
                <a:latin typeface="Bookman Old Style" panose="02050604050505020204" pitchFamily="18" charset="0"/>
              </a:rPr>
              <a:t>только один</a:t>
            </a:r>
            <a:r>
              <a:rPr lang="ru-RU" sz="2400" dirty="0">
                <a:latin typeface="Bookman Old Style" panose="02050604050505020204" pitchFamily="18" charset="0"/>
              </a:rPr>
              <a:t> экземпляр.</a:t>
            </a:r>
          </a:p>
          <a:p>
            <a:pPr algn="just">
              <a:lnSpc>
                <a:spcPct val="14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Предоставить глобальную точку доступа к этому экземпляру.</a:t>
            </a:r>
          </a:p>
          <a:p>
            <a:pPr algn="just">
              <a:lnSpc>
                <a:spcPct val="14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Отличие от глобальных переменных:</a:t>
            </a:r>
            <a:endParaRPr lang="ru-RU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4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Ленивая инициализация (</a:t>
            </a:r>
            <a:r>
              <a:rPr lang="ru-RU" sz="2400" b="1" dirty="0" err="1">
                <a:latin typeface="Bookman Old Style" panose="02050604050505020204" pitchFamily="18" charset="0"/>
              </a:rPr>
              <a:t>Lazy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>
                <a:latin typeface="Bookman Old Style" panose="02050604050505020204" pitchFamily="18" charset="0"/>
              </a:rPr>
              <a:t>Initialization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Объект не создается при старте программы «на всякий случай». Он рождается только в тот момент, когда к нему впервые обратились. Если объект не понадобился — память не будет занята.</a:t>
            </a:r>
          </a:p>
        </p:txBody>
      </p:sp>
    </p:spTree>
    <p:extLst>
      <p:ext uri="{BB962C8B-B14F-4D97-AF65-F5344CB8AC3E}">
        <p14:creationId xmlns:p14="http://schemas.microsoft.com/office/powerpoint/2010/main" val="286892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6999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Одиночка (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Singleton</a:t>
            </a:r>
            <a:r>
              <a:rPr lang="ru-RU" sz="2400" b="1" dirty="0" smtClean="0">
                <a:latin typeface="Bookman Old Style" panose="02050604050505020204" pitchFamily="18" charset="0"/>
              </a:rPr>
              <a:t>,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Синглтон</a:t>
            </a:r>
            <a:r>
              <a:rPr lang="ru-RU" sz="2400" b="1" dirty="0" smtClean="0">
                <a:latin typeface="Bookman Old Style" panose="02050604050505020204" pitchFamily="18" charset="0"/>
              </a:rPr>
              <a:t>) </a:t>
            </a:r>
            <a:r>
              <a:rPr lang="ru-RU" sz="2400" dirty="0" smtClean="0">
                <a:latin typeface="Bookman Old Style" panose="02050604050505020204" pitchFamily="18" charset="0"/>
              </a:rPr>
              <a:t>- порождающий паттерн, который гарантирует, что для определенного класса будет создан только один объект, а также предоставит к этому объекту точку доступа.</a:t>
            </a:r>
          </a:p>
          <a:p>
            <a:pPr>
              <a:lnSpc>
                <a:spcPct val="13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Чтобы реализовать этот паттерн, нужно соблюсти три обязательных условия в коде класса: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Приватный конструктор:</a:t>
            </a:r>
            <a:r>
              <a:rPr lang="ru-RU" sz="2400" dirty="0">
                <a:latin typeface="Bookman Old Style" panose="02050604050505020204" pitchFamily="18" charset="0"/>
              </a:rPr>
              <a:t> Мы «запираем» класс изнутри. Никто не может написать </a:t>
            </a:r>
            <a:r>
              <a:rPr lang="ru-RU" sz="2400" dirty="0" err="1">
                <a:latin typeface="Bookman Old Style" panose="02050604050505020204" pitchFamily="18" charset="0"/>
              </a:rPr>
              <a:t>new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MyClass</a:t>
            </a:r>
            <a:r>
              <a:rPr lang="ru-RU" sz="2400" dirty="0">
                <a:latin typeface="Bookman Old Style" panose="02050604050505020204" pitchFamily="18" charset="0"/>
              </a:rPr>
              <a:t>() за пределами самого класса.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Статическое поле (</a:t>
            </a:r>
            <a:r>
              <a:rPr lang="ru-RU" sz="2400" b="1" dirty="0" err="1">
                <a:latin typeface="Bookman Old Style" panose="02050604050505020204" pitchFamily="18" charset="0"/>
              </a:rPr>
              <a:t>instance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В нем хранится тот самый единственный экземпляр.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Публичный статический метод (</a:t>
            </a:r>
            <a:r>
              <a:rPr lang="ru-RU" sz="2400" b="1" dirty="0" err="1">
                <a:latin typeface="Bookman Old Style" panose="02050604050505020204" pitchFamily="18" charset="0"/>
              </a:rPr>
              <a:t>GetInstance</a:t>
            </a:r>
            <a:r>
              <a:rPr lang="ru-RU" sz="2400" b="1" dirty="0">
                <a:latin typeface="Bookman Old Style" panose="02050604050505020204" pitchFamily="18" charset="0"/>
              </a:rPr>
              <a:t>):</a:t>
            </a:r>
            <a:r>
              <a:rPr lang="ru-RU" sz="2400" dirty="0">
                <a:latin typeface="Bookman Old Style" panose="02050604050505020204" pitchFamily="18" charset="0"/>
              </a:rPr>
              <a:t> Единственный способ получить объект.</a:t>
            </a:r>
          </a:p>
          <a:p>
            <a:pPr>
              <a:lnSpc>
                <a:spcPct val="13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Логика метода </a:t>
            </a:r>
            <a:r>
              <a:rPr lang="ru-RU" sz="2400" b="1" dirty="0" err="1">
                <a:latin typeface="Bookman Old Style" panose="02050604050505020204" pitchFamily="18" charset="0"/>
              </a:rPr>
              <a:t>GetInstance</a:t>
            </a:r>
            <a:r>
              <a:rPr lang="ru-RU" sz="2400" b="1" dirty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3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Если поле </a:t>
            </a:r>
            <a:r>
              <a:rPr lang="ru-RU" sz="2400" dirty="0" err="1">
                <a:latin typeface="Bookman Old Style" panose="02050604050505020204" pitchFamily="18" charset="0"/>
              </a:rPr>
              <a:t>instance</a:t>
            </a:r>
            <a:r>
              <a:rPr lang="ru-RU" sz="2400" dirty="0">
                <a:latin typeface="Bookman Old Style" panose="02050604050505020204" pitchFamily="18" charset="0"/>
              </a:rPr>
              <a:t> пустое (</a:t>
            </a:r>
            <a:r>
              <a:rPr lang="ru-RU" sz="2400" dirty="0" err="1">
                <a:latin typeface="Bookman Old Style" panose="02050604050505020204" pitchFamily="18" charset="0"/>
              </a:rPr>
              <a:t>null</a:t>
            </a:r>
            <a:r>
              <a:rPr lang="ru-RU" sz="2400" dirty="0">
                <a:latin typeface="Bookman Old Style" panose="02050604050505020204" pitchFamily="18" charset="0"/>
              </a:rPr>
              <a:t>) — создаем объект и сохраняем его.</a:t>
            </a:r>
          </a:p>
          <a:p>
            <a:pPr>
              <a:lnSpc>
                <a:spcPct val="13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Если объект уже есть — просто возвращаем его.</a:t>
            </a:r>
          </a:p>
        </p:txBody>
      </p:sp>
    </p:spTree>
    <p:extLst>
      <p:ext uri="{BB962C8B-B14F-4D97-AF65-F5344CB8AC3E}">
        <p14:creationId xmlns:p14="http://schemas.microsoft.com/office/powerpoint/2010/main" val="363547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OS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Статическое поле для хранения единственного объекта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OS _instance;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Приватный конструктор — запрет на создание через '</a:t>
            </a:r>
            <a:r>
              <a:rPr lang="ru-RU" sz="2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Name = name;</a:t>
            </a:r>
          </a:p>
          <a:p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3. Глобальная точка доступа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OS </a:t>
            </a:r>
            <a:r>
              <a:rPr lang="en-US" sz="22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GetInstance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2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(_instance ==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_instance =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OS(name);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2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_instance;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49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endParaRPr lang="ru-RU" sz="2400" b="1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ВНИМАНИЕ!</a:t>
            </a:r>
          </a:p>
          <a:p>
            <a:pPr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«</a:t>
            </a:r>
            <a:r>
              <a:rPr lang="ru-RU" sz="2400" dirty="0" err="1">
                <a:latin typeface="Bookman Old Style" panose="02050604050505020204" pitchFamily="18" charset="0"/>
              </a:rPr>
              <a:t>Синглтон</a:t>
            </a:r>
            <a:r>
              <a:rPr lang="ru-RU" sz="2400" dirty="0">
                <a:latin typeface="Bookman Old Style" panose="02050604050505020204" pitchFamily="18" charset="0"/>
              </a:rPr>
              <a:t> часто называют </a:t>
            </a:r>
            <a:r>
              <a:rPr lang="ru-RU" sz="2400" b="1" dirty="0">
                <a:latin typeface="Bookman Old Style" panose="02050604050505020204" pitchFamily="18" charset="0"/>
              </a:rPr>
              <a:t>'</a:t>
            </a:r>
            <a:r>
              <a:rPr lang="ru-RU" sz="2400" b="1" dirty="0" err="1">
                <a:latin typeface="Bookman Old Style" panose="02050604050505020204" pitchFamily="18" charset="0"/>
              </a:rPr>
              <a:t>антипаттерном</a:t>
            </a:r>
            <a:r>
              <a:rPr lang="ru-RU" sz="2400" dirty="0">
                <a:latin typeface="Bookman Old Style" panose="02050604050505020204" pitchFamily="18" charset="0"/>
              </a:rPr>
              <a:t>', если его используют </a:t>
            </a:r>
            <a:r>
              <a:rPr lang="ru-RU" sz="2400" b="1" dirty="0">
                <a:latin typeface="Bookman Old Style" panose="02050604050505020204" pitchFamily="18" charset="0"/>
              </a:rPr>
              <a:t>везде подряд</a:t>
            </a:r>
            <a:r>
              <a:rPr lang="ru-RU" sz="2400" dirty="0">
                <a:latin typeface="Bookman Old Style" panose="02050604050505020204" pitchFamily="18" charset="0"/>
              </a:rPr>
              <a:t>. Он создает </a:t>
            </a:r>
            <a:r>
              <a:rPr lang="ru-RU" sz="2400" b="1" dirty="0">
                <a:latin typeface="Bookman Old Style" panose="02050604050505020204" pitchFamily="18" charset="0"/>
              </a:rPr>
              <a:t>сильную связанность</a:t>
            </a:r>
            <a:r>
              <a:rPr lang="ru-RU" sz="2400" dirty="0">
                <a:latin typeface="Bookman Old Style" panose="02050604050505020204" pitchFamily="18" charset="0"/>
              </a:rPr>
              <a:t> в коде, поэтому используйте его только тогда, когда вам действительно жизненно важна уникальность объекта в рамках всей программы».</a:t>
            </a:r>
            <a:endParaRPr lang="en-US" sz="2800" b="0" dirty="0">
              <a:solidFill>
                <a:srgbClr val="3B3B3B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2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Фабричный метод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Factory Method)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470898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2400" dirty="0"/>
              <a:t>Если мы пишем так</a:t>
            </a:r>
            <a:r>
              <a:rPr lang="ru-RU" sz="2400" dirty="0" smtClean="0"/>
              <a:t>:</a:t>
            </a:r>
          </a:p>
          <a:p>
            <a:pPr algn="just">
              <a:lnSpc>
                <a:spcPct val="125000"/>
              </a:lnSpc>
            </a:pPr>
            <a:endParaRPr lang="ru-RU" sz="2400" dirty="0" smtClean="0"/>
          </a:p>
          <a:p>
            <a:pPr algn="just">
              <a:lnSpc>
                <a:spcPct val="125000"/>
              </a:lnSpc>
            </a:pPr>
            <a:r>
              <a:rPr lang="en-US" sz="2400" dirty="0" smtClean="0">
                <a:solidFill>
                  <a:srgbClr val="D73A49"/>
                </a:solidFill>
              </a:rPr>
              <a:t>if</a:t>
            </a:r>
            <a:r>
              <a:rPr lang="en-US" sz="2400" dirty="0" smtClean="0">
                <a:solidFill>
                  <a:srgbClr val="2B2D31"/>
                </a:solidFill>
              </a:rPr>
              <a:t> </a:t>
            </a:r>
            <a:r>
              <a:rPr lang="en-US" sz="2400" dirty="0">
                <a:solidFill>
                  <a:srgbClr val="2B2D31"/>
                </a:solidFill>
              </a:rPr>
              <a:t>(</a:t>
            </a:r>
            <a:r>
              <a:rPr lang="en-US" sz="2400" dirty="0">
                <a:solidFill>
                  <a:srgbClr val="D73A49"/>
                </a:solidFill>
              </a:rPr>
              <a:t>type</a:t>
            </a:r>
            <a:r>
              <a:rPr lang="en-US" sz="2400" dirty="0">
                <a:solidFill>
                  <a:srgbClr val="2B2D31"/>
                </a:solidFill>
              </a:rPr>
              <a:t> == </a:t>
            </a:r>
            <a:r>
              <a:rPr lang="en-US" sz="2400" dirty="0">
                <a:solidFill>
                  <a:srgbClr val="032F62"/>
                </a:solidFill>
              </a:rPr>
              <a:t>"wood"</a:t>
            </a:r>
            <a:r>
              <a:rPr lang="en-US" sz="2400" dirty="0">
                <a:solidFill>
                  <a:srgbClr val="2B2D31"/>
                </a:solidFill>
              </a:rPr>
              <a:t>) house = </a:t>
            </a:r>
            <a:r>
              <a:rPr lang="en-US" sz="2400" dirty="0">
                <a:solidFill>
                  <a:srgbClr val="E36209"/>
                </a:solidFill>
              </a:rPr>
              <a:t>new</a:t>
            </a:r>
            <a:r>
              <a:rPr lang="en-US" sz="2400" dirty="0">
                <a:solidFill>
                  <a:srgbClr val="2B2D31"/>
                </a:solidFill>
              </a:rPr>
              <a:t> </a:t>
            </a:r>
            <a:r>
              <a:rPr lang="en-US" sz="2400" dirty="0" err="1">
                <a:solidFill>
                  <a:srgbClr val="2B2D31"/>
                </a:solidFill>
              </a:rPr>
              <a:t>WoodHouse</a:t>
            </a:r>
            <a:r>
              <a:rPr lang="en-US" sz="2400" dirty="0">
                <a:solidFill>
                  <a:srgbClr val="2B2D31"/>
                </a:solidFill>
              </a:rPr>
              <a:t>();</a:t>
            </a:r>
            <a:endParaRPr lang="ru-RU" sz="2400" dirty="0">
              <a:solidFill>
                <a:srgbClr val="2B2D31"/>
              </a:solidFill>
            </a:endParaRPr>
          </a:p>
          <a:p>
            <a:pPr algn="just">
              <a:lnSpc>
                <a:spcPct val="125000"/>
              </a:lnSpc>
            </a:pPr>
            <a:r>
              <a:rPr lang="en-US" sz="2400" dirty="0">
                <a:solidFill>
                  <a:srgbClr val="D73A49"/>
                </a:solidFill>
              </a:rPr>
              <a:t>else</a:t>
            </a:r>
            <a:r>
              <a:rPr lang="en-US" sz="2400" dirty="0">
                <a:solidFill>
                  <a:srgbClr val="2B2D31"/>
                </a:solidFill>
              </a:rPr>
              <a:t> </a:t>
            </a:r>
            <a:r>
              <a:rPr lang="en-US" sz="2400" dirty="0">
                <a:solidFill>
                  <a:srgbClr val="D73A49"/>
                </a:solidFill>
              </a:rPr>
              <a:t>if</a:t>
            </a:r>
            <a:r>
              <a:rPr lang="en-US" sz="2400" dirty="0">
                <a:solidFill>
                  <a:srgbClr val="2B2D31"/>
                </a:solidFill>
              </a:rPr>
              <a:t> (</a:t>
            </a:r>
            <a:r>
              <a:rPr lang="en-US" sz="2400" dirty="0">
                <a:solidFill>
                  <a:srgbClr val="D73A49"/>
                </a:solidFill>
              </a:rPr>
              <a:t>type</a:t>
            </a:r>
            <a:r>
              <a:rPr lang="en-US" sz="2400" dirty="0">
                <a:solidFill>
                  <a:srgbClr val="2B2D31"/>
                </a:solidFill>
              </a:rPr>
              <a:t> == </a:t>
            </a:r>
            <a:r>
              <a:rPr lang="en-US" sz="2400" dirty="0">
                <a:solidFill>
                  <a:srgbClr val="032F62"/>
                </a:solidFill>
              </a:rPr>
              <a:t>"panel"</a:t>
            </a:r>
            <a:r>
              <a:rPr lang="en-US" sz="2400" dirty="0">
                <a:solidFill>
                  <a:srgbClr val="2B2D31"/>
                </a:solidFill>
              </a:rPr>
              <a:t>) house = </a:t>
            </a:r>
            <a:r>
              <a:rPr lang="en-US" sz="2400" dirty="0">
                <a:solidFill>
                  <a:srgbClr val="E36209"/>
                </a:solidFill>
              </a:rPr>
              <a:t>new</a:t>
            </a:r>
            <a:r>
              <a:rPr lang="en-US" sz="2400" dirty="0">
                <a:solidFill>
                  <a:srgbClr val="2B2D31"/>
                </a:solidFill>
              </a:rPr>
              <a:t> </a:t>
            </a:r>
            <a:r>
              <a:rPr lang="en-US" sz="2400" dirty="0" err="1">
                <a:solidFill>
                  <a:srgbClr val="2B2D31"/>
                </a:solidFill>
              </a:rPr>
              <a:t>PanelHouse</a:t>
            </a:r>
            <a:r>
              <a:rPr lang="en-US" sz="2400" dirty="0">
                <a:solidFill>
                  <a:srgbClr val="2B2D31"/>
                </a:solidFill>
              </a:rPr>
              <a:t>();</a:t>
            </a:r>
            <a:endParaRPr lang="ru-RU" sz="2400" dirty="0"/>
          </a:p>
          <a:p>
            <a:pPr algn="just">
              <a:lnSpc>
                <a:spcPct val="125000"/>
              </a:lnSpc>
            </a:pPr>
            <a:endParaRPr lang="ru-RU" sz="2400" b="1" dirty="0" smtClean="0"/>
          </a:p>
          <a:p>
            <a:pPr algn="just">
              <a:lnSpc>
                <a:spcPct val="125000"/>
              </a:lnSpc>
            </a:pPr>
            <a:r>
              <a:rPr lang="ru-RU" sz="2400" b="1" dirty="0" smtClean="0"/>
              <a:t>Проблема</a:t>
            </a:r>
            <a:r>
              <a:rPr lang="ru-RU" sz="2400" b="1" dirty="0"/>
              <a:t>:</a:t>
            </a:r>
            <a:r>
              <a:rPr lang="ru-RU" sz="2400" dirty="0"/>
              <a:t> Каждый раз, когда в проект заходит новый тип дома (кирпичный, стеклянный), нам приходится искать и переписывать </a:t>
            </a:r>
            <a:r>
              <a:rPr lang="ru-RU" sz="2400" b="1" dirty="0"/>
              <a:t>все</a:t>
            </a:r>
            <a:r>
              <a:rPr lang="ru-RU" sz="2400" dirty="0"/>
              <a:t> куски кода, где создаются дома. Это нарушает главный принцип архитектуры: «Код должен быть закрыт для изменений, но открыт для расширений</a:t>
            </a:r>
            <a:r>
              <a:rPr lang="ru-RU" sz="2400" dirty="0" smtClean="0"/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357896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2400" dirty="0"/>
              <a:t>Представьте, что у нас есть сложный алгоритм «Застройки района». Он делает много дел: закладывает фундамент, проводит трубы, красит стены</a:t>
            </a:r>
            <a:r>
              <a:rPr lang="ru-RU" sz="2400" dirty="0" smtClean="0"/>
              <a:t>.</a:t>
            </a:r>
          </a:p>
          <a:p>
            <a:pPr algn="just">
              <a:lnSpc>
                <a:spcPct val="125000"/>
              </a:lnSpc>
            </a:pPr>
            <a:endParaRPr lang="ru-RU" sz="2400" dirty="0"/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BuildNeighborhood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nn-NO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10;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developer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Магия: просто просим "создай"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Установлен объект №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4500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Абстрактные основы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Реализация для дерева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WoodHouse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WoodDeveloper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WoodHouse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1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b="1" dirty="0"/>
              <a:t>Вариант А (Эко-поселок</a:t>
            </a:r>
            <a:r>
              <a:rPr lang="ru-RU" sz="2400" b="1" dirty="0" smtClean="0"/>
              <a:t>):</a:t>
            </a:r>
          </a:p>
          <a:p>
            <a:endParaRPr lang="ru-RU" sz="2400" b="1" dirty="0" smtClean="0"/>
          </a:p>
          <a:p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Developer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myDev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ru-RU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WoodDeveloper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Решили строить из дерева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BuildNeighborhood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myDev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Весь район станет 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деревянным</a:t>
            </a:r>
          </a:p>
          <a:p>
            <a:endParaRPr lang="ru-RU" sz="2400" dirty="0" smtClean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b="1" dirty="0"/>
              <a:t>Вариант Б (Спальный район):</a:t>
            </a:r>
            <a:endParaRPr lang="ru-RU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Developer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myDev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PanelDeveloper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Решили строить панельки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BuildNeighborhood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myDev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Тот же самый метод </a:t>
            </a:r>
            <a:r>
              <a:rPr lang="en-US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BuildNeighborhood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построит бетонные джунгли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97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Резюме: Когда это НЕ зря?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Мы пишем </a:t>
            </a:r>
            <a:r>
              <a:rPr lang="ru-RU" sz="2400" dirty="0" smtClean="0"/>
              <a:t>классы </a:t>
            </a:r>
            <a:r>
              <a:rPr lang="ru-RU" sz="2400" dirty="0"/>
              <a:t>Фабрик, когда:</a:t>
            </a:r>
          </a:p>
          <a:p>
            <a:pPr>
              <a:lnSpc>
                <a:spcPct val="150000"/>
              </a:lnSpc>
            </a:pPr>
            <a:r>
              <a:rPr lang="ru-RU" sz="2400" b="1" dirty="0" smtClean="0"/>
              <a:t>Типы </a:t>
            </a:r>
            <a:r>
              <a:rPr lang="ru-RU" sz="2400" b="1" dirty="0"/>
              <a:t>объектов могут добавляться в будущем.</a:t>
            </a:r>
            <a:r>
              <a:rPr lang="ru-RU" sz="2400" dirty="0"/>
              <a:t> Нам не придется перелопачивать всю программу, мы просто добавим новый класс-застройщик.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Мы хотим изолировать создание.</a:t>
            </a:r>
            <a:r>
              <a:rPr lang="ru-RU" sz="2400" dirty="0"/>
              <a:t> Например, создание дома может требовать сложных настроек, о которых основной код программы знать не должен.</a:t>
            </a:r>
          </a:p>
        </p:txBody>
      </p:sp>
    </p:spTree>
    <p:extLst>
      <p:ext uri="{BB962C8B-B14F-4D97-AF65-F5344CB8AC3E}">
        <p14:creationId xmlns:p14="http://schemas.microsoft.com/office/powerpoint/2010/main" val="15969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Структурные паттерны. Декоратор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Decorator)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612366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Задача:</a:t>
            </a:r>
            <a:r>
              <a:rPr lang="ru-RU" sz="2400" dirty="0"/>
              <a:t> У нас есть 2 вида основы пиццы и 5 видов добавок. Клиент может выбрать любую комбинацию.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Если использовать наследование:</a:t>
            </a:r>
            <a:r>
              <a:rPr lang="ru-RU" sz="2400" dirty="0"/>
              <a:t> нам придется создать класс для каждой комбинации: </a:t>
            </a:r>
            <a:r>
              <a:rPr lang="ru-RU" sz="2400" dirty="0" err="1"/>
              <a:t>ItalianPizzaWithCheese</a:t>
            </a:r>
            <a:r>
              <a:rPr lang="ru-RU" sz="2400" dirty="0"/>
              <a:t>, </a:t>
            </a:r>
            <a:r>
              <a:rPr lang="ru-RU" sz="2400" dirty="0" err="1"/>
              <a:t>ItalianPizzaWithTomatoAndCheese</a:t>
            </a:r>
            <a:r>
              <a:rPr lang="ru-RU" sz="2400" dirty="0"/>
              <a:t>, </a:t>
            </a:r>
            <a:r>
              <a:rPr lang="ru-RU" sz="2400" dirty="0" err="1"/>
              <a:t>BulgarianWithCheese</a:t>
            </a:r>
            <a:r>
              <a:rPr lang="ru-RU" sz="2400" dirty="0"/>
              <a:t>...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Результат:</a:t>
            </a:r>
            <a:r>
              <a:rPr lang="ru-RU" sz="2400" dirty="0"/>
              <a:t> Десятки однотипных классов, которые невозможно поддерживать. Это и есть </a:t>
            </a:r>
            <a:r>
              <a:rPr lang="ru-RU" sz="2400" b="1" dirty="0"/>
              <a:t>«взрыв иерархии»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Решение: Паттерн Декоратор (</a:t>
            </a:r>
            <a:r>
              <a:rPr lang="ru-RU" sz="2400" b="1" dirty="0" err="1"/>
              <a:t>Decorator</a:t>
            </a:r>
            <a:r>
              <a:rPr lang="ru-RU" sz="2400" b="1" dirty="0"/>
              <a:t>)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Вместо создания новых классов мы будем динамически «оборачивать» объект в дополнительные слои функциональности.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5761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Декоратор — это структурный паттерн, который позволяет динамически добавлять объекту новые обязанности.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Обертка:</a:t>
            </a:r>
            <a:r>
              <a:rPr lang="ru-RU" sz="2400" dirty="0"/>
              <a:t> Декоратор имеет тот же интерфейс, что и объект, который он оборачивает.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Делегирование:</a:t>
            </a:r>
            <a:r>
              <a:rPr lang="ru-RU" sz="2400" dirty="0"/>
              <a:t> Декоратор получает запрос, выполняет свою часть работы (например, добавляет цену сыра) и передает запрос вложенному объекту.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Визуальная схема: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[ Сыр [ Томаты [ Пицца-основа ] ] ] — внешняя «матрешка» знает о внутренней, но сама остается «пиццей» для всей остальной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21113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Базовый абстрактный компонент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Name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GetCost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Базовый декоратор (хранит ссылку на оборачиваемый объект)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PizzaDecorator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protected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PizzaDecorator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=&gt;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4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2400" dirty="0"/>
              <a:t>Каждый декоратор просто добавляет свою стоимость к стоимости «вложенной» пиццы</a:t>
            </a:r>
            <a:r>
              <a:rPr lang="ru-RU" sz="2400" dirty="0" smtClean="0"/>
              <a:t>.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TomatoPizza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PizzaDecorator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TomatoPizza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.Name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 томатами"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Считаем общую стоимость: вложенная пицца + цена томатов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GetCost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GetCost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+ 3;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CheesePizza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PizzaDecorator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CheesePizza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			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",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 сыром"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GetCost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GetCost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+ 5;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74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/>
              <a:t>Теперь мы можем собрать любую комбинацию прямо в процессе работы программы:</a:t>
            </a: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основу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ItalianPizza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Оборачиваем в томаты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TomatoPizza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Оборачиваем сверху в сыр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CheesePizza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myPizza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myPizza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.Name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| </a:t>
            </a:r>
            <a:r>
              <a:rPr lang="ru-RU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Цена: 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 err="1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myPizza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GetCost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()}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Результат: Итальянская пицца, с томатами, с сыром | Цена: 18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81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67053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2400" b="1" dirty="0"/>
              <a:t>Преимущества (+):</a:t>
            </a:r>
            <a:endParaRPr lang="ru-RU" sz="24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Гибкость:</a:t>
            </a:r>
            <a:r>
              <a:rPr lang="ru-RU" sz="2400" dirty="0"/>
              <a:t> Можно комбинировать добавки как угодно в реальном времени.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Чистота кода:</a:t>
            </a:r>
            <a:r>
              <a:rPr lang="ru-RU" sz="2400" dirty="0"/>
              <a:t> Мы не создаем сотни классов под каждую задачу.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Соблюдение принципа единственной ответственности:</a:t>
            </a:r>
            <a:r>
              <a:rPr lang="ru-RU" sz="2400" dirty="0"/>
              <a:t> Каждый декоратор отвечает только за свою добавку.</a:t>
            </a:r>
          </a:p>
          <a:p>
            <a:pPr>
              <a:lnSpc>
                <a:spcPct val="120000"/>
              </a:lnSpc>
            </a:pPr>
            <a:r>
              <a:rPr lang="ru-RU" sz="2400" b="1" dirty="0"/>
              <a:t>Недостатки (-):</a:t>
            </a:r>
            <a:endParaRPr lang="ru-RU" sz="24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Сложность настройки:</a:t>
            </a:r>
            <a:r>
              <a:rPr lang="ru-RU" sz="2400" dirty="0"/>
              <a:t> Создание объекта превращается в «многослойную» конструкцию.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Много мелких объектов:</a:t>
            </a:r>
            <a:r>
              <a:rPr lang="ru-RU" sz="2400" dirty="0"/>
              <a:t> В памяти создается цепочка объектов вместо одного</a:t>
            </a:r>
            <a:r>
              <a:rPr lang="ru-RU" sz="2400" dirty="0" smtClean="0"/>
              <a:t>.</a:t>
            </a:r>
          </a:p>
          <a:p>
            <a:pPr algn="just">
              <a:lnSpc>
                <a:spcPct val="120000"/>
              </a:lnSpc>
            </a:pPr>
            <a:r>
              <a:rPr lang="ru-RU" sz="2400" dirty="0" smtClean="0"/>
              <a:t>Декоратор </a:t>
            </a:r>
            <a:r>
              <a:rPr lang="ru-RU" sz="2400" dirty="0"/>
              <a:t>— это не замена наследованию, это способ избежать его там, где комбинаций слишком много. Если вам нужно добавить поведение 'на лету' и иметь возможность так же легко его снять — это ваш инструмент».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8480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Адаптер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Adapter)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612366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Проблема: Несовместимость интерфейсов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Вы используете стороннюю библиотеку или старый код (</a:t>
            </a:r>
            <a:r>
              <a:rPr lang="ru-RU" sz="2400" dirty="0" err="1"/>
              <a:t>Legacy</a:t>
            </a:r>
            <a:r>
              <a:rPr lang="ru-RU" sz="2400" dirty="0"/>
              <a:t>), который нельзя изменять. Его методы и форматы данных не совпадают с тем, что ожидает ваша новая программа.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Аналогия из жизни: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Переходник для розетки:</a:t>
            </a:r>
            <a:r>
              <a:rPr lang="ru-RU" sz="2400" dirty="0"/>
              <a:t> У вас американская вилка (плоские контакты), а розетка европейская (круглые отверстия). Вы не меняете розетку и не отрезаете вилку — вы используете </a:t>
            </a:r>
            <a:r>
              <a:rPr lang="ru-RU" sz="2400" b="1" dirty="0"/>
              <a:t>адаптер-прослойку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Картридер</a:t>
            </a:r>
            <a:r>
              <a:rPr lang="ru-RU" sz="2400" b="1" dirty="0"/>
              <a:t>:</a:t>
            </a:r>
            <a:r>
              <a:rPr lang="ru-RU" sz="2400" dirty="0"/>
              <a:t> Ноутбук понимает только USB, а данные на карте памяти SD. </a:t>
            </a:r>
            <a:r>
              <a:rPr lang="ru-RU" sz="2400" dirty="0" err="1"/>
              <a:t>Картридер</a:t>
            </a:r>
            <a:r>
              <a:rPr lang="ru-RU" sz="2400" dirty="0"/>
              <a:t> — это адаптер, который делает SD-карту «видимой» для USB-порта.</a:t>
            </a:r>
          </a:p>
        </p:txBody>
      </p:sp>
    </p:spTree>
    <p:extLst>
      <p:ext uri="{BB962C8B-B14F-4D97-AF65-F5344CB8AC3E}">
        <p14:creationId xmlns:p14="http://schemas.microsoft.com/office/powerpoint/2010/main" val="358328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6076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ru-RU" sz="2400" dirty="0"/>
              <a:t>Паттерн Адаптер — это объект-обертка, который скрывает внутри себя «неудобный» класс и переводит его вызовы на язык, понятный вашей системе.</a:t>
            </a:r>
          </a:p>
          <a:p>
            <a:pPr algn="just">
              <a:lnSpc>
                <a:spcPct val="140000"/>
              </a:lnSpc>
            </a:pPr>
            <a:r>
              <a:rPr lang="ru-RU" sz="2400" b="1" dirty="0"/>
              <a:t>Алгоритм реализации:</a:t>
            </a:r>
            <a:endParaRPr lang="ru-RU" sz="2400" dirty="0"/>
          </a:p>
          <a:p>
            <a:pPr algn="just">
              <a:lnSpc>
                <a:spcPct val="140000"/>
              </a:lnSpc>
            </a:pPr>
            <a:r>
              <a:rPr lang="ru-RU" sz="2400" b="1" dirty="0"/>
              <a:t>Интерфейс:</a:t>
            </a:r>
            <a:r>
              <a:rPr lang="ru-RU" sz="2400" dirty="0"/>
              <a:t> Определяем интерфейс, с которым хочет работать ваша программа.</a:t>
            </a:r>
          </a:p>
          <a:p>
            <a:pPr algn="just">
              <a:lnSpc>
                <a:spcPct val="140000"/>
              </a:lnSpc>
            </a:pPr>
            <a:r>
              <a:rPr lang="ru-RU" sz="2400" b="1" dirty="0"/>
              <a:t>Класс-Адаптер:</a:t>
            </a:r>
            <a:r>
              <a:rPr lang="ru-RU" sz="2400" dirty="0"/>
              <a:t> Создаем новый класс, который реализует этот интерфейс.</a:t>
            </a:r>
          </a:p>
          <a:p>
            <a:pPr algn="just">
              <a:lnSpc>
                <a:spcPct val="140000"/>
              </a:lnSpc>
            </a:pPr>
            <a:r>
              <a:rPr lang="ru-RU" sz="2400" b="1" dirty="0"/>
              <a:t>Композиция:</a:t>
            </a:r>
            <a:r>
              <a:rPr lang="ru-RU" sz="2400" dirty="0"/>
              <a:t> Внутри адаптера создаем поле, в котором хранится объект «неудобного» класса.</a:t>
            </a:r>
          </a:p>
          <a:p>
            <a:pPr algn="just">
              <a:lnSpc>
                <a:spcPct val="140000"/>
              </a:lnSpc>
            </a:pPr>
            <a:r>
              <a:rPr lang="ru-RU" sz="2400" b="1" dirty="0"/>
              <a:t>Делегирование:</a:t>
            </a:r>
            <a:r>
              <a:rPr lang="ru-RU" sz="2400" dirty="0"/>
              <a:t> Когда программа вызывает метод адаптера, он внутри себя вызывает нужные методы старого класса, при необходимости конвертируя данные.</a:t>
            </a:r>
          </a:p>
        </p:txBody>
      </p:sp>
    </p:spTree>
    <p:extLst>
      <p:ext uri="{BB962C8B-B14F-4D97-AF65-F5344CB8AC3E}">
        <p14:creationId xmlns:p14="http://schemas.microsoft.com/office/powerpoint/2010/main" val="395932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9249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Ситуация: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Ваше приложение:</a:t>
            </a:r>
            <a:r>
              <a:rPr lang="ru-RU" sz="2400" dirty="0"/>
              <a:t> Современное, работает только с форматом </a:t>
            </a:r>
            <a:r>
              <a:rPr lang="ru-RU" sz="2400" b="1" dirty="0"/>
              <a:t>JSON</a:t>
            </a:r>
            <a:r>
              <a:rPr lang="ru-RU" sz="2400" dirty="0"/>
              <a:t>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Старая БД:</a:t>
            </a:r>
            <a:r>
              <a:rPr lang="ru-RU" sz="2400" dirty="0"/>
              <a:t> Выдает данные только в формате </a:t>
            </a:r>
            <a:r>
              <a:rPr lang="ru-RU" sz="2400" b="1" dirty="0"/>
              <a:t>XML</a:t>
            </a:r>
            <a:r>
              <a:rPr lang="ru-RU" sz="2400" dirty="0"/>
              <a:t>. Менять БД нельзя (слишком дорого/опасно</a:t>
            </a:r>
            <a:r>
              <a:rPr lang="ru-RU" sz="2400" dirty="0" smtClean="0"/>
              <a:t>).</a:t>
            </a:r>
          </a:p>
          <a:p>
            <a:pPr>
              <a:lnSpc>
                <a:spcPct val="150000"/>
              </a:lnSpc>
            </a:pPr>
            <a:endParaRPr lang="ru-RU" sz="2400" dirty="0" smtClean="0"/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То, что хочет наше приложение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interface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IModernDataConnector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GetJsonData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Тот самый "неудобный" старый класс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LegacyXmlDatabase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GetSpecificXml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"&lt;user&gt;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Иван&lt;/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user&gt;"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05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Адаптер - наш "переходник"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XmlToJsonAdapter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IModernDataConnector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LegacyXmlDatabase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LegacyXmlDatabase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GetJsonData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xml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_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GetSpecificXml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Логика конвертации на лету: XML -&gt; JSON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'user'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'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Иван'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4974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Преимущества (+):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Инкапсуляция:</a:t>
            </a:r>
            <a:r>
              <a:rPr lang="ru-RU" sz="2400" dirty="0"/>
              <a:t> Логика преобразования данных скрыта в одном месте (Адаптере).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Чистота:</a:t>
            </a:r>
            <a:r>
              <a:rPr lang="ru-RU" sz="2400" dirty="0"/>
              <a:t> Основной код программы остается чистым и работает только с современными интерфейсами.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Гибкость:</a:t>
            </a:r>
            <a:r>
              <a:rPr lang="ru-RU" sz="2400" dirty="0"/>
              <a:t> Можно заменить старую библиотеку на новую, просто переписав адаптер, не трогая остальное приложение.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Недостатки (-):</a:t>
            </a:r>
            <a:endParaRPr lang="ru-RU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1" dirty="0"/>
              <a:t>Усложнение:</a:t>
            </a:r>
            <a:r>
              <a:rPr lang="ru-RU" sz="2400" dirty="0"/>
              <a:t> Введение дополнительных классов. Если адаптеров становится слишком много, архитектура становится перегруженной.</a:t>
            </a:r>
          </a:p>
        </p:txBody>
      </p:sp>
    </p:spTree>
    <p:extLst>
      <p:ext uri="{BB962C8B-B14F-4D97-AF65-F5344CB8AC3E}">
        <p14:creationId xmlns:p14="http://schemas.microsoft.com/office/powerpoint/2010/main" val="240159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Фасад (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Facade)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624369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35000"/>
              </a:lnSpc>
            </a:pPr>
            <a:r>
              <a:rPr lang="ru-RU" sz="2400" b="1" dirty="0"/>
              <a:t>Проблема: Избыточная </a:t>
            </a:r>
            <a:r>
              <a:rPr lang="ru-RU" sz="2400" b="1" dirty="0" smtClean="0"/>
              <a:t>сложность</a:t>
            </a:r>
          </a:p>
          <a:p>
            <a:pPr algn="just">
              <a:lnSpc>
                <a:spcPct val="135000"/>
              </a:lnSpc>
            </a:pPr>
            <a:r>
              <a:rPr lang="ru-RU" sz="2400" dirty="0" smtClean="0"/>
              <a:t>Ваша </a:t>
            </a:r>
            <a:r>
              <a:rPr lang="ru-RU" sz="2400" dirty="0"/>
              <a:t>система состоит из множества сложных подсистем (логика склада, оплата, почта, база данных). Чтобы выполнить одну бизнес-задачу (например, «Оформить заказ»), программисту приходится вызывать десятки методов в строгом </a:t>
            </a:r>
            <a:r>
              <a:rPr lang="ru-RU" sz="2400" dirty="0" smtClean="0"/>
              <a:t>порядке.</a:t>
            </a:r>
          </a:p>
          <a:p>
            <a:pPr algn="just">
              <a:lnSpc>
                <a:spcPct val="135000"/>
              </a:lnSpc>
            </a:pPr>
            <a:r>
              <a:rPr lang="ru-RU" sz="2400" i="1" dirty="0" smtClean="0"/>
              <a:t>Это </a:t>
            </a:r>
            <a:r>
              <a:rPr lang="ru-RU" sz="2400" i="1" dirty="0"/>
              <a:t>порождает ошибки и делает код «хрупким».</a:t>
            </a:r>
            <a:endParaRPr lang="ru-RU" sz="2400" dirty="0"/>
          </a:p>
          <a:p>
            <a:pPr algn="just">
              <a:lnSpc>
                <a:spcPct val="135000"/>
              </a:lnSpc>
            </a:pPr>
            <a:r>
              <a:rPr lang="ru-RU" sz="2400" b="1" dirty="0"/>
              <a:t>Аналогия из жизни:</a:t>
            </a:r>
            <a:endParaRPr lang="ru-RU" sz="2400" dirty="0"/>
          </a:p>
          <a:p>
            <a:pPr algn="just">
              <a:lnSpc>
                <a:spcPct val="135000"/>
              </a:lnSpc>
            </a:pPr>
            <a:r>
              <a:rPr lang="ru-RU" sz="2400" b="1" dirty="0"/>
              <a:t>Кнопка «Пуск» в машине:</a:t>
            </a:r>
            <a:r>
              <a:rPr lang="ru-RU" sz="2400" dirty="0"/>
              <a:t> Вам не нужно знать, как работает бензонасос, впрыск топлива и стартер. Вы жмете одну кнопку — машина заводится.</a:t>
            </a:r>
          </a:p>
          <a:p>
            <a:pPr algn="just">
              <a:lnSpc>
                <a:spcPct val="135000"/>
              </a:lnSpc>
            </a:pPr>
            <a:r>
              <a:rPr lang="ru-RU" sz="2400" b="1" dirty="0"/>
              <a:t>Пульт от ТВ:</a:t>
            </a:r>
            <a:r>
              <a:rPr lang="ru-RU" sz="2400" dirty="0"/>
              <a:t> Вы жмете «Канал 5», не задумываясь о частотах, дешифровке сигнала и работе матрицы.</a:t>
            </a:r>
          </a:p>
        </p:txBody>
      </p:sp>
    </p:spTree>
    <p:extLst>
      <p:ext uri="{BB962C8B-B14F-4D97-AF65-F5344CB8AC3E}">
        <p14:creationId xmlns:p14="http://schemas.microsoft.com/office/powerpoint/2010/main" val="81447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2366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Фасад</a:t>
            </a:r>
            <a:r>
              <a:rPr lang="ru-RU" sz="2400" dirty="0"/>
              <a:t> — это высокоуровневый класс-прослойка, который предоставляет один простой интерфейс к сложной системе классов.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Как это работает:</a:t>
            </a:r>
            <a:endParaRPr lang="ru-RU" sz="2400" dirty="0"/>
          </a:p>
          <a:p>
            <a:pPr algn="just">
              <a:lnSpc>
                <a:spcPct val="150000"/>
              </a:lnSpc>
            </a:pPr>
            <a:r>
              <a:rPr lang="ru-RU" sz="2400" b="1" dirty="0"/>
              <a:t>Создаем класс-Фасад.</a:t>
            </a:r>
            <a:endParaRPr lang="ru-RU" sz="2400" dirty="0"/>
          </a:p>
          <a:p>
            <a:pPr algn="just">
              <a:lnSpc>
                <a:spcPct val="150000"/>
              </a:lnSpc>
            </a:pPr>
            <a:r>
              <a:rPr lang="ru-RU" sz="2400" b="1" dirty="0"/>
              <a:t>Агрегируем подсистемы:</a:t>
            </a:r>
            <a:r>
              <a:rPr lang="ru-RU" sz="2400" dirty="0"/>
              <a:t> Внутри Фасада создаются экземпляры всех сложных классов.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Упрощаем методы:</a:t>
            </a:r>
            <a:r>
              <a:rPr lang="ru-RU" sz="2400" dirty="0"/>
              <a:t> Пишем 2–3 публичных метода (например, </a:t>
            </a:r>
            <a:r>
              <a:rPr lang="ru-RU" sz="2400" dirty="0" err="1"/>
              <a:t>StartProject</a:t>
            </a:r>
            <a:r>
              <a:rPr lang="ru-RU" sz="2400" dirty="0"/>
              <a:t>), внутри которых Фасад сам вызывает методы подсистем в нужном порядке.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Результат:</a:t>
            </a:r>
            <a:r>
              <a:rPr lang="ru-RU" sz="2400" dirty="0"/>
              <a:t> Пользователь вашего кода (клиент) взаимодействует только с Фасадом, не видя «кишок»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9305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Сложные "кишки" системы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Warehouse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Payment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Оплачено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SmsService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"SMS 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отправлено"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005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1725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3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OrderFacade</a:t>
            </a:r>
            <a:r>
              <a:rPr lang="ru-RU" sz="23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Наш </a:t>
            </a:r>
            <a:r>
              <a:rPr lang="ru-RU" sz="23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ФАСАД</a:t>
            </a:r>
            <a:endParaRPr lang="en-US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Warehouse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_w =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Payment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_p =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private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SmsService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_s =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PlaceOrder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3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(_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Check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Pay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_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Send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3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Готово!"</a:t>
            </a:r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3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300" dirty="0" smtClean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3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OrderFacade</a:t>
            </a:r>
            <a:r>
              <a:rPr lang="en-US" sz="23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market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3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3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OrderFacade</a:t>
            </a:r>
            <a:r>
              <a:rPr lang="en-US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3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market</a:t>
            </a:r>
            <a:r>
              <a:rPr lang="ru-RU" sz="23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3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PlaceOrder</a:t>
            </a:r>
            <a:r>
              <a:rPr lang="ru-RU" sz="23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3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Всего одна строка вместо сложной логики!</a:t>
            </a:r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342901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12366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Преимущества (+):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Изоляция:</a:t>
            </a:r>
            <a:r>
              <a:rPr lang="ru-RU" sz="2400" dirty="0"/>
              <a:t> Клиенты не зависят от сложности подсистем. Если вы замените класс </a:t>
            </a:r>
            <a:r>
              <a:rPr lang="ru-RU" sz="2400" dirty="0" err="1"/>
              <a:t>SmsService</a:t>
            </a:r>
            <a:r>
              <a:rPr lang="ru-RU" sz="2400" dirty="0"/>
              <a:t> на </a:t>
            </a:r>
            <a:r>
              <a:rPr lang="ru-RU" sz="2400" dirty="0" err="1"/>
              <a:t>EmailService</a:t>
            </a:r>
            <a:r>
              <a:rPr lang="ru-RU" sz="2400" dirty="0"/>
              <a:t>, клиент этого даже не заметит.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Снижение порога входа:</a:t>
            </a:r>
            <a:r>
              <a:rPr lang="ru-RU" sz="2400" dirty="0"/>
              <a:t> Новому разработчику проще начать работать с вашим кодом через Фасад.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Принцип KISS:</a:t>
            </a:r>
            <a:r>
              <a:rPr lang="ru-RU" sz="2400" dirty="0"/>
              <a:t> Мы делаем использование системы максимально простым.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Недостатки (-):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Риск «Божественного объекта»:</a:t>
            </a:r>
            <a:r>
              <a:rPr lang="ru-RU" sz="2400" dirty="0"/>
              <a:t> Есть соблазн превратить Фасад в гигантский класс, который делает вообще всё в программе.</a:t>
            </a:r>
          </a:p>
        </p:txBody>
      </p:sp>
    </p:spTree>
    <p:extLst>
      <p:ext uri="{BB962C8B-B14F-4D97-AF65-F5344CB8AC3E}">
        <p14:creationId xmlns:p14="http://schemas.microsoft.com/office/powerpoint/2010/main" val="216288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Как правильно выбирать паттерн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5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Паттерн — это не цель, а инструмент. Чтобы не превратить код в «архитектурный лабиринт», следуйте простому алгоритму: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Абстрагируйтесь от деталей:</a:t>
            </a:r>
            <a:r>
              <a:rPr lang="ru-RU" sz="2400" dirty="0"/>
              <a:t> Опишите вашу задачу без привязки к предметной области. Вместо «как добавить сыр к пицце» думайте «как динамически расширить функционал объекта».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Определите тип проблемы:</a:t>
            </a:r>
            <a:endParaRPr lang="ru-RU" sz="2400" dirty="0"/>
          </a:p>
          <a:p>
            <a:pPr lvl="1">
              <a:lnSpc>
                <a:spcPct val="150000"/>
              </a:lnSpc>
            </a:pPr>
            <a:r>
              <a:rPr lang="ru-RU" sz="2400" dirty="0"/>
              <a:t>Сложно </a:t>
            </a:r>
            <a:r>
              <a:rPr lang="ru-RU" sz="2400" b="1" dirty="0"/>
              <a:t>создавать</a:t>
            </a:r>
            <a:r>
              <a:rPr lang="ru-RU" sz="2400" dirty="0"/>
              <a:t> объекты? — Смотрите </a:t>
            </a:r>
            <a:r>
              <a:rPr lang="ru-RU" sz="2400" i="1" dirty="0"/>
              <a:t>Порождающие</a:t>
            </a:r>
            <a:r>
              <a:rPr lang="ru-RU" sz="2400" dirty="0"/>
              <a:t> паттерны.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Сложно </a:t>
            </a:r>
            <a:r>
              <a:rPr lang="ru-RU" sz="2400" b="1" dirty="0"/>
              <a:t>связать</a:t>
            </a:r>
            <a:r>
              <a:rPr lang="ru-RU" sz="2400" dirty="0"/>
              <a:t> компоненты в единую структуру? — Вам нужны </a:t>
            </a:r>
            <a:r>
              <a:rPr lang="ru-RU" sz="2400" i="1" dirty="0"/>
              <a:t>Структурные</a:t>
            </a:r>
            <a:r>
              <a:rPr lang="ru-RU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Запутались во </a:t>
            </a:r>
            <a:r>
              <a:rPr lang="ru-RU" sz="2400" b="1" dirty="0"/>
              <a:t>взаимодействии</a:t>
            </a:r>
            <a:r>
              <a:rPr lang="ru-RU" sz="2400" dirty="0"/>
              <a:t> и алгоритмах? — Это </a:t>
            </a:r>
            <a:r>
              <a:rPr lang="ru-RU" sz="2400" i="1" dirty="0"/>
              <a:t>Поведенческие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2913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/>
              <a:t>Изучите </a:t>
            </a:r>
            <a:r>
              <a:rPr lang="ru-RU" sz="2400" b="1" dirty="0"/>
              <a:t>«соседей»:</a:t>
            </a:r>
            <a:r>
              <a:rPr lang="ru-RU" sz="2400" dirty="0"/>
              <a:t> Не хватайтесь за первый похожий паттерн. Сравните его с родственными (например, </a:t>
            </a:r>
            <a:r>
              <a:rPr lang="ru-RU" sz="2400" i="1" dirty="0"/>
              <a:t>Декоратор</a:t>
            </a:r>
            <a:r>
              <a:rPr lang="ru-RU" sz="2400" dirty="0"/>
              <a:t> часто путают с </a:t>
            </a:r>
            <a:r>
              <a:rPr lang="ru-RU" sz="2400" i="1" dirty="0"/>
              <a:t>Адаптером</a:t>
            </a:r>
            <a:r>
              <a:rPr lang="ru-RU" sz="2400" dirty="0"/>
              <a:t> или </a:t>
            </a:r>
            <a:r>
              <a:rPr lang="ru-RU" sz="2400" i="1" dirty="0"/>
              <a:t>Прокси</a:t>
            </a:r>
            <a:r>
              <a:rPr lang="ru-RU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Оцените последствия:</a:t>
            </a:r>
            <a:r>
              <a:rPr lang="ru-RU" sz="2400" dirty="0"/>
              <a:t> Поймите, какую цену вы заплатите за гибкость (усложнение кода, лишние классы, расход памяти</a:t>
            </a:r>
            <a:r>
              <a:rPr lang="ru-RU" sz="2400" dirty="0" smtClean="0"/>
              <a:t>).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 smtClean="0"/>
              <a:t>⚠ Золотое </a:t>
            </a:r>
            <a:r>
              <a:rPr lang="ru-RU" sz="2400" b="1" dirty="0"/>
              <a:t>правило разработчика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Если вы не понимаете до конца, как работает паттерн или какую конкретную проблему он решает в вашем проекте — не используйте его.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8275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16014</TotalTime>
  <Words>1296</Words>
  <Application>Microsoft Office PowerPoint</Application>
  <PresentationFormat>Широкоэкранный</PresentationFormat>
  <Paragraphs>346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Bookman Old Style</vt:lpstr>
      <vt:lpstr>Calibri</vt:lpstr>
      <vt:lpstr>Cascadia Mono</vt:lpstr>
      <vt:lpstr>Consolas</vt:lpstr>
      <vt:lpstr>Times New Roman</vt:lpstr>
      <vt:lpstr>Тема Office</vt:lpstr>
      <vt:lpstr>6 семестр Лекция 3.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983</cp:revision>
  <dcterms:modified xsi:type="dcterms:W3CDTF">2026-02-15T13:38:32Z</dcterms:modified>
</cp:coreProperties>
</file>