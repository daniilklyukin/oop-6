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5"/>
  </p:notesMasterIdLst>
  <p:sldIdLst>
    <p:sldId id="273" r:id="rId2"/>
    <p:sldId id="274" r:id="rId3"/>
    <p:sldId id="275" r:id="rId4"/>
    <p:sldId id="276" r:id="rId5"/>
    <p:sldId id="278" r:id="rId6"/>
    <p:sldId id="279" r:id="rId7"/>
    <p:sldId id="281" r:id="rId8"/>
    <p:sldId id="289" r:id="rId9"/>
    <p:sldId id="291" r:id="rId10"/>
    <p:sldId id="290" r:id="rId11"/>
    <p:sldId id="292" r:id="rId12"/>
    <p:sldId id="293" r:id="rId13"/>
    <p:sldId id="295" r:id="rId14"/>
    <p:sldId id="294" r:id="rId15"/>
    <p:sldId id="296" r:id="rId16"/>
    <p:sldId id="297" r:id="rId17"/>
    <p:sldId id="299" r:id="rId18"/>
    <p:sldId id="300" r:id="rId19"/>
    <p:sldId id="298" r:id="rId20"/>
    <p:sldId id="301" r:id="rId21"/>
    <p:sldId id="302" r:id="rId22"/>
    <p:sldId id="303" r:id="rId23"/>
    <p:sldId id="304" r:id="rId24"/>
    <p:sldId id="305" r:id="rId25"/>
    <p:sldId id="306" r:id="rId26"/>
    <p:sldId id="307" r:id="rId27"/>
    <p:sldId id="308" r:id="rId28"/>
    <p:sldId id="309" r:id="rId29"/>
    <p:sldId id="310" r:id="rId30"/>
    <p:sldId id="311" r:id="rId31"/>
    <p:sldId id="312" r:id="rId32"/>
    <p:sldId id="313" r:id="rId33"/>
    <p:sldId id="314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 autoAdjust="0"/>
    <p:restoredTop sz="82509" autoAdjust="0"/>
  </p:normalViewPr>
  <p:slideViewPr>
    <p:cSldViewPr snapToGrid="0">
      <p:cViewPr varScale="1">
        <p:scale>
          <a:sx n="73" d="100"/>
          <a:sy n="73" d="100"/>
        </p:scale>
        <p:origin x="72" y="52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830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4635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703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86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4885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460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7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8382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05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5895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421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4703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4645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9931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8502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5598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985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6777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9661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9201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042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6259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1367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9725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8445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3458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9095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031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7388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4986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80653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81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4760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490198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 smtClean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2059856"/>
            <a:ext cx="10670534" cy="1654047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6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4.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лекции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sz="1800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</a:t>
            </a:r>
            <a:r>
              <a:rPr lang="ru-RU" sz="1800" b="1" dirty="0" smtClean="0">
                <a:solidFill>
                  <a:srgbClr val="292929"/>
                </a:solidFill>
                <a:latin typeface="Bookman Old Style" pitchFamily="18" charset="0"/>
              </a:rPr>
              <a:t>ст. преподаватель каф</a:t>
            </a:r>
            <a:r>
              <a:rPr lang="ru-RU" sz="1800" b="1" dirty="0">
                <a:solidFill>
                  <a:srgbClr val="292929"/>
                </a:solidFill>
                <a:latin typeface="Bookman Old Style" pitchFamily="18" charset="0"/>
              </a:rPr>
              <a:t>. </a:t>
            </a:r>
            <a:r>
              <a:rPr lang="ru-RU" sz="1800" b="1" dirty="0" err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sz="1800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3713903"/>
            <a:ext cx="11041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Поведенческие 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паттерны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Стратегия (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Strategy)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Наблюдатель (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Observer)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Команда (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Command)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Состояние (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State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595714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14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Если порождающие паттерны отвечают за «рождение» объектов, а структурные — за их «скелет» (связи), то </a:t>
            </a:r>
            <a:r>
              <a:rPr lang="ru-RU" sz="2400" b="1" dirty="0">
                <a:latin typeface="Bookman Old Style" panose="02050604050505020204" pitchFamily="18" charset="0"/>
              </a:rPr>
              <a:t>поведенческие паттерны</a:t>
            </a:r>
            <a:r>
              <a:rPr lang="ru-RU" sz="2400" dirty="0">
                <a:latin typeface="Bookman Old Style" panose="02050604050505020204" pitchFamily="18" charset="0"/>
              </a:rPr>
              <a:t> определяют их </a:t>
            </a:r>
            <a:r>
              <a:rPr lang="ru-RU" sz="2400" b="1" dirty="0">
                <a:latin typeface="Bookman Old Style" panose="02050604050505020204" pitchFamily="18" charset="0"/>
              </a:rPr>
              <a:t>характер, логику действий и способы общения.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14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 группы: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Эти шаблоны проектирования направлены на то, чтобы сделать взаимодействие между объектами максимально гибким и эффективным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14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Что они решают: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Распределение обязанностей:</a:t>
            </a:r>
            <a:r>
              <a:rPr lang="ru-RU" sz="2400" dirty="0">
                <a:latin typeface="Bookman Old Style" panose="02050604050505020204" pitchFamily="18" charset="0"/>
              </a:rPr>
              <a:t> Кто именно в системе должен выполнять конкретную задачу?</a:t>
            </a: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Алгоритмы взаимодействия:</a:t>
            </a:r>
            <a:r>
              <a:rPr lang="ru-RU" sz="2400" dirty="0">
                <a:latin typeface="Bookman Old Style" panose="02050604050505020204" pitchFamily="18" charset="0"/>
              </a:rPr>
              <a:t> Как объекты должны реагировать на действия друг друга, не становясь при этом жестко зависимыми?</a:t>
            </a: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Управление потоком данных:</a:t>
            </a:r>
            <a:r>
              <a:rPr lang="ru-RU" sz="2400" dirty="0">
                <a:latin typeface="Bookman Old Style" panose="02050604050505020204" pitchFamily="18" charset="0"/>
              </a:rPr>
              <a:t> Как эффективно передавать информацию между разными частями программы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Поведенческие паттерны </a:t>
            </a:r>
          </a:p>
        </p:txBody>
      </p:sp>
    </p:spTree>
    <p:extLst>
      <p:ext uri="{BB962C8B-B14F-4D97-AF65-F5344CB8AC3E}">
        <p14:creationId xmlns:p14="http://schemas.microsoft.com/office/powerpoint/2010/main" val="3020199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557505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Проблема: «Раздутые» классы и гигантские </a:t>
            </a:r>
            <a:r>
              <a:rPr lang="ru-RU" sz="2400" b="1" dirty="0" err="1">
                <a:latin typeface="Bookman Old Style" panose="02050604050505020204" pitchFamily="18" charset="0"/>
              </a:rPr>
              <a:t>if-else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Представьте класс </a:t>
            </a:r>
            <a:r>
              <a:rPr lang="ru-RU" sz="2400" dirty="0" err="1">
                <a:latin typeface="Bookman Old Style" panose="02050604050505020204" pitchFamily="18" charset="0"/>
              </a:rPr>
              <a:t>Car</a:t>
            </a:r>
            <a:r>
              <a:rPr lang="ru-RU" sz="2400" dirty="0">
                <a:latin typeface="Bookman Old Style" panose="02050604050505020204" pitchFamily="18" charset="0"/>
              </a:rPr>
              <a:t>. Если мы пропишем логику движения (бензин, </a:t>
            </a:r>
            <a:r>
              <a:rPr lang="ru-RU" sz="2400" dirty="0" err="1">
                <a:latin typeface="Bookman Old Style" panose="02050604050505020204" pitchFamily="18" charset="0"/>
              </a:rPr>
              <a:t>электро</a:t>
            </a:r>
            <a:r>
              <a:rPr lang="ru-RU" sz="2400" dirty="0">
                <a:latin typeface="Bookman Old Style" panose="02050604050505020204" pitchFamily="18" charset="0"/>
              </a:rPr>
              <a:t>, газ) прямо внутри него через </a:t>
            </a:r>
            <a:r>
              <a:rPr lang="ru-RU" sz="2400" dirty="0" err="1">
                <a:latin typeface="Bookman Old Style" panose="02050604050505020204" pitchFamily="18" charset="0"/>
              </a:rPr>
              <a:t>switch</a:t>
            </a:r>
            <a:r>
              <a:rPr lang="ru-RU" sz="2400" dirty="0">
                <a:latin typeface="Bookman Old Style" panose="02050604050505020204" pitchFamily="18" charset="0"/>
              </a:rPr>
              <a:t>, то при добавлении нового типа двигателя нам придется переписывать весь класс.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Решение: Вынос алгоритма в отдельный объект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Паттерн Стратегия определяет семейство схожих алгоритмов, инкапсулирует каждый из них и делает их взаимозаменяемыми.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 «убийцы </a:t>
            </a:r>
            <a:r>
              <a:rPr lang="ru-RU" sz="2400" b="1" dirty="0" err="1">
                <a:latin typeface="Bookman Old Style" panose="02050604050505020204" pitchFamily="18" charset="0"/>
              </a:rPr>
              <a:t>if-else</a:t>
            </a:r>
            <a:r>
              <a:rPr lang="ru-RU" sz="2400" b="1" dirty="0">
                <a:latin typeface="Bookman Old Style" panose="02050604050505020204" pitchFamily="18" charset="0"/>
              </a:rPr>
              <a:t>»: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Вместо того чтобы спрашивать объект «Как ты двигаешься?», мы просто даем ему нужный «инструмент» (стратегию) для движения.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Стратегия (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Strategy)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304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Интерфейс Стратегии (</a:t>
            </a:r>
            <a:r>
              <a:rPr lang="ru-RU" sz="2400" b="1" dirty="0" err="1">
                <a:latin typeface="Bookman Old Style" panose="02050604050505020204" pitchFamily="18" charset="0"/>
              </a:rPr>
              <a:t>IStrategy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r>
              <a:rPr lang="ru-RU" sz="2400" dirty="0">
                <a:latin typeface="Bookman Old Style" panose="02050604050505020204" pitchFamily="18" charset="0"/>
              </a:rPr>
              <a:t> Общий интерфейс для всех вариаций алгоритма.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Конкретные стратегии:</a:t>
            </a:r>
            <a:r>
              <a:rPr lang="ru-RU" sz="2400" dirty="0">
                <a:latin typeface="Bookman Old Style" panose="02050604050505020204" pitchFamily="18" charset="0"/>
              </a:rPr>
              <a:t> Реальные реализации алгоритма (например, </a:t>
            </a:r>
            <a:r>
              <a:rPr lang="ru-RU" sz="2400" dirty="0" err="1">
                <a:latin typeface="Bookman Old Style" panose="02050604050505020204" pitchFamily="18" charset="0"/>
              </a:rPr>
              <a:t>BubbleSort</a:t>
            </a:r>
            <a:r>
              <a:rPr lang="ru-RU" sz="2400" dirty="0">
                <a:latin typeface="Bookman Old Style" panose="02050604050505020204" pitchFamily="18" charset="0"/>
              </a:rPr>
              <a:t> или </a:t>
            </a:r>
            <a:r>
              <a:rPr lang="ru-RU" sz="2400" dirty="0" err="1">
                <a:latin typeface="Bookman Old Style" panose="02050604050505020204" pitchFamily="18" charset="0"/>
              </a:rPr>
              <a:t>QuickSort</a:t>
            </a:r>
            <a:r>
              <a:rPr lang="ru-RU" sz="2400" dirty="0">
                <a:latin typeface="Bookman Old Style" panose="02050604050505020204" pitchFamily="18" charset="0"/>
              </a:rPr>
              <a:t>).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Контекст (</a:t>
            </a:r>
            <a:r>
              <a:rPr lang="ru-RU" sz="2400" b="1" dirty="0" err="1">
                <a:latin typeface="Bookman Old Style" panose="02050604050505020204" pitchFamily="18" charset="0"/>
              </a:rPr>
              <a:t>Context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r>
              <a:rPr lang="ru-RU" sz="2400" dirty="0">
                <a:latin typeface="Bookman Old Style" panose="02050604050505020204" pitchFamily="18" charset="0"/>
              </a:rPr>
              <a:t> Класс, который использует стратегию. Он хранит ссылку на интерфейс и не знает, какая именно реализация подсунута ему в данный момент.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Главный плюс:</a:t>
            </a:r>
            <a:r>
              <a:rPr lang="ru-RU" sz="2400" dirty="0">
                <a:latin typeface="Bookman Old Style" panose="02050604050505020204" pitchFamily="18" charset="0"/>
              </a:rPr>
              <a:t> Мы можем изменить поведение объекта прямо «на лету», просто подменив одну стратегию на другую.</a:t>
            </a:r>
          </a:p>
        </p:txBody>
      </p:sp>
    </p:spTree>
    <p:extLst>
      <p:ext uri="{BB962C8B-B14F-4D97-AF65-F5344CB8AC3E}">
        <p14:creationId xmlns:p14="http://schemas.microsoft.com/office/powerpoint/2010/main" val="3586688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827"/>
            <a:ext cx="12192001" cy="6390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315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963944" y="6472639"/>
            <a:ext cx="18473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197346"/>
            <a:ext cx="12192000" cy="646330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3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1. Интерфейс - </a:t>
            </a:r>
            <a:r>
              <a:rPr lang="ru-RU" sz="23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общий </a:t>
            </a:r>
            <a:r>
              <a:rPr lang="ru-RU" sz="23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для всех типов движения</a:t>
            </a:r>
            <a:endParaRPr lang="ru-RU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interface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IMovable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Move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3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2. Конкретные способы реализации</a:t>
            </a:r>
            <a:endParaRPr lang="ru-RU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PetrolMove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3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IMovable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Move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</a:t>
            </a:r>
            <a:r>
              <a:rPr lang="en-US" sz="23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3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3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3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Едем на бензине"</a:t>
            </a:r>
            <a:r>
              <a:rPr lang="ru-RU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ElectricMove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3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IMovable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Move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</a:t>
            </a:r>
            <a:r>
              <a:rPr lang="en-US" sz="23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3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3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3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Едем на электричестве"</a:t>
            </a:r>
            <a:r>
              <a:rPr lang="ru-RU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3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3. </a:t>
            </a:r>
            <a:r>
              <a:rPr lang="ru-RU" sz="23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Контекст - машина</a:t>
            </a:r>
            <a:r>
              <a:rPr lang="ru-RU" sz="23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которой всё равно, какой внутри двигатель</a:t>
            </a:r>
            <a:endParaRPr lang="ru-RU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IMovable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Movable { 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 </a:t>
            </a:r>
            <a:r>
              <a:rPr lang="en-US" sz="23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en-US" sz="23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Сменная</a:t>
            </a:r>
            <a:r>
              <a:rPr lang="en-US" sz="23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стратегия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3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Move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</a:t>
            </a:r>
            <a:r>
              <a:rPr lang="en-US" sz="23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Movable.</a:t>
            </a:r>
            <a:r>
              <a:rPr lang="en-US" sz="23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Move</a:t>
            </a:r>
            <a:r>
              <a:rPr lang="en-US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3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300" dirty="0">
              <a:solidFill>
                <a:srgbClr val="3B3B3B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394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963944" y="6472639"/>
            <a:ext cx="18473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1. Создаем машину с бензиновым двигателем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myCar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Movable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PetrolMove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Устанавливаем начальную стратегию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};</a:t>
            </a:r>
          </a:p>
          <a:p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myCar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Move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Выведет: "Перемещение на бензине"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2. Смена стратегии ПРЯМО В ПРОЦЕССЕ (например, гибрид переключился)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myCar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.Movable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ElectricMove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myCar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Move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Выведет: "Перемещение на электричестве"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2724019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963944" y="6472639"/>
            <a:ext cx="18473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Единый стандарт для всех сортировок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interface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ISortStrategy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array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Конкретные реализации (алгоритмы скрыты)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BubbleSort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ISortStrategy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array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Логика пузырька */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QuickSort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ISortStrategy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array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Логика быстрой сортировки */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882951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963944" y="6472639"/>
            <a:ext cx="18473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0"/>
            <a:ext cx="12192000" cy="52629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SortContext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ISortStrategy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_strategy;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SortContext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ISortStrategy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strategy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_strategy =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strategy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Позволяет сменить алгоритм в любой момент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SetStrategy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ISortStrategy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strategy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_strategy =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strategy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ExecuteSort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array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strategy.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array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525995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963944" y="6472639"/>
            <a:ext cx="18473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0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/>
              <a:t>Паттерн часто применяется там, где выбор алгоритма зависит от условий (например, объема данных).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/>
              <a:t>Мало данных?</a:t>
            </a:r>
            <a:r>
              <a:rPr lang="ru-RU" sz="2400" dirty="0" smtClean="0"/>
              <a:t> Используем </a:t>
            </a:r>
            <a:r>
              <a:rPr lang="ru-RU" sz="2400" dirty="0" err="1" smtClean="0"/>
              <a:t>BubbleSort</a:t>
            </a:r>
            <a:r>
              <a:rPr lang="ru-RU" sz="2400" dirty="0" smtClean="0"/>
              <a:t> (просто, мало памяти).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/>
              <a:t>Много данных?</a:t>
            </a:r>
            <a:r>
              <a:rPr lang="ru-RU" sz="2400" dirty="0" smtClean="0"/>
              <a:t> Переключаемся на </a:t>
            </a:r>
            <a:r>
              <a:rPr lang="ru-RU" sz="2400" dirty="0" err="1" smtClean="0"/>
              <a:t>QuickSort</a:t>
            </a:r>
            <a:r>
              <a:rPr lang="ru-RU" sz="2400" dirty="0" smtClean="0"/>
              <a:t> (быстро).</a:t>
            </a:r>
            <a:endParaRPr lang="en-US" sz="2400" dirty="0" smtClean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{ 5, 1, 10, 2 };</a:t>
            </a: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SortContext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SortContext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QuickSort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ExecuteSort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Используем быстрый алгоритм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SetStrategy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BubbleSort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());</a:t>
            </a:r>
          </a:p>
          <a:p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sorter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ExecuteSort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Тот же объект теперь сортирует пузырьком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210608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963944" y="6472639"/>
            <a:ext cx="18473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Преимущества (+):</a:t>
            </a:r>
            <a:endParaRPr lang="ru-RU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Соблюдение </a:t>
            </a:r>
            <a:r>
              <a:rPr lang="ru-RU" sz="2400" b="1" dirty="0" err="1"/>
              <a:t>Open</a:t>
            </a:r>
            <a:r>
              <a:rPr lang="ru-RU" sz="2400" b="1" dirty="0"/>
              <a:t>/</a:t>
            </a:r>
            <a:r>
              <a:rPr lang="ru-RU" sz="2400" b="1" dirty="0" err="1"/>
              <a:t>Closed</a:t>
            </a:r>
            <a:r>
              <a:rPr lang="ru-RU" sz="2400" b="1" dirty="0"/>
              <a:t> </a:t>
            </a:r>
            <a:r>
              <a:rPr lang="ru-RU" sz="2400" b="1" dirty="0" err="1"/>
              <a:t>Principle</a:t>
            </a:r>
            <a:r>
              <a:rPr lang="ru-RU" sz="2400" b="1" dirty="0"/>
              <a:t>:</a:t>
            </a:r>
            <a:r>
              <a:rPr lang="ru-RU" sz="2400" dirty="0"/>
              <a:t> Можно добавлять новые алгоритмы, не меняя существующие классы.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Чистота:</a:t>
            </a:r>
            <a:r>
              <a:rPr lang="ru-RU" sz="2400" dirty="0"/>
              <a:t> Мы избавляемся от сложной условной логики (</a:t>
            </a:r>
            <a:r>
              <a:rPr lang="ru-RU" sz="2400" dirty="0" err="1"/>
              <a:t>if-else</a:t>
            </a:r>
            <a:r>
              <a:rPr lang="ru-RU" sz="2400" dirty="0"/>
              <a:t> / </a:t>
            </a:r>
            <a:r>
              <a:rPr lang="ru-RU" sz="2400" dirty="0" err="1"/>
              <a:t>switch</a:t>
            </a:r>
            <a:r>
              <a:rPr lang="ru-RU" sz="2400" dirty="0"/>
              <a:t>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Изоляция:</a:t>
            </a:r>
            <a:r>
              <a:rPr lang="ru-RU" sz="2400" dirty="0"/>
              <a:t> Алгоритмы отделены от данных объекта, что упрощает их тестирование.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Недостатки (-):</a:t>
            </a:r>
            <a:endParaRPr lang="ru-RU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Усложнение:</a:t>
            </a:r>
            <a:r>
              <a:rPr lang="ru-RU" sz="2400" dirty="0"/>
              <a:t> Увеличивается количество классов в проекте.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Осведомленность:</a:t>
            </a:r>
            <a:r>
              <a:rPr lang="ru-RU" sz="2400" dirty="0"/>
              <a:t> Клиент (программист) должен знать, чем отличаются стратегии, чтобы выбрать подходящую.</a:t>
            </a:r>
          </a:p>
        </p:txBody>
      </p:sp>
    </p:spTree>
    <p:extLst>
      <p:ext uri="{BB962C8B-B14F-4D97-AF65-F5344CB8AC3E}">
        <p14:creationId xmlns:p14="http://schemas.microsoft.com/office/powerpoint/2010/main" val="2957963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05441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ru-RU" sz="2400" b="1" dirty="0"/>
              <a:t>Проблема: Ожидание </a:t>
            </a:r>
            <a:r>
              <a:rPr lang="ru-RU" sz="2400" b="1" dirty="0" smtClean="0"/>
              <a:t>изменений</a:t>
            </a:r>
            <a:r>
              <a:rPr lang="en-US" sz="2400" b="1" dirty="0" smtClean="0"/>
              <a:t> </a:t>
            </a:r>
            <a:r>
              <a:rPr lang="ru-RU" sz="2400" dirty="0" smtClean="0"/>
              <a:t>Как </a:t>
            </a:r>
            <a:r>
              <a:rPr lang="ru-RU" sz="2400" dirty="0"/>
              <a:t>один объект может узнать, что в другом объекте произошло важное событие, не спрашивая об этом каждую </a:t>
            </a:r>
            <a:r>
              <a:rPr lang="ru-RU" sz="2400" dirty="0" smtClean="0"/>
              <a:t>секунду?</a:t>
            </a:r>
            <a:endParaRPr lang="en-US" sz="2400" dirty="0" smtClean="0"/>
          </a:p>
          <a:p>
            <a:pPr algn="just">
              <a:lnSpc>
                <a:spcPct val="125000"/>
              </a:lnSpc>
            </a:pPr>
            <a:r>
              <a:rPr lang="ru-RU" sz="2400" i="1" dirty="0" smtClean="0"/>
              <a:t>Постоянные </a:t>
            </a:r>
            <a:r>
              <a:rPr lang="ru-RU" sz="2400" i="1" dirty="0"/>
              <a:t>опросы («Ну что, изменилось?») тратят ресурсы процессора и делают код запутанным.</a:t>
            </a:r>
            <a:endParaRPr lang="ru-RU" sz="2400" dirty="0"/>
          </a:p>
          <a:p>
            <a:pPr algn="just">
              <a:lnSpc>
                <a:spcPct val="125000"/>
              </a:lnSpc>
            </a:pPr>
            <a:r>
              <a:rPr lang="ru-RU" sz="2400" b="1" dirty="0"/>
              <a:t>Суть </a:t>
            </a:r>
            <a:r>
              <a:rPr lang="ru-RU" sz="2400" b="1" dirty="0" smtClean="0"/>
              <a:t>паттерна:</a:t>
            </a:r>
            <a:r>
              <a:rPr lang="en-US" sz="2400" b="1" dirty="0" smtClean="0"/>
              <a:t> </a:t>
            </a:r>
            <a:r>
              <a:rPr lang="ru-RU" sz="2400" dirty="0" smtClean="0"/>
              <a:t>Создается </a:t>
            </a:r>
            <a:r>
              <a:rPr lang="ru-RU" sz="2400" dirty="0"/>
              <a:t>механизм «подписки», который позволяет объекту (</a:t>
            </a:r>
            <a:r>
              <a:rPr lang="ru-RU" sz="2400" b="1" dirty="0"/>
              <a:t>Издателю</a:t>
            </a:r>
            <a:r>
              <a:rPr lang="ru-RU" sz="2400" dirty="0"/>
              <a:t>) оповещать множество других объектов (</a:t>
            </a:r>
            <a:r>
              <a:rPr lang="ru-RU" sz="2400" b="1" dirty="0"/>
              <a:t>Подписчиков</a:t>
            </a:r>
            <a:r>
              <a:rPr lang="ru-RU" sz="2400" dirty="0"/>
              <a:t>) об изменениях своего состояния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pPr algn="just">
              <a:lnSpc>
                <a:spcPct val="125000"/>
              </a:lnSpc>
            </a:pPr>
            <a:endParaRPr lang="ru-RU" sz="2400" dirty="0" smtClean="0"/>
          </a:p>
          <a:p>
            <a:pPr algn="just">
              <a:lnSpc>
                <a:spcPct val="125000"/>
              </a:lnSpc>
            </a:pPr>
            <a:r>
              <a:rPr lang="ru-RU" sz="2400" b="1" dirty="0" smtClean="0"/>
              <a:t>Аналогия из жизни:</a:t>
            </a:r>
            <a:endParaRPr lang="ru-RU" sz="2400" dirty="0" smtClean="0"/>
          </a:p>
          <a:p>
            <a:pPr algn="just">
              <a:lnSpc>
                <a:spcPct val="125000"/>
              </a:lnSpc>
            </a:pPr>
            <a:r>
              <a:rPr lang="ru-RU" sz="2400" b="1" dirty="0" err="1" smtClean="0"/>
              <a:t>Маркетплейсы</a:t>
            </a:r>
            <a:r>
              <a:rPr lang="ru-RU" sz="2400" b="1" dirty="0" smtClean="0"/>
              <a:t>:</a:t>
            </a:r>
            <a:r>
              <a:rPr lang="ru-RU" sz="2400" dirty="0" smtClean="0"/>
              <a:t> Вы добавляете товар в «Избранное». Когда цена на него падает, сервер рассылает уведомление всем заинтересованным покупателям.</a:t>
            </a:r>
            <a:endParaRPr lang="ru-RU" sz="2400" dirty="0"/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Наблюдатель (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Observer)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417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292406"/>
            <a:ext cx="12192000" cy="501566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Паттерн строится на двух ролях: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Издатель (</a:t>
            </a:r>
            <a:r>
              <a:rPr lang="ru-RU" sz="2400" b="1" dirty="0" err="1"/>
              <a:t>Subject</a:t>
            </a:r>
            <a:r>
              <a:rPr lang="ru-RU" sz="2400" b="1" dirty="0"/>
              <a:t> / </a:t>
            </a:r>
            <a:r>
              <a:rPr lang="ru-RU" sz="2400" b="1" dirty="0" err="1"/>
              <a:t>Publisher</a:t>
            </a:r>
            <a:r>
              <a:rPr lang="ru-RU" sz="2400" b="1" dirty="0"/>
              <a:t>):</a:t>
            </a:r>
            <a:endParaRPr lang="ru-RU" sz="2400" dirty="0"/>
          </a:p>
          <a:p>
            <a:pPr lvl="1">
              <a:lnSpc>
                <a:spcPct val="150000"/>
              </a:lnSpc>
            </a:pPr>
            <a:r>
              <a:rPr lang="ru-RU" sz="2400" dirty="0"/>
              <a:t>Хранит внутри себя </a:t>
            </a:r>
            <a:r>
              <a:rPr lang="ru-RU" sz="2400" b="1" dirty="0"/>
              <a:t>список</a:t>
            </a:r>
            <a:r>
              <a:rPr lang="ru-RU" sz="2400" dirty="0"/>
              <a:t> всех подписавшихся объектов.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Предоставляет методы для подписки (</a:t>
            </a:r>
            <a:r>
              <a:rPr lang="ru-RU" sz="2400" dirty="0" err="1"/>
              <a:t>Attach</a:t>
            </a:r>
            <a:r>
              <a:rPr lang="ru-RU" sz="2400" dirty="0"/>
              <a:t>) и отписки (</a:t>
            </a:r>
            <a:r>
              <a:rPr lang="ru-RU" sz="2400" dirty="0" err="1"/>
              <a:t>Detach</a:t>
            </a:r>
            <a:r>
              <a:rPr lang="ru-RU" sz="2400" dirty="0"/>
              <a:t>).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Имеет метод </a:t>
            </a:r>
            <a:r>
              <a:rPr lang="ru-RU" sz="2400" dirty="0" err="1"/>
              <a:t>Notify</a:t>
            </a:r>
            <a:r>
              <a:rPr lang="ru-RU" sz="2400" dirty="0"/>
              <a:t>, который проходит циклом по списку и вызывает у каждого подписчика метод обновления.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Подписчик (</a:t>
            </a:r>
            <a:r>
              <a:rPr lang="ru-RU" sz="2400" b="1" dirty="0" err="1"/>
              <a:t>Observer</a:t>
            </a:r>
            <a:r>
              <a:rPr lang="ru-RU" sz="2400" b="1" dirty="0"/>
              <a:t> / </a:t>
            </a:r>
            <a:r>
              <a:rPr lang="ru-RU" sz="2400" b="1" dirty="0" err="1"/>
              <a:t>Subscriber</a:t>
            </a:r>
            <a:r>
              <a:rPr lang="ru-RU" sz="2400" b="1" dirty="0"/>
              <a:t>):</a:t>
            </a:r>
            <a:endParaRPr lang="ru-RU" sz="2400" dirty="0"/>
          </a:p>
          <a:p>
            <a:pPr lvl="1">
              <a:lnSpc>
                <a:spcPct val="150000"/>
              </a:lnSpc>
            </a:pPr>
            <a:r>
              <a:rPr lang="ru-RU" sz="2400" dirty="0"/>
              <a:t>Реализует общий интерфейс с методом (например, </a:t>
            </a:r>
            <a:r>
              <a:rPr lang="ru-RU" sz="2400" dirty="0" err="1"/>
              <a:t>Update</a:t>
            </a:r>
            <a:r>
              <a:rPr lang="ru-RU" sz="2400" dirty="0"/>
              <a:t>), который вызывается издателем.</a:t>
            </a:r>
          </a:p>
        </p:txBody>
      </p:sp>
    </p:spTree>
    <p:extLst>
      <p:ext uri="{BB962C8B-B14F-4D97-AF65-F5344CB8AC3E}">
        <p14:creationId xmlns:p14="http://schemas.microsoft.com/office/powerpoint/2010/main" val="1413124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10" y="0"/>
            <a:ext cx="120399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5687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292406"/>
            <a:ext cx="12192000" cy="501566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Где вы это уже видели?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В Лекции 2 мы разбирали интерфейс </a:t>
            </a:r>
            <a:r>
              <a:rPr lang="ru-RU" sz="2400" b="1" dirty="0" err="1"/>
              <a:t>INotifyPropertyChanged</a:t>
            </a:r>
            <a:r>
              <a:rPr lang="ru-RU" sz="2400" dirty="0"/>
              <a:t>. Это и есть классическая реализация Наблюдателя в .NET!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ViewModel</a:t>
            </a:r>
            <a:r>
              <a:rPr lang="ru-RU" sz="2400" dirty="0"/>
              <a:t> здесь выступает в роли </a:t>
            </a:r>
            <a:r>
              <a:rPr lang="ru-RU" sz="2400" b="1" dirty="0"/>
              <a:t>Издателя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Интерфейс (</a:t>
            </a:r>
            <a:r>
              <a:rPr lang="ru-RU" sz="2400" b="1" dirty="0" err="1"/>
              <a:t>View</a:t>
            </a:r>
            <a:r>
              <a:rPr lang="ru-RU" sz="2400" b="1" dirty="0"/>
              <a:t>)</a:t>
            </a:r>
            <a:r>
              <a:rPr lang="ru-RU" sz="2400" dirty="0"/>
              <a:t> выступает в роли </a:t>
            </a:r>
            <a:r>
              <a:rPr lang="ru-RU" sz="2400" b="1" dirty="0"/>
              <a:t>Подписчика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Когда во </a:t>
            </a:r>
            <a:r>
              <a:rPr lang="ru-RU" sz="2400" dirty="0" err="1"/>
              <a:t>ViewModel</a:t>
            </a:r>
            <a:r>
              <a:rPr lang="ru-RU" sz="2400" dirty="0"/>
              <a:t> меняется свойство, она «выстреливает» событием, а UI-элементы, которые «слушают» это событие, мгновенно перерисовывают себя. На этом механизме держится вся современная разработка интерфейсов (WPF, </a:t>
            </a:r>
            <a:r>
              <a:rPr lang="ru-RU" sz="2400" dirty="0" err="1"/>
              <a:t>Avalonia</a:t>
            </a:r>
            <a:r>
              <a:rPr lang="ru-RU" sz="2400" dirty="0"/>
              <a:t>, </a:t>
            </a:r>
            <a:r>
              <a:rPr lang="ru-RU" sz="2400" dirty="0" err="1"/>
              <a:t>Android</a:t>
            </a:r>
            <a:r>
              <a:rPr lang="ru-RU" sz="2400" dirty="0"/>
              <a:t>, </a:t>
            </a:r>
            <a:r>
              <a:rPr lang="ru-RU" sz="2400" dirty="0" err="1"/>
              <a:t>React</a:t>
            </a:r>
            <a:r>
              <a:rPr lang="ru-RU" sz="24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74769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Интерфейс подписчика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interface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IObserver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IObserver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Name =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Метод, который вызовет Издатель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Уведомление для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558461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Издатель (Магазин)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ProductStore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IObserver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_observers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Subscribe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IObserver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observers.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Notify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_observers)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Рассылка всем!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ChangePrice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Notify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Цена на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iPhone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снижена!"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413251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89364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Создаем Издателя (Магазин)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ProductStore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appleStore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ProductStore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Создаем Подписчиков (Клиентов)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ivan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Иван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anna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Анна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Подписываем их на обновления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appleStore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Subscribe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ivan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appleStore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Subscribe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anna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Произошло событие - магазин вызывает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Notify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appleStore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ChangePrice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2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192" y="5067301"/>
            <a:ext cx="914561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391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28986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2400" b="1" dirty="0"/>
              <a:t>Преимущества (+):</a:t>
            </a:r>
            <a:endParaRPr lang="ru-RU" sz="2400" dirty="0"/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Слабая связанность (</a:t>
            </a:r>
            <a:r>
              <a:rPr lang="ru-RU" sz="2400" b="1" dirty="0" err="1"/>
              <a:t>Loose</a:t>
            </a:r>
            <a:r>
              <a:rPr lang="ru-RU" sz="2400" b="1" dirty="0"/>
              <a:t> </a:t>
            </a:r>
            <a:r>
              <a:rPr lang="ru-RU" sz="2400" b="1" dirty="0" err="1"/>
              <a:t>Coupling</a:t>
            </a:r>
            <a:r>
              <a:rPr lang="ru-RU" sz="2400" b="1" dirty="0"/>
              <a:t>):</a:t>
            </a:r>
            <a:r>
              <a:rPr lang="ru-RU" sz="2400" dirty="0"/>
              <a:t> Издатель не знает, кто на него подписан и что они будут делать с информацией.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Динамика:</a:t>
            </a:r>
            <a:r>
              <a:rPr lang="ru-RU" sz="2400" dirty="0"/>
              <a:t> Можно добавлять и удалять подписчиков прямо во время работы программы.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/>
              <a:t>Broadcast</a:t>
            </a:r>
            <a:r>
              <a:rPr lang="ru-RU" sz="2400" b="1" dirty="0"/>
              <a:t>:</a:t>
            </a:r>
            <a:r>
              <a:rPr lang="ru-RU" sz="2400" dirty="0"/>
              <a:t> Позволяет реализовать массовую рассылку сообщений одним вызовом.</a:t>
            </a:r>
          </a:p>
          <a:p>
            <a:pPr>
              <a:lnSpc>
                <a:spcPct val="130000"/>
              </a:lnSpc>
            </a:pPr>
            <a:r>
              <a:rPr lang="ru-RU" sz="2400" b="1" dirty="0"/>
              <a:t>Недостатки (-):</a:t>
            </a:r>
            <a:endParaRPr lang="ru-RU" sz="2400" dirty="0"/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Порядок уведомлений:</a:t>
            </a:r>
            <a:r>
              <a:rPr lang="ru-RU" sz="2400" dirty="0"/>
              <a:t> Подписчики получают уведомления в случайном порядке.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Утечки памяти:</a:t>
            </a:r>
            <a:r>
              <a:rPr lang="ru-RU" sz="2400" dirty="0"/>
              <a:t> Если забыть «отписаться» от издателя, объект-подписчик никогда не будет удален сборщиком мусора (это называют «</a:t>
            </a:r>
            <a:r>
              <a:rPr lang="ru-RU" sz="2400" dirty="0" err="1"/>
              <a:t>Lapsed</a:t>
            </a:r>
            <a:r>
              <a:rPr lang="ru-RU" sz="2400" dirty="0"/>
              <a:t> </a:t>
            </a:r>
            <a:r>
              <a:rPr lang="ru-RU" sz="2400" dirty="0" err="1"/>
              <a:t>Listener</a:t>
            </a:r>
            <a:r>
              <a:rPr lang="ru-RU" sz="2400" dirty="0"/>
              <a:t> </a:t>
            </a:r>
            <a:r>
              <a:rPr lang="ru-RU" sz="2400" dirty="0" err="1"/>
              <a:t>problem</a:t>
            </a:r>
            <a:r>
              <a:rPr lang="ru-RU" sz="2400" dirty="0"/>
              <a:t>»).</a:t>
            </a:r>
          </a:p>
        </p:txBody>
      </p:sp>
    </p:spTree>
    <p:extLst>
      <p:ext uri="{BB962C8B-B14F-4D97-AF65-F5344CB8AC3E}">
        <p14:creationId xmlns:p14="http://schemas.microsoft.com/office/powerpoint/2010/main" val="3766892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24369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5000"/>
              </a:lnSpc>
            </a:pPr>
            <a:r>
              <a:rPr lang="ru-RU" sz="2400" b="1" dirty="0"/>
              <a:t>Проблема: Жесткая связь отправителя и получателя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Обычно, когда мы жмем на кнопку, она напрямую вызывает метод в коде. Это создает проблему:</a:t>
            </a:r>
          </a:p>
          <a:p>
            <a:pPr>
              <a:lnSpc>
                <a:spcPct val="135000"/>
              </a:lnSpc>
            </a:pPr>
            <a:r>
              <a:rPr lang="ru-RU" sz="2400" dirty="0"/>
              <a:t>Кнопка «знает» слишком много о логике приложения.</a:t>
            </a:r>
          </a:p>
          <a:p>
            <a:pPr>
              <a:lnSpc>
                <a:spcPct val="135000"/>
              </a:lnSpc>
            </a:pPr>
            <a:r>
              <a:rPr lang="ru-RU" sz="2400" dirty="0"/>
              <a:t>Трудно </a:t>
            </a:r>
            <a:r>
              <a:rPr lang="ru-RU" sz="2400" dirty="0" err="1"/>
              <a:t>переиспользовать</a:t>
            </a:r>
            <a:r>
              <a:rPr lang="ru-RU" sz="2400" dirty="0"/>
              <a:t> логику (например, одно и то же действие для кнопки и горячей клавиши).</a:t>
            </a:r>
          </a:p>
          <a:p>
            <a:pPr>
              <a:lnSpc>
                <a:spcPct val="135000"/>
              </a:lnSpc>
            </a:pPr>
            <a:r>
              <a:rPr lang="ru-RU" sz="2400" dirty="0"/>
              <a:t>Невозможно отменить действие.</a:t>
            </a:r>
          </a:p>
          <a:p>
            <a:pPr>
              <a:lnSpc>
                <a:spcPct val="135000"/>
              </a:lnSpc>
            </a:pPr>
            <a:r>
              <a:rPr lang="ru-RU" sz="2400" b="1" dirty="0"/>
              <a:t>Решение: Превратить действие в объект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Паттерн Команда инкапсулирует запрос в виде отдельного объекта. Теперь «запрос на сохранение» — это не просто вызов метода, а самостоятельная сущность, которую можно передавать, хранить и ставить в очередь</a:t>
            </a:r>
            <a:r>
              <a:rPr lang="ru-RU" sz="2400" dirty="0" smtClean="0"/>
              <a:t>.</a:t>
            </a:r>
            <a:endParaRPr lang="ru-RU" sz="2400" dirty="0"/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Команда (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Command)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4026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27996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/>
              <a:t>Аналогия</a:t>
            </a:r>
            <a:r>
              <a:rPr lang="ru-RU" sz="2400" b="1" dirty="0"/>
              <a:t>: Заказ в ресторане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Вы (Отправитель) не идете на кухню объяснять повару (Получателю), как жарить мясо. Вы пишете </a:t>
            </a:r>
            <a:r>
              <a:rPr lang="ru-RU" sz="2400" b="1" dirty="0"/>
              <a:t>заказ на листке (Команда)</a:t>
            </a:r>
            <a:r>
              <a:rPr lang="ru-RU" sz="2400" dirty="0"/>
              <a:t>. Официанту всё равно, что в заказе, он просто относит его на кухню. Листок можно передать другому повару или аннулировать</a:t>
            </a:r>
            <a:r>
              <a:rPr lang="ru-RU" sz="2400" dirty="0" smtClean="0"/>
              <a:t>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467561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607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40000"/>
              </a:lnSpc>
            </a:pPr>
            <a:r>
              <a:rPr lang="ru-RU" sz="2400" b="1" dirty="0" smtClean="0"/>
              <a:t>Как </a:t>
            </a:r>
            <a:r>
              <a:rPr lang="ru-RU" sz="2400" b="1" dirty="0"/>
              <a:t>это работает? (Роли в паттерне)</a:t>
            </a:r>
          </a:p>
          <a:p>
            <a:pPr>
              <a:lnSpc>
                <a:spcPct val="140000"/>
              </a:lnSpc>
            </a:pPr>
            <a:r>
              <a:rPr lang="ru-RU" sz="2400" b="1" dirty="0"/>
              <a:t>Команда (</a:t>
            </a:r>
            <a:r>
              <a:rPr lang="ru-RU" sz="2400" b="1" dirty="0" err="1"/>
              <a:t>Command</a:t>
            </a:r>
            <a:r>
              <a:rPr lang="ru-RU" sz="2400" b="1" dirty="0"/>
              <a:t>):</a:t>
            </a:r>
            <a:r>
              <a:rPr lang="ru-RU" sz="2400" dirty="0"/>
              <a:t> Интерфейс с методом </a:t>
            </a:r>
            <a:r>
              <a:rPr lang="ru-RU" sz="2400" dirty="0" err="1"/>
              <a:t>Execute</a:t>
            </a:r>
            <a:r>
              <a:rPr lang="ru-RU" sz="2400" dirty="0"/>
              <a:t>().</a:t>
            </a:r>
          </a:p>
          <a:p>
            <a:pPr>
              <a:lnSpc>
                <a:spcPct val="140000"/>
              </a:lnSpc>
            </a:pPr>
            <a:r>
              <a:rPr lang="ru-RU" sz="2400" b="1" dirty="0"/>
              <a:t>Конкретная команда:</a:t>
            </a:r>
            <a:r>
              <a:rPr lang="ru-RU" sz="2400" dirty="0"/>
              <a:t> Реализует </a:t>
            </a:r>
            <a:r>
              <a:rPr lang="ru-RU" sz="2400" dirty="0" err="1"/>
              <a:t>Execute</a:t>
            </a:r>
            <a:r>
              <a:rPr lang="ru-RU" sz="2400" dirty="0"/>
              <a:t>, внутри которого вызывает метод у Получателя.</a:t>
            </a:r>
          </a:p>
          <a:p>
            <a:pPr>
              <a:lnSpc>
                <a:spcPct val="140000"/>
              </a:lnSpc>
            </a:pPr>
            <a:r>
              <a:rPr lang="ru-RU" sz="2400" b="1" dirty="0"/>
              <a:t>Получатель (</a:t>
            </a:r>
            <a:r>
              <a:rPr lang="ru-RU" sz="2400" b="1" dirty="0" err="1"/>
              <a:t>Receiver</a:t>
            </a:r>
            <a:r>
              <a:rPr lang="ru-RU" sz="2400" b="1" dirty="0"/>
              <a:t>):</a:t>
            </a:r>
            <a:r>
              <a:rPr lang="ru-RU" sz="2400" dirty="0"/>
              <a:t> Класс, который реально знает, как выполнять работу (бизнес-логика).</a:t>
            </a:r>
          </a:p>
          <a:p>
            <a:pPr>
              <a:lnSpc>
                <a:spcPct val="140000"/>
              </a:lnSpc>
            </a:pPr>
            <a:r>
              <a:rPr lang="ru-RU" sz="2400" b="1" dirty="0"/>
              <a:t>Инициатор (</a:t>
            </a:r>
            <a:r>
              <a:rPr lang="ru-RU" sz="2400" b="1" dirty="0" err="1"/>
              <a:t>Invoker</a:t>
            </a:r>
            <a:r>
              <a:rPr lang="ru-RU" sz="2400" b="1" dirty="0"/>
              <a:t>):</a:t>
            </a:r>
            <a:r>
              <a:rPr lang="ru-RU" sz="2400" dirty="0"/>
              <a:t> Объект, который просит команду выполниться (например, кнопка).</a:t>
            </a:r>
          </a:p>
          <a:p>
            <a:pPr>
              <a:lnSpc>
                <a:spcPct val="140000"/>
              </a:lnSpc>
            </a:pPr>
            <a:r>
              <a:rPr lang="ru-RU" sz="2400" b="1" dirty="0"/>
              <a:t>Киллер-</a:t>
            </a:r>
            <a:r>
              <a:rPr lang="ru-RU" sz="2400" b="1" dirty="0" err="1"/>
              <a:t>фича</a:t>
            </a:r>
            <a:r>
              <a:rPr lang="ru-RU" sz="2400" b="1" dirty="0"/>
              <a:t>: Отмена действия (</a:t>
            </a:r>
            <a:r>
              <a:rPr lang="ru-RU" sz="2400" b="1" dirty="0" err="1"/>
              <a:t>Undo</a:t>
            </a:r>
            <a:r>
              <a:rPr lang="ru-RU" sz="2400" b="1" dirty="0"/>
              <a:t>)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Если в интерфейс команды добавить метод </a:t>
            </a:r>
            <a:r>
              <a:rPr lang="ru-RU" sz="2400" dirty="0" err="1"/>
              <a:t>Undo</a:t>
            </a:r>
            <a:r>
              <a:rPr lang="ru-RU" sz="2400" dirty="0"/>
              <a:t>(), мы сможем сохранять выполненные команды в </a:t>
            </a:r>
            <a:r>
              <a:rPr lang="ru-RU" sz="2400" b="1" dirty="0"/>
              <a:t>Стек (</a:t>
            </a:r>
            <a:r>
              <a:rPr lang="ru-RU" sz="2400" b="1" dirty="0" err="1"/>
              <a:t>Stack</a:t>
            </a:r>
            <a:r>
              <a:rPr lang="ru-RU" sz="2400" b="1" dirty="0"/>
              <a:t>)</a:t>
            </a:r>
            <a:r>
              <a:rPr lang="ru-RU" sz="2400" dirty="0"/>
              <a:t>. Чтобы отменить последние 10 действий, нам нужно просто достать 10 команд из стека и вызвать у них </a:t>
            </a:r>
            <a:r>
              <a:rPr lang="ru-RU" sz="2400" dirty="0" err="1"/>
              <a:t>Undo</a:t>
            </a:r>
            <a:r>
              <a:rPr lang="ru-RU" sz="2400" dirty="0"/>
              <a:t>().</a:t>
            </a:r>
          </a:p>
        </p:txBody>
      </p:sp>
    </p:spTree>
    <p:extLst>
      <p:ext uri="{BB962C8B-B14F-4D97-AF65-F5344CB8AC3E}">
        <p14:creationId xmlns:p14="http://schemas.microsoft.com/office/powerpoint/2010/main" val="1319397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500"/>
            <a:ext cx="12192000" cy="6720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007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89364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1. Интерфейс с возможностью отмены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interface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Undo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2. Получатель (Логика телевизора)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ТВ включен"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Off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ТВ выключен"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788843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3. Конкретная команда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ToggleTVCommand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ToggleTVCommand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_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Undo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_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Off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661619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myTv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TV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ToggleTVCommand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myTv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Хранилище истории для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Undo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history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Выполняем и запоминаем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command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history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Нажали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Ctrl+Z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Отмена)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history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&gt; 0)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history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Pop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Undo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ТВ выключится сам!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000061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Преимущества (+):</a:t>
            </a:r>
            <a:endParaRPr lang="ru-RU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Слабая связанность:</a:t>
            </a:r>
            <a:r>
              <a:rPr lang="ru-RU" sz="2400" dirty="0"/>
              <a:t> Класс, вызывающий команду, и класс, выполняющий её, полностью разделены.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История действий:</a:t>
            </a:r>
            <a:r>
              <a:rPr lang="ru-RU" sz="2400" dirty="0"/>
              <a:t> Легко реализовать </a:t>
            </a:r>
            <a:r>
              <a:rPr lang="ru-RU" sz="2400" dirty="0" err="1"/>
              <a:t>Undo</a:t>
            </a:r>
            <a:r>
              <a:rPr lang="ru-RU" sz="2400" dirty="0"/>
              <a:t>/</a:t>
            </a:r>
            <a:r>
              <a:rPr lang="ru-RU" sz="2400" dirty="0" err="1"/>
              <a:t>Redo</a:t>
            </a:r>
            <a:r>
              <a:rPr lang="ru-RU" sz="2400" dirty="0"/>
              <a:t> и очередь команд.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Комбинирование:</a:t>
            </a:r>
            <a:r>
              <a:rPr lang="ru-RU" sz="2400" dirty="0"/>
              <a:t> Можно собирать сложные команды из нескольких простых (Макрокоманды).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Недостатки (-):</a:t>
            </a:r>
            <a:endParaRPr lang="ru-RU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Много классов:</a:t>
            </a:r>
            <a:r>
              <a:rPr lang="ru-RU" sz="2400" dirty="0"/>
              <a:t> Для каждого отдельного действия приходится создавать свой класс команды. Это может «раздуть» проект.</a:t>
            </a:r>
          </a:p>
        </p:txBody>
      </p:sp>
    </p:spTree>
    <p:extLst>
      <p:ext uri="{BB962C8B-B14F-4D97-AF65-F5344CB8AC3E}">
        <p14:creationId xmlns:p14="http://schemas.microsoft.com/office/powerpoint/2010/main" val="2635018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22324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2400" b="1" dirty="0"/>
              <a:t>Проблема: Зависимость поведения от статуса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У многих объектов есть внутреннее состояние, которое диктует, как они должны реагировать на команды.</a:t>
            </a:r>
          </a:p>
          <a:p>
            <a:pPr>
              <a:lnSpc>
                <a:spcPct val="120000"/>
              </a:lnSpc>
            </a:pPr>
            <a:r>
              <a:rPr lang="ru-RU" sz="2400" i="1" dirty="0"/>
              <a:t>Пример:</a:t>
            </a:r>
            <a:r>
              <a:rPr lang="ru-RU" sz="2400" dirty="0"/>
              <a:t> Заказ в интернет-магазине. Метод </a:t>
            </a:r>
            <a:r>
              <a:rPr lang="ru-RU" sz="2400" dirty="0" smtClean="0"/>
              <a:t>должен </a:t>
            </a:r>
            <a:r>
              <a:rPr lang="ru-RU" sz="2400" dirty="0"/>
              <a:t>работать, если заказ </a:t>
            </a:r>
            <a:r>
              <a:rPr lang="ru-RU" sz="2400" b="1" dirty="0"/>
              <a:t>«Новый»</a:t>
            </a:r>
            <a:r>
              <a:rPr lang="ru-RU" sz="2400" dirty="0"/>
              <a:t>, и выдавать ошибку, если он уже </a:t>
            </a:r>
            <a:r>
              <a:rPr lang="ru-RU" sz="2400" b="1" dirty="0"/>
              <a:t>«В пути»</a:t>
            </a:r>
            <a:r>
              <a:rPr lang="ru-RU" sz="2400" dirty="0"/>
              <a:t> или </a:t>
            </a:r>
            <a:r>
              <a:rPr lang="ru-RU" sz="2400" b="1" dirty="0"/>
              <a:t>«Доставлен»</a:t>
            </a:r>
            <a:r>
              <a:rPr lang="ru-RU" sz="2400" dirty="0"/>
              <a:t>.</a:t>
            </a:r>
          </a:p>
          <a:p>
            <a:pPr>
              <a:lnSpc>
                <a:spcPct val="120000"/>
              </a:lnSpc>
            </a:pPr>
            <a:r>
              <a:rPr lang="ru-RU" sz="2400" b="1" dirty="0"/>
              <a:t>Как это обычно пишут (плохо):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Бесконечные проверки внутри каждого метода</a:t>
            </a:r>
            <a:r>
              <a:rPr lang="ru-RU" sz="2400" dirty="0" smtClean="0"/>
              <a:t>: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(status ==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"New"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отменить */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(status ==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"Shipped"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ошибка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*/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(status ==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"Canceled"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уже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отменен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*/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... и так в каждом методе!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Состояние (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State)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973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Паттерн </a:t>
            </a:r>
            <a:r>
              <a:rPr lang="ru-RU" sz="2400" b="1" dirty="0"/>
              <a:t>Состояние</a:t>
            </a:r>
            <a:r>
              <a:rPr lang="ru-RU" sz="2400" dirty="0"/>
              <a:t> позволяет объекту менять поведение при изменении его внутреннего состояния. Кажется, будто объект сменил свой класс.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Реализация:</a:t>
            </a:r>
            <a:endParaRPr lang="ru-RU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Интерфейс Состояния (</a:t>
            </a:r>
            <a:r>
              <a:rPr lang="ru-RU" sz="2400" b="1" dirty="0" err="1"/>
              <a:t>IState</a:t>
            </a:r>
            <a:r>
              <a:rPr lang="ru-RU" sz="2400" b="1" dirty="0"/>
              <a:t>):</a:t>
            </a:r>
            <a:r>
              <a:rPr lang="ru-RU" sz="2400" dirty="0"/>
              <a:t> Описывает все возможные действия (например, </a:t>
            </a:r>
            <a:r>
              <a:rPr lang="ru-RU" sz="2400" dirty="0" err="1"/>
              <a:t>PushPowerButton</a:t>
            </a:r>
            <a:r>
              <a:rPr lang="ru-RU" sz="2400" dirty="0"/>
              <a:t>, </a:t>
            </a:r>
            <a:r>
              <a:rPr lang="ru-RU" sz="2400" dirty="0" err="1"/>
              <a:t>InsertCard</a:t>
            </a:r>
            <a:r>
              <a:rPr lang="ru-RU" sz="2400" dirty="0"/>
              <a:t>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Классы состояний:</a:t>
            </a:r>
            <a:r>
              <a:rPr lang="ru-RU" sz="2400" dirty="0"/>
              <a:t> Каждое состояние (например, </a:t>
            </a:r>
            <a:r>
              <a:rPr lang="ru-RU" sz="2400" dirty="0" err="1"/>
              <a:t>PowerOnState</a:t>
            </a:r>
            <a:r>
              <a:rPr lang="ru-RU" sz="2400" dirty="0"/>
              <a:t>, </a:t>
            </a:r>
            <a:r>
              <a:rPr lang="ru-RU" sz="2400" dirty="0" err="1"/>
              <a:t>WaitingForPinState</a:t>
            </a:r>
            <a:r>
              <a:rPr lang="ru-RU" sz="2400" dirty="0"/>
              <a:t>) реализует этот интерфейс </a:t>
            </a:r>
            <a:r>
              <a:rPr lang="ru-RU" sz="2400" b="1" dirty="0"/>
              <a:t>по-своему</a:t>
            </a:r>
            <a:r>
              <a:rPr lang="ru-RU" sz="240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Контекст (Сам объект):</a:t>
            </a:r>
            <a:r>
              <a:rPr lang="ru-RU" sz="2400" dirty="0"/>
              <a:t> Хранит ссылку на текущий объект-состояние и просто перенаправляет ему все вызовы.</a:t>
            </a:r>
          </a:p>
        </p:txBody>
      </p:sp>
    </p:spTree>
    <p:extLst>
      <p:ext uri="{BB962C8B-B14F-4D97-AF65-F5344CB8AC3E}">
        <p14:creationId xmlns:p14="http://schemas.microsoft.com/office/powerpoint/2010/main" val="19905185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56966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/>
              <a:t>Аналогия: Смартфон на зарядке</a:t>
            </a:r>
          </a:p>
          <a:p>
            <a:pPr algn="just">
              <a:lnSpc>
                <a:spcPct val="150000"/>
              </a:lnSpc>
            </a:pPr>
            <a:r>
              <a:rPr lang="ru-RU" sz="2400" dirty="0"/>
              <a:t>Поведение кнопки питания зависит от уровня заряда и статуса:</a:t>
            </a:r>
          </a:p>
          <a:p>
            <a:pPr algn="just">
              <a:lnSpc>
                <a:spcPct val="150000"/>
              </a:lnSpc>
            </a:pPr>
            <a:r>
              <a:rPr lang="ru-RU" sz="2400" b="1" dirty="0"/>
              <a:t>Состояние «Разряжен»:</a:t>
            </a:r>
            <a:r>
              <a:rPr lang="ru-RU" sz="2400" dirty="0"/>
              <a:t> Нажатие кнопки — на экране иконка пустой батареи.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/>
              <a:t>Состояние «Заряжается»:</a:t>
            </a:r>
            <a:r>
              <a:rPr lang="ru-RU" sz="2400" dirty="0"/>
              <a:t> Нажатие кнопки — экран показывает процент заряда.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/>
              <a:t>Состояние «Включен»:</a:t>
            </a:r>
            <a:r>
              <a:rPr lang="ru-RU" sz="2400" dirty="0"/>
              <a:t> Нажатие кнопки — экран гаснет или загорается.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/>
              <a:t>Кнопка одна, а реализация метода </a:t>
            </a:r>
            <a:r>
              <a:rPr lang="ru-RU" sz="2400" b="1" dirty="0" err="1"/>
              <a:t>PressPowerButton</a:t>
            </a:r>
            <a:r>
              <a:rPr lang="ru-RU" sz="2400" b="1" dirty="0"/>
              <a:t>() в каждом классе-состоянии своя.</a:t>
            </a:r>
            <a:r>
              <a:rPr lang="ru-RU" sz="2400" dirty="0"/>
              <a:t> Смартфону не нужно проверять </a:t>
            </a:r>
            <a:r>
              <a:rPr lang="ru-RU" sz="2400" dirty="0" err="1"/>
              <a:t>if</a:t>
            </a:r>
            <a:r>
              <a:rPr lang="ru-RU" sz="2400" dirty="0"/>
              <a:t>, он просто вызывает метод у текущего состояния.</a:t>
            </a:r>
          </a:p>
        </p:txBody>
      </p:sp>
    </p:spTree>
    <p:extLst>
      <p:ext uri="{BB962C8B-B14F-4D97-AF65-F5344CB8AC3E}">
        <p14:creationId xmlns:p14="http://schemas.microsoft.com/office/powerpoint/2010/main" val="936079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Интерфейс состояния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interface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IOrderState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Конкретное состояние: Новый заказ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NewOrderState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IOrderState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 smtClean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Заказ отменен."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 smtClean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 smtClean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SetState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CanceledState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97464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Конкретное состояние: Отменен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CanceledState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IOrderState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Логика: нельзя отменить то, что уже отменено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"Ошибка: Заказ уже был отменен ранее."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Конкретное состояние: Доставлен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DeliveredOrderState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IOrderState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"Ошибка: нельзя отменить доставленный заказ!"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682334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IOrderState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_state;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IOrderState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_state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IOrderState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_state =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Просто делегируем работу текущему состоянию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_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state.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 программе: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myOrder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NewOrderState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myOrder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"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Заказ отменен"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myOrder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Cancel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"Ошибка: нельзя отменить доставленный заказ" (уже другое состояние)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9700427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2">
      <a:majorFont>
        <a:latin typeface="Bookman Old Style"/>
        <a:ea typeface=""/>
        <a:cs typeface=""/>
      </a:majorFont>
      <a:minorFont>
        <a:latin typeface="Bookman Old Style"/>
        <a:ea typeface=""/>
        <a:cs typeface="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16071</TotalTime>
  <Words>1149</Words>
  <Application>Microsoft Office PowerPoint</Application>
  <PresentationFormat>Широкоэкранный</PresentationFormat>
  <Paragraphs>328</Paragraphs>
  <Slides>33</Slides>
  <Notes>33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33</vt:i4>
      </vt:variant>
    </vt:vector>
  </HeadingPairs>
  <TitlesOfParts>
    <vt:vector size="39" baseType="lpstr">
      <vt:lpstr>Arial</vt:lpstr>
      <vt:lpstr>Bookman Old Style</vt:lpstr>
      <vt:lpstr>Calibri</vt:lpstr>
      <vt:lpstr>Cascadia Mono</vt:lpstr>
      <vt:lpstr>Times New Roman</vt:lpstr>
      <vt:lpstr>Тема Office</vt:lpstr>
      <vt:lpstr>6 семестр Лекция 4. 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977</cp:revision>
  <dcterms:modified xsi:type="dcterms:W3CDTF">2026-05-06T05:12:25Z</dcterms:modified>
</cp:coreProperties>
</file>