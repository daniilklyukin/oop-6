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13"/>
  </p:notesMasterIdLst>
  <p:sldIdLst>
    <p:sldId id="273" r:id="rId2"/>
    <p:sldId id="1148" r:id="rId3"/>
    <p:sldId id="1149" r:id="rId4"/>
    <p:sldId id="1150" r:id="rId5"/>
    <p:sldId id="1151" r:id="rId6"/>
    <p:sldId id="1152" r:id="rId7"/>
    <p:sldId id="1153" r:id="rId8"/>
    <p:sldId id="1154" r:id="rId9"/>
    <p:sldId id="1155" r:id="rId10"/>
    <p:sldId id="1156" r:id="rId11"/>
    <p:sldId id="115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92929"/>
    <a:srgbClr val="BFEFC9"/>
    <a:srgbClr val="5A5A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 autoAdjust="0"/>
    <p:restoredTop sz="82509" autoAdjust="0"/>
  </p:normalViewPr>
  <p:slideViewPr>
    <p:cSldViewPr snapToGrid="0">
      <p:cViewPr varScale="1">
        <p:scale>
          <a:sx n="78" d="100"/>
          <a:sy n="78" d="100"/>
        </p:scale>
        <p:origin x="96" y="1278"/>
      </p:cViewPr>
      <p:guideLst>
        <p:guide orient="horz" pos="2160"/>
        <p:guide pos="386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654"/>
    </p:cViewPr>
  </p:sorterViewPr>
  <p:notesViewPr>
    <p:cSldViewPr snapToGrid="0">
      <p:cViewPr varScale="1">
        <p:scale>
          <a:sx n="86" d="100"/>
          <a:sy n="86" d="100"/>
        </p:scale>
        <p:origin x="378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F9473-F066-431E-A6E8-1D478C995A6B}" type="datetimeFigureOut">
              <a:rPr lang="en-US" smtClean="0"/>
              <a:pPr/>
              <a:t>2/16/2026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4E2F1-1521-4C3A-A563-2F7D19AB6E0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75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81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358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906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7553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494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5353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4926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6915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2902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9071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F4E2F1-1521-4C3A-A563-2F7D19AB6E0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98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736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5897"/>
            <a:ext cx="12192000" cy="949324"/>
          </a:xfrm>
        </p:spPr>
        <p:txBody>
          <a:bodyPr/>
          <a:lstStyle>
            <a:lvl1pPr algn="ctr">
              <a:defRPr sz="27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214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Номер слайда 3">
            <a:extLst>
              <a:ext uri="{FF2B5EF4-FFF2-40B4-BE49-F238E27FC236}">
                <a16:creationId xmlns:a16="http://schemas.microsoft.com/office/drawing/2014/main" id="{3DF48714-7FE4-4364-BF9D-28B9C9E29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376266"/>
            <a:ext cx="914400" cy="481735"/>
          </a:xfrm>
          <a:prstGeom prst="rect">
            <a:avLst/>
          </a:prstGeom>
        </p:spPr>
        <p:txBody>
          <a:bodyPr/>
          <a:lstStyle/>
          <a:p>
            <a:fld id="{3EC42A18-3AB2-40E5-884A-7E072263AE64}" type="slidenum">
              <a:rPr lang="en-US" b="1" smtClean="0">
                <a:solidFill>
                  <a:srgbClr val="292929"/>
                </a:solidFill>
                <a:latin typeface="Bookman Old Style" panose="02050604050505020204" pitchFamily="18" charset="0"/>
              </a:rPr>
              <a:pPr/>
              <a:t>‹#›</a:t>
            </a:fld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/</a:t>
            </a:r>
            <a:r>
              <a:rPr lang="ru-RU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2</a:t>
            </a:r>
            <a:r>
              <a:rPr lang="en-US" sz="1400" b="1" dirty="0" smtClean="0">
                <a:solidFill>
                  <a:srgbClr val="5A5A5A"/>
                </a:solidFill>
                <a:latin typeface="Bookman Old Style" panose="02050604050505020204" pitchFamily="18" charset="0"/>
              </a:rPr>
              <a:t>0</a:t>
            </a:r>
            <a:endParaRPr lang="en-US" sz="1400" b="1" dirty="0">
              <a:solidFill>
                <a:srgbClr val="5A5A5A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892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86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0" y="641032"/>
            <a:ext cx="12192000" cy="156965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indent="254000" algn="ctr">
              <a:spcBef>
                <a:spcPct val="20000"/>
              </a:spcBef>
            </a:pPr>
            <a:r>
              <a:rPr lang="ru-RU" sz="4800" b="1" dirty="0" smtClean="0">
                <a:solidFill>
                  <a:schemeClr val="accent1">
                    <a:lumMod val="50000"/>
                  </a:schemeClr>
                </a:solidFill>
                <a:latin typeface="Bookman Old Style" pitchFamily="18" charset="0"/>
              </a:rPr>
              <a:t>Объектно-ориентированное программирование</a:t>
            </a:r>
            <a:endParaRPr lang="ru-RU" altLang="ru-RU" sz="4800" b="1" dirty="0">
              <a:solidFill>
                <a:schemeClr val="accent1">
                  <a:lumMod val="50000"/>
                </a:schemeClr>
              </a:solidFill>
              <a:latin typeface="Bookman Old Style" pitchFamily="18" charset="0"/>
            </a:endParaRPr>
          </a:p>
        </p:txBody>
      </p:sp>
      <p:sp>
        <p:nvSpPr>
          <p:cNvPr id="17" name="Заголовок 16">
            <a:extLst>
              <a:ext uri="{FF2B5EF4-FFF2-40B4-BE49-F238E27FC236}">
                <a16:creationId xmlns:a16="http://schemas.microsoft.com/office/drawing/2014/main" id="{D630362D-1F09-46B4-9DE4-AEA483AC8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031" y="2210690"/>
            <a:ext cx="10670534" cy="1736564"/>
          </a:xfrm>
        </p:spPr>
        <p:txBody>
          <a:bodyPr>
            <a:noAutofit/>
          </a:bodyPr>
          <a:lstStyle/>
          <a:p>
            <a:pPr algn="l"/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6 семестр</a:t>
            </a:r>
            <a:b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Лекция 6. </a:t>
            </a:r>
            <a:b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/>
            </a:r>
            <a:b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</a:b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Содержание 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лекции</a:t>
            </a:r>
            <a:r>
              <a:rPr lang="ru-RU" sz="2800" b="1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:</a:t>
            </a:r>
            <a:endParaRPr lang="ru-RU" sz="2800" dirty="0">
              <a:latin typeface="Bookman Old Style" panose="02050604050505020204" pitchFamily="18" charset="0"/>
            </a:endParaRPr>
          </a:p>
        </p:txBody>
      </p:sp>
      <p:sp>
        <p:nvSpPr>
          <p:cNvPr id="10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6336807"/>
            <a:ext cx="12192000" cy="521193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9050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indent="723900" algn="just"/>
            <a:r>
              <a:rPr lang="ru-RU" sz="1800" b="1" dirty="0">
                <a:solidFill>
                  <a:srgbClr val="292929"/>
                </a:solidFill>
                <a:latin typeface="Bookman Old Style" pitchFamily="18" charset="0"/>
              </a:rPr>
              <a:t>Преподаватель курса: Клюкин Даниил Анатольевич, </a:t>
            </a:r>
            <a:r>
              <a:rPr lang="ru-RU" sz="1800" b="1" dirty="0" smtClean="0">
                <a:solidFill>
                  <a:srgbClr val="292929"/>
                </a:solidFill>
                <a:latin typeface="Bookman Old Style" pitchFamily="18" charset="0"/>
              </a:rPr>
              <a:t>ст. преподаватель каф</a:t>
            </a:r>
            <a:r>
              <a:rPr lang="ru-RU" sz="1800" b="1" dirty="0">
                <a:solidFill>
                  <a:srgbClr val="292929"/>
                </a:solidFill>
                <a:latin typeface="Bookman Old Style" pitchFamily="18" charset="0"/>
              </a:rPr>
              <a:t>. </a:t>
            </a:r>
            <a:r>
              <a:rPr lang="ru-RU" sz="1800" b="1" dirty="0" err="1">
                <a:solidFill>
                  <a:srgbClr val="292929"/>
                </a:solidFill>
                <a:latin typeface="Bookman Old Style" pitchFamily="18" charset="0"/>
              </a:rPr>
              <a:t>ПМиИТ</a:t>
            </a:r>
            <a:endParaRPr lang="ru-RU" sz="1800" b="1" dirty="0">
              <a:solidFill>
                <a:srgbClr val="292929"/>
              </a:solidFill>
              <a:latin typeface="Bookman Old Style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B00361-5492-4290-B470-295172C16526}"/>
              </a:ext>
            </a:extLst>
          </p:cNvPr>
          <p:cNvSpPr txBox="1"/>
          <p:nvPr/>
        </p:nvSpPr>
        <p:spPr>
          <a:xfrm>
            <a:off x="877031" y="3947254"/>
            <a:ext cx="1104134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Понятие 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ORM </a:t>
            </a: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и </a:t>
            </a: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Entity </a:t>
            </a:r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Framework</a:t>
            </a:r>
            <a:endParaRPr lang="ru-RU" sz="28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Проектирование моделей (Модель БД</a:t>
            </a: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Контекст данных (</a:t>
            </a:r>
            <a:r>
              <a:rPr lang="en-US" sz="2800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DbContext</a:t>
            </a:r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)</a:t>
            </a:r>
            <a:endParaRPr lang="ru-RU" sz="28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 smtClean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Миграции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800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CRUD: Работа с данными через LINQ</a:t>
            </a:r>
            <a:endParaRPr lang="ru-RU" sz="2800" dirty="0" smtClean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Работа с базой данных, </a:t>
            </a:r>
            <a:r>
              <a:rPr lang="ru-RU" sz="2800" b="1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Entity</a:t>
            </a:r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Framework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" y="654355"/>
            <a:ext cx="12192000" cy="563231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Прежде чем данные попадут в нашу программу, они должны где-то надежно храниться.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База данных (БД):</a:t>
            </a:r>
            <a:r>
              <a:rPr lang="ru-RU" sz="2400" dirty="0"/>
              <a:t> Упорядоченное хранилище </a:t>
            </a:r>
            <a:r>
              <a:rPr lang="ru-RU" sz="2400" dirty="0" smtClean="0"/>
              <a:t>информации.</a:t>
            </a:r>
            <a:endParaRPr lang="ru-RU" sz="2400" dirty="0"/>
          </a:p>
          <a:p>
            <a:pPr>
              <a:lnSpc>
                <a:spcPct val="150000"/>
              </a:lnSpc>
            </a:pPr>
            <a:r>
              <a:rPr lang="ru-RU" sz="2400" b="1" dirty="0"/>
              <a:t>СУБД (Система управления базами данных):</a:t>
            </a:r>
            <a:r>
              <a:rPr lang="ru-RU" sz="2400" dirty="0"/>
              <a:t> Специальное ПО для создания и манипулирования этими данными (например, </a:t>
            </a:r>
            <a:r>
              <a:rPr lang="ru-RU" sz="2400" b="1" dirty="0" err="1"/>
              <a:t>PostgreSQL</a:t>
            </a:r>
            <a:r>
              <a:rPr lang="ru-RU" sz="2400" dirty="0"/>
              <a:t>, </a:t>
            </a:r>
            <a:r>
              <a:rPr lang="ru-RU" sz="2400" b="1" dirty="0"/>
              <a:t>MS SQL </a:t>
            </a:r>
            <a:r>
              <a:rPr lang="ru-RU" sz="2400" b="1" dirty="0" err="1"/>
              <a:t>Server</a:t>
            </a:r>
            <a:r>
              <a:rPr lang="ru-RU" sz="2400" dirty="0"/>
              <a:t>, </a:t>
            </a:r>
            <a:r>
              <a:rPr lang="ru-RU" sz="2400" b="1" dirty="0" err="1"/>
              <a:t>SQLite</a:t>
            </a:r>
            <a:r>
              <a:rPr lang="ru-RU" sz="2400" dirty="0"/>
              <a:t>).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Проблема:</a:t>
            </a:r>
            <a:r>
              <a:rPr lang="ru-RU" sz="2400" dirty="0"/>
              <a:t> Приложения на C# и базы данных «говорят» на разных языках.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В C#:</a:t>
            </a:r>
            <a:r>
              <a:rPr lang="ru-RU" sz="2400" dirty="0"/>
              <a:t> мы работаем с объектами, классами и связями между ними.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В БД:</a:t>
            </a:r>
            <a:r>
              <a:rPr lang="ru-RU" sz="2400" dirty="0"/>
              <a:t> всё хранится в виде плоских таблиц, строк и колонок.</a:t>
            </a:r>
          </a:p>
        </p:txBody>
      </p:sp>
    </p:spTree>
    <p:extLst>
      <p:ext uri="{BB962C8B-B14F-4D97-AF65-F5344CB8AC3E}">
        <p14:creationId xmlns:p14="http://schemas.microsoft.com/office/powerpoint/2010/main" val="1926717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Чтобы не писать вручную запросы на языке SQL внутри C#-кода, программисты используют технологию </a:t>
            </a:r>
            <a:r>
              <a:rPr lang="ru-RU" sz="2400" b="1" dirty="0"/>
              <a:t>ORM</a:t>
            </a:r>
            <a:r>
              <a:rPr lang="ru-RU" sz="2400" dirty="0" smtClean="0"/>
              <a:t>.</a:t>
            </a:r>
          </a:p>
          <a:p>
            <a:pPr>
              <a:lnSpc>
                <a:spcPct val="150000"/>
              </a:lnSpc>
            </a:pPr>
            <a:endParaRPr lang="ru-RU" sz="2400" dirty="0"/>
          </a:p>
          <a:p>
            <a:pPr>
              <a:lnSpc>
                <a:spcPct val="150000"/>
              </a:lnSpc>
            </a:pPr>
            <a:r>
              <a:rPr lang="ru-RU" sz="2400" b="1" dirty="0"/>
              <a:t>ORM (</a:t>
            </a:r>
            <a:r>
              <a:rPr lang="ru-RU" sz="2400" b="1" dirty="0" err="1"/>
              <a:t>Object-Relational</a:t>
            </a:r>
            <a:r>
              <a:rPr lang="ru-RU" sz="2400" b="1" dirty="0"/>
              <a:t> </a:t>
            </a:r>
            <a:r>
              <a:rPr lang="ru-RU" sz="2400" b="1" dirty="0" err="1"/>
              <a:t>Mapping</a:t>
            </a:r>
            <a:r>
              <a:rPr lang="ru-RU" sz="2400" b="1" dirty="0"/>
              <a:t>)</a:t>
            </a:r>
            <a:r>
              <a:rPr lang="ru-RU" sz="2400" dirty="0"/>
              <a:t> — технология «объектно-реляционного отображения</a:t>
            </a:r>
            <a:r>
              <a:rPr lang="ru-RU" sz="2400" dirty="0" smtClean="0"/>
              <a:t>».</a:t>
            </a:r>
          </a:p>
          <a:p>
            <a:pPr>
              <a:lnSpc>
                <a:spcPct val="150000"/>
              </a:lnSpc>
            </a:pPr>
            <a:endParaRPr lang="ru-RU" sz="2400" dirty="0"/>
          </a:p>
          <a:p>
            <a:pPr>
              <a:lnSpc>
                <a:spcPct val="150000"/>
              </a:lnSpc>
            </a:pPr>
            <a:r>
              <a:rPr lang="ru-RU" sz="2400" b="1" dirty="0"/>
              <a:t>Суть:</a:t>
            </a:r>
            <a:r>
              <a:rPr lang="ru-RU" sz="2400" dirty="0"/>
              <a:t> Она автоматически связывает таблицы из базы данных с классами в вашем коде.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Как это работает:</a:t>
            </a:r>
            <a:endParaRPr lang="ru-RU" sz="2400" dirty="0"/>
          </a:p>
          <a:p>
            <a:pPr lvl="1">
              <a:lnSpc>
                <a:spcPct val="150000"/>
              </a:lnSpc>
            </a:pPr>
            <a:r>
              <a:rPr lang="ru-RU" sz="2400" dirty="0"/>
              <a:t>Таблица </a:t>
            </a:r>
            <a:r>
              <a:rPr lang="ru-RU" sz="2400" dirty="0" err="1"/>
              <a:t>Users</a:t>
            </a:r>
            <a:r>
              <a:rPr lang="ru-RU" sz="2400" dirty="0"/>
              <a:t> в БД &lt;— отображается на —&gt; класс </a:t>
            </a:r>
            <a:r>
              <a:rPr lang="ru-RU" sz="2400" dirty="0" err="1"/>
              <a:t>User</a:t>
            </a:r>
            <a:r>
              <a:rPr lang="ru-RU" sz="2400" dirty="0"/>
              <a:t> в C#.</a:t>
            </a:r>
          </a:p>
          <a:p>
            <a:pPr lvl="1">
              <a:lnSpc>
                <a:spcPct val="150000"/>
              </a:lnSpc>
            </a:pPr>
            <a:r>
              <a:rPr lang="ru-RU" sz="2400" dirty="0"/>
              <a:t>Строка в таблице &lt;— отображается на —&gt; экземпляр (объект) класса.</a:t>
            </a:r>
          </a:p>
          <a:p>
            <a:pPr lvl="1">
              <a:lnSpc>
                <a:spcPct val="150000"/>
              </a:lnSpc>
            </a:pPr>
            <a:r>
              <a:rPr lang="ru-RU" sz="2400" dirty="0"/>
              <a:t>Колонка &lt;— отображается на —&gt; свойство класса.</a:t>
            </a:r>
          </a:p>
        </p:txBody>
      </p:sp>
    </p:spTree>
    <p:extLst>
      <p:ext uri="{BB962C8B-B14F-4D97-AF65-F5344CB8AC3E}">
        <p14:creationId xmlns:p14="http://schemas.microsoft.com/office/powerpoint/2010/main" val="1073089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76999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30000"/>
              </a:lnSpc>
            </a:pPr>
            <a:r>
              <a:rPr lang="ru-RU" sz="2400" b="1" dirty="0"/>
              <a:t>EF </a:t>
            </a:r>
            <a:r>
              <a:rPr lang="ru-RU" sz="2400" b="1" dirty="0" err="1"/>
              <a:t>Core</a:t>
            </a:r>
            <a:r>
              <a:rPr lang="ru-RU" sz="2400" dirty="0"/>
              <a:t> — это официальный, современный и самый популярный ORM-</a:t>
            </a:r>
            <a:r>
              <a:rPr lang="ru-RU" sz="2400" dirty="0" err="1"/>
              <a:t>фреймворк</a:t>
            </a:r>
            <a:r>
              <a:rPr lang="ru-RU" sz="2400" dirty="0"/>
              <a:t> от </a:t>
            </a:r>
            <a:r>
              <a:rPr lang="ru-RU" sz="2400" dirty="0" err="1"/>
              <a:t>Microsoft</a:t>
            </a:r>
            <a:r>
              <a:rPr lang="ru-RU" sz="2400" dirty="0"/>
              <a:t> для платформы .NET.</a:t>
            </a:r>
          </a:p>
          <a:p>
            <a:pPr>
              <a:lnSpc>
                <a:spcPct val="130000"/>
              </a:lnSpc>
            </a:pPr>
            <a:r>
              <a:rPr lang="ru-RU" sz="2400" b="1" dirty="0"/>
              <a:t>Главная задача EF </a:t>
            </a:r>
            <a:r>
              <a:rPr lang="ru-RU" sz="2400" b="1" dirty="0" err="1"/>
              <a:t>Core</a:t>
            </a:r>
            <a:r>
              <a:rPr lang="ru-RU" sz="2400" b="1" dirty="0"/>
              <a:t>: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ru-RU" sz="2400" dirty="0"/>
              <a:t>Позволить разработчику работать с данными как с обычными коллекциями объектов C#, полностью скрыв от него сложность работы с SQL-запросами.</a:t>
            </a:r>
          </a:p>
          <a:p>
            <a:pPr>
              <a:lnSpc>
                <a:spcPct val="130000"/>
              </a:lnSpc>
            </a:pPr>
            <a:r>
              <a:rPr lang="ru-RU" sz="2400" b="1" dirty="0"/>
              <a:t>Основные преимущества:</a:t>
            </a:r>
            <a:endParaRPr lang="ru-RU" sz="2400" dirty="0"/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ru-RU" sz="2400" b="1" dirty="0"/>
              <a:t>Кроссплатформенность:</a:t>
            </a:r>
            <a:r>
              <a:rPr lang="ru-RU" sz="2400" dirty="0"/>
              <a:t> Работает на </a:t>
            </a:r>
            <a:r>
              <a:rPr lang="ru-RU" sz="2400" dirty="0" err="1"/>
              <a:t>Windows</a:t>
            </a:r>
            <a:r>
              <a:rPr lang="ru-RU" sz="2400" dirty="0"/>
              <a:t>, </a:t>
            </a:r>
            <a:r>
              <a:rPr lang="ru-RU" sz="2400" dirty="0" err="1"/>
              <a:t>Linux</a:t>
            </a:r>
            <a:r>
              <a:rPr lang="ru-RU" sz="2400" dirty="0"/>
              <a:t> и </a:t>
            </a:r>
            <a:r>
              <a:rPr lang="ru-RU" sz="2400" dirty="0" err="1"/>
              <a:t>macOS</a:t>
            </a:r>
            <a:r>
              <a:rPr lang="ru-RU" sz="2400" dirty="0"/>
              <a:t>.</a:t>
            </a:r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ru-RU" sz="2400" b="1" dirty="0"/>
              <a:t>Типизация:</a:t>
            </a:r>
            <a:r>
              <a:rPr lang="ru-RU" sz="2400" dirty="0"/>
              <a:t> Ошибки в работе с базой видны еще на этапе написания кода.</a:t>
            </a:r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ru-RU" sz="2400" b="1" dirty="0"/>
              <a:t>Автоматизация:</a:t>
            </a:r>
            <a:r>
              <a:rPr lang="ru-RU" sz="2400" dirty="0"/>
              <a:t> EF </a:t>
            </a:r>
            <a:r>
              <a:rPr lang="ru-RU" sz="2400" dirty="0" err="1"/>
              <a:t>Core</a:t>
            </a:r>
            <a:r>
              <a:rPr lang="ru-RU" sz="2400" dirty="0"/>
              <a:t> сам генерирует SQL-код (SELECT, INSERT, UPDATE, DELETE) за вас.</a:t>
            </a:r>
          </a:p>
          <a:p>
            <a:pPr marL="457200" indent="-457200">
              <a:lnSpc>
                <a:spcPct val="130000"/>
              </a:lnSpc>
              <a:buFont typeface="+mj-lt"/>
              <a:buAutoNum type="arabicPeriod"/>
            </a:pPr>
            <a:r>
              <a:rPr lang="ru-RU" sz="2400" b="1" dirty="0"/>
              <a:t>Поддержка разных СУБД:</a:t>
            </a:r>
            <a:r>
              <a:rPr lang="ru-RU" sz="2400" dirty="0"/>
              <a:t> Один и тот же код может работать с </a:t>
            </a:r>
            <a:r>
              <a:rPr lang="ru-RU" sz="2400" dirty="0" err="1"/>
              <a:t>PostgreSQL</a:t>
            </a:r>
            <a:r>
              <a:rPr lang="ru-RU" sz="2400" dirty="0"/>
              <a:t>, </a:t>
            </a:r>
            <a:r>
              <a:rPr lang="ru-RU" sz="2400" dirty="0" err="1"/>
              <a:t>MySQL</a:t>
            </a:r>
            <a:r>
              <a:rPr lang="ru-RU" sz="2400" dirty="0"/>
              <a:t> или SQL </a:t>
            </a:r>
            <a:r>
              <a:rPr lang="ru-RU" sz="2400" dirty="0" err="1"/>
              <a:t>Server</a:t>
            </a:r>
            <a:r>
              <a:rPr lang="ru-RU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2330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570617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30000"/>
              </a:lnSpc>
            </a:pPr>
            <a:r>
              <a:rPr lang="ru-RU" sz="2400" dirty="0" smtClean="0"/>
              <a:t>Вместо написания</a:t>
            </a:r>
            <a:endParaRPr lang="en-US" sz="2400" dirty="0" smtClean="0"/>
          </a:p>
          <a:p>
            <a:pPr algn="ctr">
              <a:lnSpc>
                <a:spcPct val="130000"/>
              </a:lnSpc>
            </a:pPr>
            <a:r>
              <a:rPr lang="en-US" sz="2400" b="1" dirty="0" smtClean="0"/>
              <a:t>INSERT INTO Users (Name) VALUES ('Ivan')</a:t>
            </a:r>
          </a:p>
          <a:p>
            <a:pPr>
              <a:lnSpc>
                <a:spcPct val="130000"/>
              </a:lnSpc>
            </a:pPr>
            <a:r>
              <a:rPr lang="ru-RU" sz="2400" dirty="0" smtClean="0"/>
              <a:t>мы пишем чистый </a:t>
            </a:r>
            <a:r>
              <a:rPr lang="en-US" sz="2400" dirty="0" smtClean="0"/>
              <a:t>C#.</a:t>
            </a:r>
          </a:p>
          <a:p>
            <a:pPr>
              <a:lnSpc>
                <a:spcPct val="130000"/>
              </a:lnSpc>
            </a:pPr>
            <a:endParaRPr lang="en-US" sz="2400" dirty="0" smtClean="0"/>
          </a:p>
          <a:p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// 1. Создаем объект в памяти</a:t>
            </a:r>
            <a:endParaRPr lang="ru-RU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newUser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267F99"/>
                </a:solidFill>
                <a:latin typeface="Consolas" panose="020B0609020204030204" pitchFamily="49" charset="0"/>
              </a:rPr>
              <a:t>User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{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ru-RU" sz="2400" dirty="0">
                <a:solidFill>
                  <a:srgbClr val="A31515"/>
                </a:solidFill>
                <a:latin typeface="Consolas" panose="020B0609020204030204" pitchFamily="49" charset="0"/>
              </a:rPr>
              <a:t>Иван"</a:t>
            </a:r>
            <a:r>
              <a:rPr lang="ru-RU" sz="2400" dirty="0">
                <a:solidFill>
                  <a:srgbClr val="3B3B3B"/>
                </a:solidFill>
                <a:latin typeface="Consolas" panose="020B0609020204030204" pitchFamily="49" charset="0"/>
              </a:rPr>
              <a:t>, </a:t>
            </a:r>
            <a:r>
              <a:rPr lang="en-US" sz="2400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98658"/>
                </a:solidFill>
                <a:latin typeface="Consolas" panose="020B0609020204030204" pitchFamily="49" charset="0"/>
              </a:rPr>
              <a:t>25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 };</a:t>
            </a: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2.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Добавляем его в "контекст" базы данных</a:t>
            </a:r>
            <a:endParaRPr lang="ru-RU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db</a:t>
            </a:r>
            <a:r>
              <a:rPr lang="en-US" sz="24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Users</a:t>
            </a:r>
            <a:r>
              <a:rPr lang="en-US" sz="24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Add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newUser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/>
            </a:r>
            <a:b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3.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Командуем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EF Core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сохранить изменения</a:t>
            </a:r>
            <a:endParaRPr lang="ru-RU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r>
              <a:rPr lang="en-US" sz="2400" dirty="0" err="1">
                <a:solidFill>
                  <a:srgbClr val="001080"/>
                </a:solidFill>
                <a:latin typeface="Consolas" panose="020B0609020204030204" pitchFamily="49" charset="0"/>
              </a:rPr>
              <a:t>db</a:t>
            </a:r>
            <a:r>
              <a:rPr lang="en-US" sz="2400" dirty="0" err="1">
                <a:solidFill>
                  <a:srgbClr val="3B3B3B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795E26"/>
                </a:solidFill>
                <a:latin typeface="Consolas" panose="020B0609020204030204" pitchFamily="49" charset="0"/>
              </a:rPr>
              <a:t>SaveChanges</a:t>
            </a:r>
            <a:r>
              <a:rPr lang="en-US" sz="2400" dirty="0">
                <a:solidFill>
                  <a:srgbClr val="3B3B3B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МАГИЯ: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EF Core 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сам сформирует </a:t>
            </a:r>
            <a:r>
              <a:rPr lang="en-US" sz="2400" dirty="0">
                <a:solidFill>
                  <a:srgbClr val="008000"/>
                </a:solidFill>
                <a:latin typeface="Consolas" panose="020B0609020204030204" pitchFamily="49" charset="0"/>
              </a:rPr>
              <a:t>SQL-</a:t>
            </a:r>
            <a:r>
              <a:rPr lang="ru-RU" sz="2400" dirty="0">
                <a:solidFill>
                  <a:srgbClr val="008000"/>
                </a:solidFill>
                <a:latin typeface="Consolas" panose="020B0609020204030204" pitchFamily="49" charset="0"/>
              </a:rPr>
              <a:t>запрос и отправит его в СУБД.</a:t>
            </a:r>
            <a:endParaRPr lang="ru-RU" sz="2400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endParaRPr lang="ru-RU" sz="2400" dirty="0">
              <a:solidFill>
                <a:srgbClr val="3B3B3B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823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4524315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b="1" dirty="0"/>
              <a:t>Итог: </a:t>
            </a:r>
            <a:r>
              <a:rPr lang="ru-RU" sz="2400" b="1" dirty="0" smtClean="0"/>
              <a:t>Почему это нужно?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 smtClean="0"/>
              <a:t>Скорость разработки:</a:t>
            </a:r>
            <a:r>
              <a:rPr lang="ru-RU" sz="2400" dirty="0" smtClean="0"/>
              <a:t> Написание логики работы с данными ускоряется в разы.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 smtClean="0"/>
              <a:t>Безопасность</a:t>
            </a:r>
            <a:r>
              <a:rPr lang="ru-RU" sz="2400" b="1" dirty="0"/>
              <a:t>:</a:t>
            </a:r>
            <a:r>
              <a:rPr lang="ru-RU" sz="2400" dirty="0"/>
              <a:t> EF </a:t>
            </a:r>
            <a:r>
              <a:rPr lang="ru-RU" sz="2400" dirty="0" err="1"/>
              <a:t>Core</a:t>
            </a:r>
            <a:r>
              <a:rPr lang="ru-RU" sz="2400" dirty="0"/>
              <a:t> автоматически защищает приложение от самых популярных хакерских атак (SQL-инъекций).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ru-RU" sz="2400" b="1" dirty="0"/>
              <a:t>Гибкость:</a:t>
            </a:r>
            <a:r>
              <a:rPr lang="ru-RU" sz="2400" dirty="0"/>
              <a:t> Если проект решит сменить базу данных (например, с </a:t>
            </a:r>
            <a:r>
              <a:rPr lang="ru-RU" sz="2400" dirty="0" err="1"/>
              <a:t>SQLite</a:t>
            </a:r>
            <a:r>
              <a:rPr lang="ru-RU" sz="2400" dirty="0"/>
              <a:t> на </a:t>
            </a:r>
            <a:r>
              <a:rPr lang="ru-RU" sz="2400" dirty="0" err="1"/>
              <a:t>PostgreSQL</a:t>
            </a:r>
            <a:r>
              <a:rPr lang="ru-RU" sz="2400" dirty="0"/>
              <a:t>), вам практически не придется менять программный код.</a:t>
            </a:r>
          </a:p>
        </p:txBody>
      </p:sp>
    </p:spTree>
    <p:extLst>
      <p:ext uri="{BB962C8B-B14F-4D97-AF65-F5344CB8AC3E}">
        <p14:creationId xmlns:p14="http://schemas.microsoft.com/office/powerpoint/2010/main" val="2406422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Проектирование моделей (Модель БД)</a:t>
            </a:r>
            <a:endParaRPr lang="ru-RU" sz="2800" b="1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" y="654355"/>
            <a:ext cx="12192000" cy="6289222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25000"/>
              </a:lnSpc>
            </a:pPr>
            <a:r>
              <a:rPr lang="ru-RU" sz="2400" dirty="0"/>
              <a:t>В архитектуре приложений выделяют два основных стиля описания сущностей:</a:t>
            </a:r>
          </a:p>
          <a:p>
            <a:pPr>
              <a:lnSpc>
                <a:spcPct val="125000"/>
              </a:lnSpc>
            </a:pPr>
            <a:r>
              <a:rPr lang="ru-RU" sz="2400" b="1" dirty="0"/>
              <a:t>Анемичная модель (</a:t>
            </a:r>
            <a:r>
              <a:rPr lang="ru-RU" sz="2400" b="1" dirty="0" err="1"/>
              <a:t>Anemic</a:t>
            </a:r>
            <a:r>
              <a:rPr lang="ru-RU" sz="2400" b="1" dirty="0"/>
              <a:t> </a:t>
            </a:r>
            <a:r>
              <a:rPr lang="ru-RU" sz="2400" b="1" dirty="0" err="1"/>
              <a:t>Model</a:t>
            </a:r>
            <a:r>
              <a:rPr lang="ru-RU" sz="2400" b="1" dirty="0"/>
              <a:t>):</a:t>
            </a:r>
            <a:endParaRPr lang="ru-RU" sz="2400" dirty="0"/>
          </a:p>
          <a:p>
            <a:pPr lvl="1">
              <a:lnSpc>
                <a:spcPct val="125000"/>
              </a:lnSpc>
            </a:pPr>
            <a:r>
              <a:rPr lang="ru-RU" sz="2400" dirty="0"/>
              <a:t>Содержит только данные (свойства с </a:t>
            </a:r>
            <a:r>
              <a:rPr lang="ru-RU" sz="2400" dirty="0" err="1"/>
              <a:t>get</a:t>
            </a:r>
            <a:r>
              <a:rPr lang="ru-RU" sz="2400" dirty="0"/>
              <a:t>/</a:t>
            </a:r>
            <a:r>
              <a:rPr lang="ru-RU" sz="2400" dirty="0" err="1"/>
              <a:t>set</a:t>
            </a:r>
            <a:r>
              <a:rPr lang="ru-RU" sz="2400" dirty="0"/>
              <a:t>).</a:t>
            </a:r>
          </a:p>
          <a:p>
            <a:pPr lvl="1">
              <a:lnSpc>
                <a:spcPct val="125000"/>
              </a:lnSpc>
            </a:pPr>
            <a:r>
              <a:rPr lang="ru-RU" sz="2400" b="1" dirty="0"/>
              <a:t>Минус:</a:t>
            </a:r>
            <a:r>
              <a:rPr lang="ru-RU" sz="2400" dirty="0"/>
              <a:t> Логика проверки данных разбросана по всему проекту. Объект «глупый» и позволяет записать в себя что угодно.</a:t>
            </a:r>
          </a:p>
          <a:p>
            <a:pPr>
              <a:lnSpc>
                <a:spcPct val="125000"/>
              </a:lnSpc>
            </a:pPr>
            <a:r>
              <a:rPr lang="ru-RU" sz="2400" b="1" dirty="0"/>
              <a:t>Богатая модель (</a:t>
            </a:r>
            <a:r>
              <a:rPr lang="ru-RU" sz="2400" b="1" dirty="0" err="1"/>
              <a:t>Rich</a:t>
            </a:r>
            <a:r>
              <a:rPr lang="ru-RU" sz="2400" b="1" dirty="0"/>
              <a:t> </a:t>
            </a:r>
            <a:r>
              <a:rPr lang="ru-RU" sz="2400" b="1" dirty="0" err="1"/>
              <a:t>Model</a:t>
            </a:r>
            <a:r>
              <a:rPr lang="ru-RU" sz="2400" b="1" dirty="0"/>
              <a:t>):</a:t>
            </a:r>
            <a:endParaRPr lang="ru-RU" sz="2400" dirty="0"/>
          </a:p>
          <a:p>
            <a:pPr lvl="1">
              <a:lnSpc>
                <a:spcPct val="125000"/>
              </a:lnSpc>
            </a:pPr>
            <a:r>
              <a:rPr lang="ru-RU" sz="2400" dirty="0"/>
              <a:t>Содержит и данные, и логику работы с ними (</a:t>
            </a:r>
            <a:r>
              <a:rPr lang="ru-RU" sz="2400" dirty="0" err="1"/>
              <a:t>валидацию</a:t>
            </a:r>
            <a:r>
              <a:rPr lang="ru-RU" sz="2400" dirty="0"/>
              <a:t>, бизнес-правила).</a:t>
            </a:r>
          </a:p>
          <a:p>
            <a:pPr lvl="1">
              <a:lnSpc>
                <a:spcPct val="125000"/>
              </a:lnSpc>
            </a:pPr>
            <a:r>
              <a:rPr lang="ru-RU" sz="2400" b="1" dirty="0"/>
              <a:t>Плюс:</a:t>
            </a:r>
            <a:r>
              <a:rPr lang="ru-RU" sz="2400" dirty="0"/>
              <a:t> Объект сам защищает свою целостность. Вы не сможете создать «сломанный» объект, так как проверки зашиты внутри него.</a:t>
            </a:r>
          </a:p>
          <a:p>
            <a:pPr>
              <a:lnSpc>
                <a:spcPct val="125000"/>
              </a:lnSpc>
            </a:pPr>
            <a:r>
              <a:rPr lang="ru-RU" sz="2400" b="1" dirty="0"/>
              <a:t>Рекомендация:</a:t>
            </a:r>
            <a:r>
              <a:rPr lang="ru-RU" sz="2400" dirty="0"/>
              <a:t> В доменном слое (ядро программы) принято использовать </a:t>
            </a:r>
            <a:r>
              <a:rPr lang="ru-RU" sz="2400" b="1" dirty="0" err="1"/>
              <a:t>Rich</a:t>
            </a:r>
            <a:r>
              <a:rPr lang="ru-RU" sz="2400" dirty="0"/>
              <a:t> модели.</a:t>
            </a:r>
          </a:p>
        </p:txBody>
      </p:sp>
    </p:spTree>
    <p:extLst>
      <p:ext uri="{BB962C8B-B14F-4D97-AF65-F5344CB8AC3E}">
        <p14:creationId xmlns:p14="http://schemas.microsoft.com/office/powerpoint/2010/main" val="35047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86341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25000"/>
              </a:lnSpc>
            </a:pPr>
            <a:r>
              <a:rPr lang="ru-RU" sz="2400" dirty="0"/>
              <a:t>Пример Богатой модели (</a:t>
            </a:r>
            <a:r>
              <a:rPr lang="en-US" sz="2400" dirty="0"/>
              <a:t>Rich</a:t>
            </a:r>
            <a:r>
              <a:rPr lang="en-US" sz="2400" dirty="0" smtClean="0"/>
              <a:t>)</a:t>
            </a:r>
            <a:r>
              <a:rPr lang="ru-RU" sz="2400" dirty="0" smtClean="0"/>
              <a:t>. </a:t>
            </a:r>
            <a:r>
              <a:rPr lang="ru-RU" sz="2400" i="1" dirty="0"/>
              <a:t>Объект сам проверяет входные данные еще до того, как они попадут в базу.</a:t>
            </a:r>
            <a:endParaRPr lang="ru-RU" sz="2400" dirty="0" smtClean="0"/>
          </a:p>
          <a:p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Note</a:t>
            </a:r>
            <a:endParaRPr lang="en-US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const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MAX_TITLE_LENGTH = 256;</a:t>
            </a:r>
          </a:p>
          <a:p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Guid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 {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Title {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ru-RU" sz="20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В конструкторе проверяем бизнес-правило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Note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Guid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title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{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20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20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</a:t>
            </a:r>
            <a:r>
              <a:rPr lang="en-US" sz="2000" dirty="0" err="1">
                <a:solidFill>
                  <a:srgbClr val="74531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IsNullOrWhiteSpace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title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</a:t>
            </a:r>
            <a:endParaRPr lang="ru-RU" sz="2000" dirty="0" smtClean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ru-RU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|| </a:t>
            </a:r>
            <a:r>
              <a:rPr lang="en-US" sz="2000" dirty="0" err="1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title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.Length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&gt; MAX_TITLE_LENGTH)</a:t>
            </a: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2000" dirty="0">
                <a:solidFill>
                  <a:srgbClr val="8F08C4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throw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ArgumentException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20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Некорректный заголовок!"</a:t>
            </a:r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Id = </a:t>
            </a:r>
            <a:r>
              <a:rPr lang="en-US" sz="20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Title = </a:t>
            </a:r>
            <a:r>
              <a:rPr lang="en-US" sz="2000" dirty="0">
                <a:solidFill>
                  <a:srgbClr val="1F377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title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}</a:t>
            </a: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804560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5015668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dirty="0"/>
              <a:t>Чтобы </a:t>
            </a:r>
            <a:r>
              <a:rPr lang="ru-RU" sz="2400" dirty="0" err="1"/>
              <a:t>Entity</a:t>
            </a:r>
            <a:r>
              <a:rPr lang="ru-RU" sz="2400" dirty="0"/>
              <a:t> </a:t>
            </a:r>
            <a:r>
              <a:rPr lang="ru-RU" sz="2400" dirty="0" err="1"/>
              <a:t>Framework</a:t>
            </a:r>
            <a:r>
              <a:rPr lang="ru-RU" sz="2400" dirty="0"/>
              <a:t> понял, как превратить C#-класс в таблицу БД, мы используем </a:t>
            </a:r>
            <a:r>
              <a:rPr lang="ru-RU" sz="2400" b="1" dirty="0"/>
              <a:t>атрибуты</a:t>
            </a:r>
            <a:r>
              <a:rPr lang="ru-RU" sz="2400" dirty="0"/>
              <a:t> (метаданные).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Основные атрибуты (</a:t>
            </a:r>
            <a:r>
              <a:rPr lang="ru-RU" sz="2400" b="1" dirty="0" err="1"/>
              <a:t>System.ComponentModel.DataAnnotations</a:t>
            </a:r>
            <a:r>
              <a:rPr lang="ru-RU" sz="2400" b="1" dirty="0"/>
              <a:t>):</a:t>
            </a:r>
            <a:endParaRPr lang="ru-RU" sz="2400" dirty="0"/>
          </a:p>
          <a:p>
            <a:pPr>
              <a:lnSpc>
                <a:spcPct val="150000"/>
              </a:lnSpc>
            </a:pPr>
            <a:r>
              <a:rPr lang="ru-RU" sz="2400" b="1" dirty="0"/>
              <a:t>[</a:t>
            </a:r>
            <a:r>
              <a:rPr lang="ru-RU" sz="2400" b="1" dirty="0" err="1"/>
              <a:t>Key</a:t>
            </a:r>
            <a:r>
              <a:rPr lang="ru-RU" sz="2400" b="1" dirty="0"/>
              <a:t>]</a:t>
            </a:r>
            <a:r>
              <a:rPr lang="ru-RU" sz="2400" dirty="0"/>
              <a:t> — помечает свойство как первичный ключ (</a:t>
            </a:r>
            <a:r>
              <a:rPr lang="ru-RU" sz="2400" dirty="0" err="1"/>
              <a:t>Primary</a:t>
            </a:r>
            <a:r>
              <a:rPr lang="ru-RU" sz="2400" dirty="0"/>
              <a:t> </a:t>
            </a:r>
            <a:r>
              <a:rPr lang="ru-RU" sz="2400" dirty="0" err="1"/>
              <a:t>Key</a:t>
            </a:r>
            <a:r>
              <a:rPr lang="ru-RU" sz="2400" dirty="0"/>
              <a:t>).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[</a:t>
            </a:r>
            <a:r>
              <a:rPr lang="ru-RU" sz="2400" b="1" dirty="0" err="1"/>
              <a:t>Required</a:t>
            </a:r>
            <a:r>
              <a:rPr lang="ru-RU" sz="2400" b="1" dirty="0"/>
              <a:t>]</a:t>
            </a:r>
            <a:r>
              <a:rPr lang="ru-RU" sz="2400" dirty="0"/>
              <a:t> — поле не может быть пустым (NOT NULL в базе).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[</a:t>
            </a:r>
            <a:r>
              <a:rPr lang="ru-RU" sz="2400" b="1" dirty="0" err="1"/>
              <a:t>MaxLength</a:t>
            </a:r>
            <a:r>
              <a:rPr lang="ru-RU" sz="2400" b="1" dirty="0"/>
              <a:t>(N)]</a:t>
            </a:r>
            <a:r>
              <a:rPr lang="ru-RU" sz="2400" dirty="0"/>
              <a:t> — ограничивает длину строки в базе данных.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[</a:t>
            </a:r>
            <a:r>
              <a:rPr lang="ru-RU" sz="2400" b="1" dirty="0" err="1"/>
              <a:t>MinLength</a:t>
            </a:r>
            <a:r>
              <a:rPr lang="ru-RU" sz="2400" b="1" dirty="0"/>
              <a:t>(N)]</a:t>
            </a:r>
            <a:r>
              <a:rPr lang="ru-RU" sz="2400" dirty="0"/>
              <a:t> — </a:t>
            </a:r>
            <a:r>
              <a:rPr lang="ru-RU" sz="2400" dirty="0" err="1"/>
              <a:t>валидация</a:t>
            </a:r>
            <a:r>
              <a:rPr lang="ru-RU" sz="2400" dirty="0"/>
              <a:t> минимальной длины (обычно для кода).</a:t>
            </a:r>
          </a:p>
          <a:p>
            <a:pPr>
              <a:lnSpc>
                <a:spcPct val="150000"/>
              </a:lnSpc>
            </a:pPr>
            <a:r>
              <a:rPr lang="ru-RU" sz="2400" b="1" dirty="0"/>
              <a:t>[</a:t>
            </a:r>
            <a:r>
              <a:rPr lang="ru-RU" sz="2400" b="1" dirty="0" err="1"/>
              <a:t>Table</a:t>
            </a:r>
            <a:r>
              <a:rPr lang="ru-RU" sz="2400" b="1" dirty="0"/>
              <a:t>("</a:t>
            </a:r>
            <a:r>
              <a:rPr lang="ru-RU" sz="2400" b="1" dirty="0" err="1"/>
              <a:t>Name</a:t>
            </a:r>
            <a:r>
              <a:rPr lang="ru-RU" sz="2400" b="1" dirty="0"/>
              <a:t>")]</a:t>
            </a:r>
            <a:r>
              <a:rPr lang="ru-RU" sz="2400" dirty="0"/>
              <a:t> — позволяет задать имя таблицы вручную (если оно отличается от имени класса).</a:t>
            </a:r>
          </a:p>
        </p:txBody>
      </p:sp>
    </p:spTree>
    <p:extLst>
      <p:ext uri="{BB962C8B-B14F-4D97-AF65-F5344CB8AC3E}">
        <p14:creationId xmlns:p14="http://schemas.microsoft.com/office/powerpoint/2010/main" val="3906549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400" i="1" dirty="0"/>
              <a:t>Используем атрибуты для настройки схемы базы данных</a:t>
            </a:r>
            <a:r>
              <a:rPr lang="ru-RU" sz="2400" i="1" dirty="0" smtClean="0"/>
              <a:t>.</a:t>
            </a:r>
          </a:p>
          <a:p>
            <a:pPr>
              <a:lnSpc>
                <a:spcPct val="150000"/>
              </a:lnSpc>
            </a:pPr>
            <a:endParaRPr lang="ru-RU" sz="2400" i="1" dirty="0" smtClean="0"/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System.ComponentModel.DataAnnotations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System.ComponentModel.DataAnnotations.Schema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Table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2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"Customers"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)]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Имя таблицы в БД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Customer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Key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Первичный ключ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Id {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</a:t>
            </a:r>
            <a:r>
              <a:rPr lang="en-US" sz="2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Required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</a:t>
            </a:r>
            <a:r>
              <a:rPr lang="en-US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Обязательно для заполнения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[</a:t>
            </a:r>
            <a:r>
              <a:rPr lang="ru-RU" sz="2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MaxLength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(200)] 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Ограничение в БД: </a:t>
            </a:r>
            <a:r>
              <a:rPr lang="ru-RU" sz="2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varchar</a:t>
            </a:r>
            <a:r>
              <a:rPr lang="ru-RU" sz="2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(200)</a:t>
            </a:r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Name {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 =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2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.Empty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ru-RU" sz="2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Age {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023604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8" descr="Светлый диагональный 2"/>
          <p:cNvSpPr>
            <a:spLocks noChangeArrowheads="1"/>
          </p:cNvSpPr>
          <p:nvPr/>
        </p:nvSpPr>
        <p:spPr bwMode="auto">
          <a:xfrm>
            <a:off x="0" y="-1"/>
            <a:ext cx="12192000" cy="654357"/>
          </a:xfrm>
          <a:prstGeom prst="rect">
            <a:avLst/>
          </a:prstGeom>
          <a:pattFill prst="ltUpDiag">
            <a:fgClr>
              <a:schemeClr val="accent1">
                <a:lumMod val="40000"/>
                <a:lumOff val="60000"/>
              </a:schemeClr>
            </a:fgClr>
            <a:bgClr>
              <a:srgbClr val="FFFFFF"/>
            </a:bgClr>
          </a:pattFill>
          <a:ln w="158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vert="horz" wrap="square" lIns="18000" tIns="18000" rIns="18000" bIns="1800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ru-RU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Контекст данных (</a:t>
            </a:r>
            <a:r>
              <a:rPr lang="en-US" sz="2800" b="1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DbContext</a:t>
            </a:r>
            <a:r>
              <a:rPr lang="en-US" sz="2800" b="1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1" y="654355"/>
            <a:ext cx="12192000" cy="976101"/>
          </a:xfrm>
          <a:prstGeom prst="rect">
            <a:avLst/>
          </a:prstGeom>
        </p:spPr>
        <p:txBody>
          <a:bodyPr wrap="square" lIns="360000" rIns="360000">
            <a:spAutoFit/>
          </a:bodyPr>
          <a:lstStyle/>
          <a:p>
            <a:pPr>
              <a:lnSpc>
                <a:spcPct val="125000"/>
              </a:lnSpc>
            </a:pPr>
            <a:r>
              <a:rPr lang="ru-RU" sz="2400" dirty="0"/>
              <a:t>В архитектуре приложений выделяют два основных стиля описания сущностей</a:t>
            </a:r>
            <a:r>
              <a:rPr lang="ru-RU" sz="2400" dirty="0" smtClean="0"/>
              <a:t>: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952558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Другая 1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16258</TotalTime>
  <Words>366</Words>
  <Application>Microsoft Office PowerPoint</Application>
  <PresentationFormat>Широкоэкранный</PresentationFormat>
  <Paragraphs>112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Bookman Old Style</vt:lpstr>
      <vt:lpstr>Calibri</vt:lpstr>
      <vt:lpstr>Cascadia Mono</vt:lpstr>
      <vt:lpstr>Consolas</vt:lpstr>
      <vt:lpstr>Times New Roman</vt:lpstr>
      <vt:lpstr>Тема Office</vt:lpstr>
      <vt:lpstr>6 семестр Лекция 6.   Содержание лекции: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ПРОГРАММЫ ДЛЯ РАСЧЁТА ПРОДОЛЬНО-ПОПЕРЕЧНЫХ КОЛЕБАНИЙ СТВОЛА АРТИЛЛЕРИЙСКОГО ОРУДИЯ</dc:title>
  <dc:creator>vsufiy</dc:creator>
  <cp:lastModifiedBy>Daniil Kljukin</cp:lastModifiedBy>
  <cp:revision>1004</cp:revision>
  <dcterms:modified xsi:type="dcterms:W3CDTF">2026-02-16T18:18:34Z</dcterms:modified>
</cp:coreProperties>
</file>