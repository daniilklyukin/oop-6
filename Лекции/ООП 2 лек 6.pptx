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2"/>
  </p:notesMasterIdLst>
  <p:sldIdLst>
    <p:sldId id="273" r:id="rId2"/>
    <p:sldId id="1148" r:id="rId3"/>
    <p:sldId id="1149" r:id="rId4"/>
    <p:sldId id="1150" r:id="rId5"/>
    <p:sldId id="1151" r:id="rId6"/>
    <p:sldId id="1152" r:id="rId7"/>
    <p:sldId id="1153" r:id="rId8"/>
    <p:sldId id="1154" r:id="rId9"/>
    <p:sldId id="1155" r:id="rId10"/>
    <p:sldId id="1156" r:id="rId11"/>
    <p:sldId id="1158" r:id="rId12"/>
    <p:sldId id="1157" r:id="rId13"/>
    <p:sldId id="1159" r:id="rId14"/>
    <p:sldId id="1160" r:id="rId15"/>
    <p:sldId id="1161" r:id="rId16"/>
    <p:sldId id="1162" r:id="rId17"/>
    <p:sldId id="1163" r:id="rId18"/>
    <p:sldId id="1171" r:id="rId19"/>
    <p:sldId id="1172" r:id="rId20"/>
    <p:sldId id="1173" r:id="rId21"/>
    <p:sldId id="1174" r:id="rId22"/>
    <p:sldId id="1175" r:id="rId23"/>
    <p:sldId id="1176" r:id="rId24"/>
    <p:sldId id="1177" r:id="rId25"/>
    <p:sldId id="1178" r:id="rId26"/>
    <p:sldId id="1179" r:id="rId27"/>
    <p:sldId id="1180" r:id="rId28"/>
    <p:sldId id="1181" r:id="rId29"/>
    <p:sldId id="1182" r:id="rId30"/>
    <p:sldId id="118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82509" autoAdjust="0"/>
  </p:normalViewPr>
  <p:slideViewPr>
    <p:cSldViewPr snapToGrid="0">
      <p:cViewPr varScale="1">
        <p:scale>
          <a:sx n="78" d="100"/>
          <a:sy n="78" d="100"/>
        </p:scale>
        <p:origin x="96" y="1278"/>
      </p:cViewPr>
      <p:guideLst>
        <p:guide orient="horz" pos="2160"/>
        <p:guide pos="386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5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0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755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494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535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492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915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290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9071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4099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982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589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8044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315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40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368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685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158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5562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7228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9080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914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3949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320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3581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457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6935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7311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8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641032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 smtClean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210690"/>
            <a:ext cx="10670534" cy="1736564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6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6. 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</a:t>
            </a:r>
            <a:r>
              <a:rPr lang="ru-RU" sz="1800" b="1" dirty="0" smtClean="0">
                <a:solidFill>
                  <a:srgbClr val="292929"/>
                </a:solidFill>
                <a:latin typeface="Bookman Old Style" pitchFamily="18" charset="0"/>
              </a:rPr>
              <a:t>ст. преподаватель каф</a:t>
            </a:r>
            <a:r>
              <a:rPr lang="ru-RU" sz="1800" b="1" dirty="0">
                <a:solidFill>
                  <a:srgbClr val="292929"/>
                </a:solidFill>
                <a:latin typeface="Bookman Old Style" pitchFamily="18" charset="0"/>
              </a:rPr>
              <a:t>. </a:t>
            </a:r>
            <a:r>
              <a:rPr lang="ru-RU" sz="1800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sz="1800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3947254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Понятие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ORM 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Entity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Framework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Проектирование моделей (Модель БД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Контекст данных (</a:t>
            </a:r>
            <a:r>
              <a:rPr lang="en-US" sz="2800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DbContext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Миграции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CRUD: Работа с данными через LINQ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с базой данных,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Entity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Framework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Прежде чем данные попадут в нашу программу, они должны где-то надежно храниться.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База данных (БД):</a:t>
            </a:r>
            <a:r>
              <a:rPr lang="ru-RU" sz="2400" dirty="0"/>
              <a:t> Упорядоченное хранилище </a:t>
            </a:r>
            <a:r>
              <a:rPr lang="ru-RU" sz="2400" dirty="0" smtClean="0"/>
              <a:t>информации.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СУБД (Система управления базами данных):</a:t>
            </a:r>
            <a:r>
              <a:rPr lang="ru-RU" sz="2400" dirty="0"/>
              <a:t> Специальное ПО для создания и манипулирования этими данными (например, </a:t>
            </a:r>
            <a:r>
              <a:rPr lang="ru-RU" sz="2400" b="1" dirty="0" err="1"/>
              <a:t>PostgreSQL</a:t>
            </a:r>
            <a:r>
              <a:rPr lang="ru-RU" sz="2400" dirty="0"/>
              <a:t>, </a:t>
            </a:r>
            <a:r>
              <a:rPr lang="ru-RU" sz="2400" b="1" dirty="0"/>
              <a:t>MS SQL </a:t>
            </a:r>
            <a:r>
              <a:rPr lang="ru-RU" sz="2400" b="1" dirty="0" err="1"/>
              <a:t>Server</a:t>
            </a:r>
            <a:r>
              <a:rPr lang="ru-RU" sz="2400" dirty="0"/>
              <a:t>, </a:t>
            </a:r>
            <a:r>
              <a:rPr lang="ru-RU" sz="2400" b="1" dirty="0" err="1"/>
              <a:t>SQLite</a:t>
            </a:r>
            <a:r>
              <a:rPr lang="ru-RU" sz="2400" dirty="0"/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Проблема:</a:t>
            </a:r>
            <a:r>
              <a:rPr lang="ru-RU" sz="2400" dirty="0"/>
              <a:t> Приложения на C# и базы данных «говорят» на разных языках.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В C#:</a:t>
            </a:r>
            <a:r>
              <a:rPr lang="ru-RU" sz="2400" dirty="0"/>
              <a:t> мы работаем с объектами, классами и связями между ними.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В БД:</a:t>
            </a:r>
            <a:r>
              <a:rPr lang="ru-RU" sz="2400" dirty="0"/>
              <a:t> всё хранится в виде плоских таблиц, строк и колонок.</a:t>
            </a:r>
          </a:p>
        </p:txBody>
      </p:sp>
    </p:spTree>
    <p:extLst>
      <p:ext uri="{BB962C8B-B14F-4D97-AF65-F5344CB8AC3E}">
        <p14:creationId xmlns:p14="http://schemas.microsoft.com/office/powerpoint/2010/main" val="1926717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не писать вручную запросы на языке SQL внутри C#-кода, программисты используют технологию </a:t>
            </a:r>
            <a:r>
              <a:rPr lang="ru-RU" sz="2400" b="1" dirty="0"/>
              <a:t>ORM</a:t>
            </a:r>
            <a:r>
              <a:rPr lang="ru-RU" sz="2400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ORM (</a:t>
            </a:r>
            <a:r>
              <a:rPr lang="ru-RU" sz="2400" b="1" dirty="0" err="1"/>
              <a:t>Object-Relational</a:t>
            </a:r>
            <a:r>
              <a:rPr lang="ru-RU" sz="2400" b="1" dirty="0"/>
              <a:t> </a:t>
            </a:r>
            <a:r>
              <a:rPr lang="ru-RU" sz="2400" b="1" dirty="0" err="1"/>
              <a:t>Mapping</a:t>
            </a:r>
            <a:r>
              <a:rPr lang="ru-RU" sz="2400" b="1" dirty="0"/>
              <a:t>)</a:t>
            </a:r>
            <a:r>
              <a:rPr lang="ru-RU" sz="2400" dirty="0"/>
              <a:t> — технология «объектно-реляционного отображения</a:t>
            </a:r>
            <a:r>
              <a:rPr lang="ru-RU" sz="2400" dirty="0" smtClean="0"/>
              <a:t>».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Суть:</a:t>
            </a:r>
            <a:r>
              <a:rPr lang="ru-RU" sz="2400" dirty="0"/>
              <a:t> Она автоматически связывает таблицы из базы данных с классами в вашем коде.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Как это работает:</a:t>
            </a:r>
            <a:endParaRPr lang="ru-RU" sz="2400" dirty="0"/>
          </a:p>
          <a:p>
            <a:pPr lvl="1">
              <a:lnSpc>
                <a:spcPct val="150000"/>
              </a:lnSpc>
            </a:pPr>
            <a:r>
              <a:rPr lang="ru-RU" sz="2400" dirty="0"/>
              <a:t>Таблица </a:t>
            </a:r>
            <a:r>
              <a:rPr lang="ru-RU" sz="2400" dirty="0" err="1"/>
              <a:t>Users</a:t>
            </a:r>
            <a:r>
              <a:rPr lang="ru-RU" sz="2400" dirty="0"/>
              <a:t> в БД &lt;— отображается на —&gt; класс </a:t>
            </a:r>
            <a:r>
              <a:rPr lang="ru-RU" sz="2400" dirty="0" err="1"/>
              <a:t>User</a:t>
            </a:r>
            <a:r>
              <a:rPr lang="ru-RU" sz="2400" dirty="0"/>
              <a:t> в C#.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Строка в таблице &lt;— отображается на —&gt; экземпляр (объект) класса.</a:t>
            </a:r>
          </a:p>
          <a:p>
            <a:pPr lvl="1">
              <a:lnSpc>
                <a:spcPct val="150000"/>
              </a:lnSpc>
            </a:pPr>
            <a:r>
              <a:rPr lang="ru-RU" sz="2400" dirty="0"/>
              <a:t>Колонка &lt;— отображается на —&gt; свойство класса.</a:t>
            </a:r>
          </a:p>
        </p:txBody>
      </p:sp>
    </p:spTree>
    <p:extLst>
      <p:ext uri="{BB962C8B-B14F-4D97-AF65-F5344CB8AC3E}">
        <p14:creationId xmlns:p14="http://schemas.microsoft.com/office/powerpoint/2010/main" val="1073089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6999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400" b="1" dirty="0" smtClean="0"/>
              <a:t>Entity Framework (EF)</a:t>
            </a:r>
            <a:r>
              <a:rPr lang="ru-RU" sz="2400" b="1" dirty="0" smtClean="0"/>
              <a:t> </a:t>
            </a:r>
            <a:r>
              <a:rPr lang="ru-RU" sz="2400" b="1" dirty="0" err="1"/>
              <a:t>Core</a:t>
            </a:r>
            <a:r>
              <a:rPr lang="ru-RU" sz="2400" dirty="0"/>
              <a:t> — это официальный, современный и самый популярный ORM-</a:t>
            </a:r>
            <a:r>
              <a:rPr lang="ru-RU" sz="2400" dirty="0" err="1"/>
              <a:t>фреймворк</a:t>
            </a:r>
            <a:r>
              <a:rPr lang="ru-RU" sz="2400" dirty="0"/>
              <a:t> от </a:t>
            </a:r>
            <a:r>
              <a:rPr lang="ru-RU" sz="2400" dirty="0" err="1"/>
              <a:t>Microsoft</a:t>
            </a:r>
            <a:r>
              <a:rPr lang="ru-RU" sz="2400" dirty="0"/>
              <a:t> для платформы .NET.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Главная задача EF </a:t>
            </a:r>
            <a:r>
              <a:rPr lang="ru-RU" sz="2400" b="1" dirty="0" err="1"/>
              <a:t>Core</a:t>
            </a:r>
            <a:r>
              <a:rPr lang="ru-RU" sz="2400" b="1" dirty="0"/>
              <a:t>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Позволить разработчику работать с данными как с обычными коллекциями объектов C#, полностью скрыв от него сложность работы с SQL-запросами.</a:t>
            </a:r>
          </a:p>
          <a:p>
            <a:pPr>
              <a:lnSpc>
                <a:spcPct val="130000"/>
              </a:lnSpc>
            </a:pPr>
            <a:r>
              <a:rPr lang="ru-RU" sz="2400" b="1" dirty="0"/>
              <a:t>Основные преимущества:</a:t>
            </a:r>
            <a:endParaRPr lang="ru-RU" sz="2400" dirty="0"/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ru-RU" sz="2400" b="1" dirty="0"/>
              <a:t>Кроссплатформенность:</a:t>
            </a:r>
            <a:r>
              <a:rPr lang="ru-RU" sz="2400" dirty="0"/>
              <a:t> Работает на </a:t>
            </a:r>
            <a:r>
              <a:rPr lang="ru-RU" sz="2400" dirty="0" err="1"/>
              <a:t>Windows</a:t>
            </a:r>
            <a:r>
              <a:rPr lang="ru-RU" sz="2400" dirty="0"/>
              <a:t>, </a:t>
            </a:r>
            <a:r>
              <a:rPr lang="ru-RU" sz="2400" dirty="0" err="1"/>
              <a:t>Linux</a:t>
            </a:r>
            <a:r>
              <a:rPr lang="ru-RU" sz="2400" dirty="0"/>
              <a:t> и </a:t>
            </a:r>
            <a:r>
              <a:rPr lang="ru-RU" sz="2400" dirty="0" err="1"/>
              <a:t>macOS</a:t>
            </a:r>
            <a:r>
              <a:rPr lang="ru-RU" sz="2400" dirty="0"/>
              <a:t>.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ru-RU" sz="2400" b="1" dirty="0"/>
              <a:t>Типизация:</a:t>
            </a:r>
            <a:r>
              <a:rPr lang="ru-RU" sz="2400" dirty="0"/>
              <a:t> Ошибки в работе с базой видны еще на этапе написания кода.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ru-RU" sz="2400" b="1" dirty="0"/>
              <a:t>Автоматизация:</a:t>
            </a:r>
            <a:r>
              <a:rPr lang="ru-RU" sz="2400" dirty="0"/>
              <a:t> EF </a:t>
            </a:r>
            <a:r>
              <a:rPr lang="ru-RU" sz="2400" dirty="0" err="1"/>
              <a:t>Core</a:t>
            </a:r>
            <a:r>
              <a:rPr lang="ru-RU" sz="2400" dirty="0"/>
              <a:t> сам генерирует SQL-код (SELECT, INSERT, UPDATE, DELETE) за вас.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ru-RU" sz="2400" b="1" dirty="0"/>
              <a:t>Поддержка разных СУБД:</a:t>
            </a:r>
            <a:r>
              <a:rPr lang="ru-RU" sz="2400" dirty="0"/>
              <a:t> Один и тот же код может работать с </a:t>
            </a:r>
            <a:r>
              <a:rPr lang="ru-RU" sz="2400" dirty="0" err="1"/>
              <a:t>PostgreSQL</a:t>
            </a:r>
            <a:r>
              <a:rPr lang="ru-RU" sz="2400" dirty="0"/>
              <a:t>, </a:t>
            </a:r>
            <a:r>
              <a:rPr lang="ru-RU" sz="2400" dirty="0" err="1"/>
              <a:t>MySQL</a:t>
            </a:r>
            <a:r>
              <a:rPr lang="ru-RU" sz="2400" dirty="0"/>
              <a:t> или SQL </a:t>
            </a:r>
            <a:r>
              <a:rPr lang="ru-RU" sz="2400" dirty="0" err="1"/>
              <a:t>Server</a:t>
            </a:r>
            <a:r>
              <a:rPr lang="ru-RU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2330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ru-RU" sz="2400" b="1" dirty="0" smtClean="0"/>
              <a:t>Что хотим?</a:t>
            </a:r>
            <a:endParaRPr lang="en-US" sz="2400" b="1" dirty="0" smtClean="0"/>
          </a:p>
          <a:p>
            <a:pPr>
              <a:lnSpc>
                <a:spcPct val="130000"/>
              </a:lnSpc>
            </a:pPr>
            <a:r>
              <a:rPr lang="ru-RU" sz="2400" dirty="0" smtClean="0"/>
              <a:t>Вместо </a:t>
            </a:r>
            <a:r>
              <a:rPr lang="ru-RU" sz="2400" dirty="0" smtClean="0"/>
              <a:t>написания</a:t>
            </a:r>
            <a:endParaRPr lang="en-US" sz="2400" dirty="0" smtClean="0"/>
          </a:p>
          <a:p>
            <a:pPr algn="ctr">
              <a:lnSpc>
                <a:spcPct val="130000"/>
              </a:lnSpc>
            </a:pPr>
            <a:r>
              <a:rPr lang="en-US" sz="2400" b="1" dirty="0" smtClean="0"/>
              <a:t>INSERT INTO Users (Name) VALUES ('Ivan')</a:t>
            </a:r>
          </a:p>
          <a:p>
            <a:pPr>
              <a:lnSpc>
                <a:spcPct val="130000"/>
              </a:lnSpc>
            </a:pPr>
            <a:r>
              <a:rPr lang="ru-RU" sz="2400" dirty="0" smtClean="0"/>
              <a:t>мы пишем чистый </a:t>
            </a:r>
            <a:r>
              <a:rPr lang="en-US" sz="2400" dirty="0" smtClean="0"/>
              <a:t>C#.</a:t>
            </a:r>
          </a:p>
          <a:p>
            <a:pPr>
              <a:lnSpc>
                <a:spcPct val="130000"/>
              </a:lnSpc>
            </a:pPr>
            <a:endParaRPr lang="en-US" sz="2400" dirty="0" smtClean="0"/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1. Создаем объект в памяти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newUser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User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Иван"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25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2.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Добавляем его в "контекст" базы данных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db</a:t>
            </a:r>
            <a:r>
              <a:rPr lang="en-US" sz="24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Users</a:t>
            </a:r>
            <a:r>
              <a:rPr lang="en-US" sz="24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Add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newUser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3.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Командуем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EF Core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сохранить изменения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db</a:t>
            </a:r>
            <a:r>
              <a:rPr lang="en-US" sz="24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SaveChanges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МАГИЯ: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EF Core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сам сформирует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SQL-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запрос и отправит его в СУБД.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4823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Итог: </a:t>
            </a:r>
            <a:r>
              <a:rPr lang="ru-RU" sz="2400" b="1" dirty="0" smtClean="0"/>
              <a:t>Почему это нужно?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smtClean="0"/>
              <a:t>Скорость разработки:</a:t>
            </a:r>
            <a:r>
              <a:rPr lang="ru-RU" sz="2400" dirty="0" smtClean="0"/>
              <a:t> Написание логики работы с данными ускоряется в разы.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smtClean="0"/>
              <a:t>Безопасность</a:t>
            </a:r>
            <a:r>
              <a:rPr lang="ru-RU" sz="2400" b="1" dirty="0"/>
              <a:t>:</a:t>
            </a:r>
            <a:r>
              <a:rPr lang="ru-RU" sz="2400" dirty="0"/>
              <a:t> EF </a:t>
            </a:r>
            <a:r>
              <a:rPr lang="ru-RU" sz="2400" dirty="0" err="1"/>
              <a:t>Core</a:t>
            </a:r>
            <a:r>
              <a:rPr lang="ru-RU" sz="2400" dirty="0"/>
              <a:t> автоматически защищает приложение от самых популярных хакерских атак (SQL-инъекций).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Гибкость:</a:t>
            </a:r>
            <a:r>
              <a:rPr lang="ru-RU" sz="2400" dirty="0"/>
              <a:t> Если проект решит сменить базу данных (например, с </a:t>
            </a:r>
            <a:r>
              <a:rPr lang="ru-RU" sz="2400" dirty="0" err="1"/>
              <a:t>SQLite</a:t>
            </a:r>
            <a:r>
              <a:rPr lang="ru-RU" sz="2400" dirty="0"/>
              <a:t> на </a:t>
            </a:r>
            <a:r>
              <a:rPr lang="ru-RU" sz="2400" dirty="0" err="1"/>
              <a:t>PostgreSQL</a:t>
            </a:r>
            <a:r>
              <a:rPr lang="ru-RU" sz="2400" dirty="0"/>
              <a:t>), вам практически не придется менять программный код.</a:t>
            </a:r>
          </a:p>
        </p:txBody>
      </p:sp>
    </p:spTree>
    <p:extLst>
      <p:ext uri="{BB962C8B-B14F-4D97-AF65-F5344CB8AC3E}">
        <p14:creationId xmlns:p14="http://schemas.microsoft.com/office/powerpoint/2010/main" val="2406422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Проектирование моделей (Модель БД)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62892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dirty="0"/>
              <a:t>В архитектуре приложений выделяют два основных стиля описания сущностей: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Анемичная модель (</a:t>
            </a:r>
            <a:r>
              <a:rPr lang="ru-RU" sz="2400" b="1" dirty="0" err="1"/>
              <a:t>Anemic</a:t>
            </a:r>
            <a:r>
              <a:rPr lang="ru-RU" sz="2400" b="1" dirty="0"/>
              <a:t> </a:t>
            </a:r>
            <a:r>
              <a:rPr lang="ru-RU" sz="2400" b="1" dirty="0" err="1"/>
              <a:t>Model</a:t>
            </a:r>
            <a:r>
              <a:rPr lang="ru-RU" sz="2400" b="1" dirty="0"/>
              <a:t>):</a:t>
            </a:r>
            <a:endParaRPr lang="ru-RU" sz="2400" dirty="0"/>
          </a:p>
          <a:p>
            <a:pPr lvl="1">
              <a:lnSpc>
                <a:spcPct val="125000"/>
              </a:lnSpc>
            </a:pPr>
            <a:r>
              <a:rPr lang="ru-RU" sz="2400" dirty="0"/>
              <a:t>Содержит только данные (свойства с </a:t>
            </a:r>
            <a:r>
              <a:rPr lang="ru-RU" sz="2400" dirty="0" err="1"/>
              <a:t>get</a:t>
            </a:r>
            <a:r>
              <a:rPr lang="ru-RU" sz="2400" dirty="0"/>
              <a:t>/</a:t>
            </a:r>
            <a:r>
              <a:rPr lang="ru-RU" sz="2400" dirty="0" err="1"/>
              <a:t>set</a:t>
            </a:r>
            <a:r>
              <a:rPr lang="ru-RU" sz="2400" dirty="0"/>
              <a:t>).</a:t>
            </a:r>
          </a:p>
          <a:p>
            <a:pPr lvl="1">
              <a:lnSpc>
                <a:spcPct val="125000"/>
              </a:lnSpc>
            </a:pPr>
            <a:r>
              <a:rPr lang="ru-RU" sz="2400" b="1" dirty="0"/>
              <a:t>Минус:</a:t>
            </a:r>
            <a:r>
              <a:rPr lang="ru-RU" sz="2400" dirty="0"/>
              <a:t> Логика проверки данных разбросана по всему проекту. Объект «глупый» и позволяет записать в себя что угодно.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Богатая модель (</a:t>
            </a:r>
            <a:r>
              <a:rPr lang="ru-RU" sz="2400" b="1" dirty="0" err="1"/>
              <a:t>Rich</a:t>
            </a:r>
            <a:r>
              <a:rPr lang="ru-RU" sz="2400" b="1" dirty="0"/>
              <a:t> </a:t>
            </a:r>
            <a:r>
              <a:rPr lang="ru-RU" sz="2400" b="1" dirty="0" err="1"/>
              <a:t>Model</a:t>
            </a:r>
            <a:r>
              <a:rPr lang="ru-RU" sz="2400" b="1" dirty="0"/>
              <a:t>):</a:t>
            </a:r>
            <a:endParaRPr lang="ru-RU" sz="2400" dirty="0"/>
          </a:p>
          <a:p>
            <a:pPr lvl="1">
              <a:lnSpc>
                <a:spcPct val="125000"/>
              </a:lnSpc>
            </a:pPr>
            <a:r>
              <a:rPr lang="ru-RU" sz="2400" dirty="0"/>
              <a:t>Содержит и данные, и логику работы с ними (</a:t>
            </a:r>
            <a:r>
              <a:rPr lang="ru-RU" sz="2400" dirty="0" err="1"/>
              <a:t>валидацию</a:t>
            </a:r>
            <a:r>
              <a:rPr lang="ru-RU" sz="2400" dirty="0"/>
              <a:t>, бизнес-правила).</a:t>
            </a:r>
          </a:p>
          <a:p>
            <a:pPr lvl="1">
              <a:lnSpc>
                <a:spcPct val="125000"/>
              </a:lnSpc>
            </a:pPr>
            <a:r>
              <a:rPr lang="ru-RU" sz="2400" b="1" dirty="0"/>
              <a:t>Плюс:</a:t>
            </a:r>
            <a:r>
              <a:rPr lang="ru-RU" sz="2400" dirty="0"/>
              <a:t> Объект сам защищает свою целостность. Вы не сможете создать «сломанный» объект, так как проверки зашиты внутри него.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Рекомендация:</a:t>
            </a:r>
            <a:r>
              <a:rPr lang="ru-RU" sz="2400" dirty="0"/>
              <a:t> В доменном слое (ядро программы) принято использовать </a:t>
            </a:r>
            <a:r>
              <a:rPr lang="ru-RU" sz="2400" b="1" dirty="0" err="1"/>
              <a:t>Rich</a:t>
            </a:r>
            <a:r>
              <a:rPr lang="ru-RU" sz="2400" dirty="0"/>
              <a:t> модели.</a:t>
            </a:r>
          </a:p>
        </p:txBody>
      </p:sp>
    </p:spTree>
    <p:extLst>
      <p:ext uri="{BB962C8B-B14F-4D97-AF65-F5344CB8AC3E}">
        <p14:creationId xmlns:p14="http://schemas.microsoft.com/office/powerpoint/2010/main" val="350474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6341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dirty="0"/>
              <a:t>Пример Богатой модели (</a:t>
            </a:r>
            <a:r>
              <a:rPr lang="en-US" sz="2400" dirty="0"/>
              <a:t>Rich</a:t>
            </a:r>
            <a:r>
              <a:rPr lang="en-US" sz="2400" dirty="0" smtClean="0"/>
              <a:t>)</a:t>
            </a:r>
            <a:r>
              <a:rPr lang="ru-RU" sz="2400" dirty="0" smtClean="0"/>
              <a:t>. </a:t>
            </a:r>
            <a:r>
              <a:rPr lang="ru-RU" sz="2400" i="1" dirty="0"/>
              <a:t>Объект сам проверяет входные данные еще до того, как они попадут в базу.</a:t>
            </a:r>
            <a:endParaRPr lang="ru-RU" sz="2400" dirty="0" smtClean="0"/>
          </a:p>
          <a:p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MAX_TITLE_LENGTH = 256;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Guid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{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Title {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 конструкторе проверяем бизнес-правило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Guid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IsNullOrWhiteSpace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|| </a:t>
            </a:r>
            <a:r>
              <a:rPr lang="en-US" sz="20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.Length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&gt; MAX_TITLE_LENGTH)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ArgumentException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Некорректный заголовок!"</a:t>
            </a: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Id =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Title =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804560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</a:t>
            </a:r>
            <a:r>
              <a:rPr lang="ru-RU" sz="2400" dirty="0" err="1"/>
              <a:t>Entity</a:t>
            </a:r>
            <a:r>
              <a:rPr lang="ru-RU" sz="2400" dirty="0"/>
              <a:t> </a:t>
            </a:r>
            <a:r>
              <a:rPr lang="ru-RU" sz="2400" dirty="0" err="1"/>
              <a:t>Framework</a:t>
            </a:r>
            <a:r>
              <a:rPr lang="ru-RU" sz="2400" dirty="0"/>
              <a:t> понял, как превратить C#-класс в таблицу БД, мы используем </a:t>
            </a:r>
            <a:r>
              <a:rPr lang="ru-RU" sz="2400" b="1" dirty="0"/>
              <a:t>атрибуты</a:t>
            </a:r>
            <a:r>
              <a:rPr lang="ru-RU" sz="2400" dirty="0"/>
              <a:t> (метаданные).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Основные атрибуты (</a:t>
            </a:r>
            <a:r>
              <a:rPr lang="ru-RU" sz="2400" b="1" dirty="0" err="1"/>
              <a:t>System.ComponentModel.DataAnnotations</a:t>
            </a:r>
            <a:r>
              <a:rPr lang="ru-RU" sz="2400" b="1" dirty="0"/>
              <a:t>):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[</a:t>
            </a:r>
            <a:r>
              <a:rPr lang="ru-RU" sz="2400" b="1" dirty="0" err="1"/>
              <a:t>Key</a:t>
            </a:r>
            <a:r>
              <a:rPr lang="ru-RU" sz="2400" b="1" dirty="0"/>
              <a:t>]</a:t>
            </a:r>
            <a:r>
              <a:rPr lang="ru-RU" sz="2400" dirty="0"/>
              <a:t> — помечает свойство как первичный ключ (</a:t>
            </a:r>
            <a:r>
              <a:rPr lang="ru-RU" sz="2400" dirty="0" err="1"/>
              <a:t>Primary</a:t>
            </a:r>
            <a:r>
              <a:rPr lang="ru-RU" sz="2400" dirty="0"/>
              <a:t> </a:t>
            </a:r>
            <a:r>
              <a:rPr lang="ru-RU" sz="2400" dirty="0" err="1"/>
              <a:t>Key</a:t>
            </a:r>
            <a:r>
              <a:rPr lang="ru-RU" sz="2400" dirty="0"/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[</a:t>
            </a:r>
            <a:r>
              <a:rPr lang="ru-RU" sz="2400" b="1" dirty="0" err="1"/>
              <a:t>Required</a:t>
            </a:r>
            <a:r>
              <a:rPr lang="ru-RU" sz="2400" b="1" dirty="0"/>
              <a:t>]</a:t>
            </a:r>
            <a:r>
              <a:rPr lang="ru-RU" sz="2400" dirty="0"/>
              <a:t> — поле не может быть пустым (NOT NULL в базе).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[</a:t>
            </a:r>
            <a:r>
              <a:rPr lang="ru-RU" sz="2400" b="1" dirty="0" err="1"/>
              <a:t>MaxLength</a:t>
            </a:r>
            <a:r>
              <a:rPr lang="ru-RU" sz="2400" b="1" dirty="0"/>
              <a:t>(N)]</a:t>
            </a:r>
            <a:r>
              <a:rPr lang="ru-RU" sz="2400" dirty="0"/>
              <a:t> — ограничивает длину строки в базе данных.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[</a:t>
            </a:r>
            <a:r>
              <a:rPr lang="ru-RU" sz="2400" b="1" dirty="0" err="1"/>
              <a:t>MinLength</a:t>
            </a:r>
            <a:r>
              <a:rPr lang="ru-RU" sz="2400" b="1" dirty="0"/>
              <a:t>(N)]</a:t>
            </a:r>
            <a:r>
              <a:rPr lang="ru-RU" sz="2400" dirty="0"/>
              <a:t> — </a:t>
            </a:r>
            <a:r>
              <a:rPr lang="ru-RU" sz="2400" dirty="0" err="1"/>
              <a:t>валидация</a:t>
            </a:r>
            <a:r>
              <a:rPr lang="ru-RU" sz="2400" dirty="0"/>
              <a:t> минимальной длины (обычно для кода).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[</a:t>
            </a:r>
            <a:r>
              <a:rPr lang="ru-RU" sz="2400" b="1" dirty="0" err="1"/>
              <a:t>Table</a:t>
            </a:r>
            <a:r>
              <a:rPr lang="ru-RU" sz="2400" b="1" dirty="0"/>
              <a:t>("</a:t>
            </a:r>
            <a:r>
              <a:rPr lang="ru-RU" sz="2400" b="1" dirty="0" err="1"/>
              <a:t>Name</a:t>
            </a:r>
            <a:r>
              <a:rPr lang="ru-RU" sz="2400" b="1" dirty="0"/>
              <a:t>")]</a:t>
            </a:r>
            <a:r>
              <a:rPr lang="ru-RU" sz="2400" dirty="0"/>
              <a:t> — позволяет задать имя таблицы вручную (если оно отличается от имени класса).</a:t>
            </a:r>
          </a:p>
        </p:txBody>
      </p:sp>
    </p:spTree>
    <p:extLst>
      <p:ext uri="{BB962C8B-B14F-4D97-AF65-F5344CB8AC3E}">
        <p14:creationId xmlns:p14="http://schemas.microsoft.com/office/powerpoint/2010/main" val="3906549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/>
              <a:t>Используем атрибуты для настройки схемы базы данных</a:t>
            </a:r>
            <a:r>
              <a:rPr lang="ru-RU" sz="2400" i="1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i="1" dirty="0" smtClean="0"/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System.ComponentModel.DataAnnotations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System.ComponentModel.DataAnnotations.Schema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Table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"Customers"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)]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Имя таблицы в БД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[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Первичный ключ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[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Required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]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Обязательно для заполнения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[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MaxLength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(200)]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Ограничение в БД: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varchar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(200)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 =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.Empty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Age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23604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Итоги: </a:t>
            </a:r>
            <a:r>
              <a:rPr lang="ru-RU" sz="2400" b="1" dirty="0" smtClean="0"/>
              <a:t>Зачем это?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smtClean="0"/>
              <a:t>Чистая база данных:</a:t>
            </a:r>
            <a:r>
              <a:rPr lang="ru-RU" sz="2400" dirty="0" smtClean="0"/>
              <a:t> Благодаря атрибутам [</a:t>
            </a:r>
            <a:r>
              <a:rPr lang="ru-RU" sz="2400" dirty="0" err="1" smtClean="0"/>
              <a:t>Required</a:t>
            </a:r>
            <a:r>
              <a:rPr lang="ru-RU" sz="2400" dirty="0" smtClean="0"/>
              <a:t>] и [</a:t>
            </a:r>
            <a:r>
              <a:rPr lang="ru-RU" sz="2400" dirty="0" err="1" smtClean="0"/>
              <a:t>MaxLength</a:t>
            </a:r>
            <a:r>
              <a:rPr lang="ru-RU" sz="2400" dirty="0" smtClean="0"/>
              <a:t>], база данных сама будет отклонять некорректные данные.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smtClean="0"/>
              <a:t>Автоматическая </a:t>
            </a:r>
            <a:r>
              <a:rPr lang="ru-RU" sz="2400" b="1" dirty="0" err="1"/>
              <a:t>валидация</a:t>
            </a:r>
            <a:r>
              <a:rPr lang="ru-RU" sz="2400" b="1" dirty="0"/>
              <a:t>:</a:t>
            </a:r>
            <a:r>
              <a:rPr lang="ru-RU" sz="2400" dirty="0"/>
              <a:t> В ASP.NET </a:t>
            </a:r>
            <a:r>
              <a:rPr lang="ru-RU" sz="2400" dirty="0" err="1"/>
              <a:t>Core</a:t>
            </a:r>
            <a:r>
              <a:rPr lang="ru-RU" sz="2400" dirty="0"/>
              <a:t> эти же атрибуты используются для проверки данных, которые приходят от пользователя в формах.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Инкапсуляция:</a:t>
            </a:r>
            <a:r>
              <a:rPr lang="ru-RU" sz="2400" dirty="0"/>
              <a:t> Богатая модель гарантирует, что правила бизнеса (например, «длина заголовка не более 256 символов») соблюдаются всегда и везде в коде.</a:t>
            </a:r>
          </a:p>
        </p:txBody>
      </p:sp>
    </p:spTree>
    <p:extLst>
      <p:ext uri="{BB962C8B-B14F-4D97-AF65-F5344CB8AC3E}">
        <p14:creationId xmlns:p14="http://schemas.microsoft.com/office/powerpoint/2010/main" val="514423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Контекст данных (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DbContext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/>
              <a:t>DbContext</a:t>
            </a:r>
            <a:r>
              <a:rPr lang="ru-RU" sz="2400" dirty="0"/>
              <a:t> — это базовый класс, который представляет сессию взаимодействия с базой данных. Это «пульт управления», который объединяет ваши модели и реальные таблицы.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За что отвечает </a:t>
            </a:r>
            <a:r>
              <a:rPr lang="ru-RU" sz="2400" b="1" dirty="0" err="1"/>
              <a:t>DbContext</a:t>
            </a:r>
            <a:r>
              <a:rPr lang="ru-RU" sz="2400" b="1" dirty="0"/>
              <a:t>:</a:t>
            </a:r>
            <a:endParaRPr lang="ru-RU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Подключение:</a:t>
            </a:r>
            <a:r>
              <a:rPr lang="ru-RU" sz="2400" dirty="0"/>
              <a:t> Знает, где находится база и как в неё войти.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Управление таблицами:</a:t>
            </a:r>
            <a:r>
              <a:rPr lang="ru-RU" sz="2400" dirty="0"/>
              <a:t> Хранит наборы данных (</a:t>
            </a:r>
            <a:r>
              <a:rPr lang="ru-RU" sz="2400" b="1" dirty="0" err="1"/>
              <a:t>DbSet</a:t>
            </a:r>
            <a:r>
              <a:rPr lang="ru-RU" sz="2400" dirty="0"/>
              <a:t>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Отслеживание изменений:</a:t>
            </a:r>
            <a:r>
              <a:rPr lang="ru-RU" sz="2400" dirty="0"/>
              <a:t> Понимает, какой объект вы изменили в коде, чтобы обновить именно его в базе.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Транзакции:</a:t>
            </a:r>
            <a:r>
              <a:rPr lang="ru-RU" sz="2400" dirty="0"/>
              <a:t> Гарантирует, что данные сохранятся полностью или не сохранятся вовсе (при ошибке).</a:t>
            </a:r>
          </a:p>
        </p:txBody>
      </p:sp>
    </p:spTree>
    <p:extLst>
      <p:ext uri="{BB962C8B-B14F-4D97-AF65-F5344CB8AC3E}">
        <p14:creationId xmlns:p14="http://schemas.microsoft.com/office/powerpoint/2010/main" val="2952558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018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создать свою базу, мы создаем класс-наследник от </a:t>
            </a:r>
            <a:r>
              <a:rPr lang="ru-RU" sz="2400" dirty="0" err="1"/>
              <a:t>DbContext</a:t>
            </a:r>
            <a:r>
              <a:rPr lang="ru-RU" sz="2400" dirty="0" smtClean="0"/>
              <a:t>.</a:t>
            </a:r>
            <a:endParaRPr lang="en-US" sz="2400" dirty="0"/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Microsoft.EntityFrameworkCore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ApplicationContext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DbContext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Каждое свойство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DbSet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— это отдельная таблица в БД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DbSet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Notes =&gt; </a:t>
            </a:r>
            <a:r>
              <a:rPr lang="en-US" sz="20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DbSet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Customers =&gt; </a:t>
            </a:r>
            <a:r>
              <a:rPr lang="en-US" sz="20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ApplicationContext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Магия: создаст файл базы при первом запуске, если его нет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Database.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EnsureCreated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Настройка "куда подключаться"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OnConfiguring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DbContextOptionsBuilder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options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options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0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UseSqlite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"Data Source=</a:t>
            </a:r>
            <a:r>
              <a:rPr lang="en-US" sz="20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MyNotes.db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90975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Иногда атрибутов [</a:t>
            </a:r>
            <a:r>
              <a:rPr lang="ru-RU" sz="2400" dirty="0" err="1"/>
              <a:t>Key</a:t>
            </a:r>
            <a:r>
              <a:rPr lang="ru-RU" sz="2400" dirty="0"/>
              <a:t>] или [</a:t>
            </a:r>
            <a:r>
              <a:rPr lang="ru-RU" sz="2400" dirty="0" err="1"/>
              <a:t>MaxLength</a:t>
            </a:r>
            <a:r>
              <a:rPr lang="ru-RU" sz="2400" dirty="0"/>
              <a:t>] недостаточно, или мы не хотим «пачкать» модель техническим кодом. Для этого используется </a:t>
            </a:r>
            <a:r>
              <a:rPr lang="ru-RU" sz="2400" b="1" dirty="0" err="1"/>
              <a:t>Fluent</a:t>
            </a:r>
            <a:r>
              <a:rPr lang="ru-RU" sz="2400" b="1" dirty="0"/>
              <a:t> API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endParaRPr lang="en-US" sz="2400" b="1" dirty="0" smtClean="0"/>
          </a:p>
          <a:p>
            <a:pPr>
              <a:lnSpc>
                <a:spcPct val="150000"/>
              </a:lnSpc>
            </a:pPr>
            <a:r>
              <a:rPr lang="ru-RU" sz="2400" b="1" dirty="0" smtClean="0"/>
              <a:t>Суть</a:t>
            </a:r>
            <a:r>
              <a:rPr lang="ru-RU" sz="2400" b="1" dirty="0"/>
              <a:t>:</a:t>
            </a:r>
            <a:r>
              <a:rPr lang="ru-RU" sz="2400" dirty="0"/>
              <a:t> Мы выносим правила создания таблиц в отдельный метод или класс.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Класс конфигурации:</a:t>
            </a:r>
            <a:r>
              <a:rPr lang="ru-RU" sz="2400" dirty="0"/>
              <a:t> Реализует интерфейс </a:t>
            </a:r>
            <a:r>
              <a:rPr lang="ru-RU" sz="2400" dirty="0" err="1"/>
              <a:t>IEntityTypeConfiguration</a:t>
            </a:r>
            <a:r>
              <a:rPr lang="ru-RU" sz="2400" dirty="0"/>
              <a:t>&lt;T&gt;.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Метод </a:t>
            </a:r>
            <a:r>
              <a:rPr lang="ru-RU" sz="2400" b="1" dirty="0" err="1"/>
              <a:t>OnModelCreating</a:t>
            </a:r>
            <a:r>
              <a:rPr lang="ru-RU" sz="2400" b="1" dirty="0"/>
              <a:t>:</a:t>
            </a:r>
            <a:r>
              <a:rPr lang="ru-RU" sz="2400" dirty="0"/>
              <a:t> В нем мы «регистрируем» наши настройки.</a:t>
            </a:r>
          </a:p>
          <a:p>
            <a:pPr>
              <a:lnSpc>
                <a:spcPct val="150000"/>
              </a:lnSpc>
            </a:pPr>
            <a:endParaRPr lang="en-US" sz="2400" b="1" dirty="0" smtClean="0"/>
          </a:p>
          <a:p>
            <a:pPr>
              <a:lnSpc>
                <a:spcPct val="150000"/>
              </a:lnSpc>
            </a:pPr>
            <a:r>
              <a:rPr lang="ru-RU" sz="2400" b="1" dirty="0" smtClean="0"/>
              <a:t>Преимущество</a:t>
            </a:r>
            <a:r>
              <a:rPr lang="ru-RU" sz="2400" b="1" dirty="0"/>
              <a:t>:</a:t>
            </a:r>
            <a:r>
              <a:rPr lang="ru-RU" sz="2400" dirty="0"/>
              <a:t> Модели остаются «чистыми» (только данные), а вся техническая логика базы данных собрана в одном месте.</a:t>
            </a:r>
          </a:p>
        </p:txBody>
      </p:sp>
    </p:spTree>
    <p:extLst>
      <p:ext uri="{BB962C8B-B14F-4D97-AF65-F5344CB8AC3E}">
        <p14:creationId xmlns:p14="http://schemas.microsoft.com/office/powerpoint/2010/main" val="4077394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Вместо атрибутов над полями, мы пишем четкие инструкции в коде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NoteConfiguration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IEntityTypeConfiguration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Configure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EntityTypeBuilder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HasKey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Первичный ключ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.Title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HasMaxLength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(256)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Ограничение длины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IsRequired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NOT NULL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.CreatedAt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IsRequired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b="1" dirty="0"/>
              <a:t>В </a:t>
            </a:r>
            <a:r>
              <a:rPr lang="en-US" sz="2400" b="1" dirty="0"/>
              <a:t>Context:</a:t>
            </a:r>
            <a:r>
              <a:rPr lang="en-US" sz="2400" dirty="0"/>
              <a:t> </a:t>
            </a:r>
            <a:r>
              <a:rPr lang="en-US" sz="2400" dirty="0" err="1"/>
              <a:t>modelBuilder.ApplyConfiguration</a:t>
            </a:r>
            <a:r>
              <a:rPr lang="en-US" sz="2400" dirty="0"/>
              <a:t>(new </a:t>
            </a:r>
            <a:r>
              <a:rPr lang="en-US" sz="2400" dirty="0" err="1"/>
              <a:t>NoteConfiguration</a:t>
            </a:r>
            <a:r>
              <a:rPr lang="en-US" sz="2400" dirty="0"/>
              <a:t>());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04983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Зачем </a:t>
            </a:r>
            <a:r>
              <a:rPr lang="ru-RU" sz="2400" b="1" dirty="0" smtClean="0"/>
              <a:t>это?</a:t>
            </a:r>
            <a:endParaRPr lang="ru-RU" sz="2400" b="1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 err="1"/>
              <a:t>Централизованность</a:t>
            </a:r>
            <a:r>
              <a:rPr lang="ru-RU" sz="2400" b="1" dirty="0"/>
              <a:t>:</a:t>
            </a:r>
            <a:r>
              <a:rPr lang="ru-RU" sz="2400" dirty="0"/>
              <a:t> Одной командой </a:t>
            </a:r>
            <a:r>
              <a:rPr lang="ru-RU" sz="2400" dirty="0" err="1"/>
              <a:t>db.SaveChanges</a:t>
            </a:r>
            <a:r>
              <a:rPr lang="ru-RU" sz="2400" dirty="0"/>
              <a:t>() можно сохранить изменения сразу в десяти таблицах.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Прозрачность:</a:t>
            </a:r>
            <a:r>
              <a:rPr lang="ru-RU" sz="2400" dirty="0"/>
              <a:t> </a:t>
            </a:r>
            <a:r>
              <a:rPr lang="ru-RU" sz="2400" dirty="0" err="1"/>
              <a:t>Database.EnsureCreated</a:t>
            </a:r>
            <a:r>
              <a:rPr lang="ru-RU" sz="2400" dirty="0"/>
              <a:t>() избавляет от необходимости вручную создавать таблицы через сторонние программы.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Архитектурный порядок:</a:t>
            </a:r>
            <a:r>
              <a:rPr lang="ru-RU" sz="2400" dirty="0"/>
              <a:t> Разделение на Модель, Контекст и Конфигурацию — это стандарт «взрослой» разработки, который делает проект легким в поддержке.</a:t>
            </a:r>
          </a:p>
        </p:txBody>
      </p:sp>
    </p:spTree>
    <p:extLst>
      <p:ext uri="{BB962C8B-B14F-4D97-AF65-F5344CB8AC3E}">
        <p14:creationId xmlns:p14="http://schemas.microsoft.com/office/powerpoint/2010/main" val="226635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Миграции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628986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dirty="0"/>
              <a:t>Программный код постоянно меняется: мы добавляем новые классы или свойства (например, добавили поле «Телефон» в модель </a:t>
            </a:r>
            <a:r>
              <a:rPr lang="ru-RU" sz="2400" dirty="0" err="1"/>
              <a:t>User</a:t>
            </a:r>
            <a:r>
              <a:rPr lang="ru-RU" sz="2400" dirty="0"/>
              <a:t>).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Проблема:</a:t>
            </a:r>
            <a:r>
              <a:rPr lang="ru-RU" sz="2400" dirty="0"/>
              <a:t> База данных «застыла» в старом состоянии. Как обновить её схему, не удаляя текущих пользователей и их данные?</a:t>
            </a:r>
          </a:p>
          <a:p>
            <a:pPr>
              <a:lnSpc>
                <a:spcPct val="125000"/>
              </a:lnSpc>
            </a:pPr>
            <a:r>
              <a:rPr lang="ru-RU" sz="2400" b="1" dirty="0"/>
              <a:t>Решение: Миграции EF </a:t>
            </a:r>
            <a:r>
              <a:rPr lang="ru-RU" sz="2400" b="1" dirty="0" err="1"/>
              <a:t>Core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Это механизм, который отслеживает изменения в ваших C#-моделях и генерирует набор инструкций (код) для обновления схемы БД.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Надежность:</a:t>
            </a:r>
            <a:r>
              <a:rPr lang="ru-RU" sz="2400" dirty="0"/>
              <a:t> Каждое изменение фиксируется в отдельном файле с датой и временем.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Синхронизация:</a:t>
            </a:r>
            <a:r>
              <a:rPr lang="ru-RU" sz="2400" dirty="0"/>
              <a:t> Вся команда разработчиков работает с одной и той же версией базы данных.</a:t>
            </a:r>
          </a:p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2400" b="1" dirty="0"/>
              <a:t>Безопасность:</a:t>
            </a:r>
            <a:r>
              <a:rPr lang="ru-RU" sz="2400" dirty="0"/>
              <a:t> Позволяют «откатить» изменения назад, если что-то пошло не так.</a:t>
            </a:r>
          </a:p>
        </p:txBody>
      </p:sp>
    </p:spTree>
    <p:extLst>
      <p:ext uri="{BB962C8B-B14F-4D97-AF65-F5344CB8AC3E}">
        <p14:creationId xmlns:p14="http://schemas.microsoft.com/office/powerpoint/2010/main" val="54067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Процесс обновления БД всегда состоит из трех простых шагов: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Изменение кода:</a:t>
            </a:r>
            <a:r>
              <a:rPr lang="ru-RU" sz="2400" dirty="0"/>
              <a:t> Вы редактируете C#-класс (модель) или настройки в </a:t>
            </a:r>
            <a:r>
              <a:rPr lang="ru-RU" sz="2400" dirty="0" err="1"/>
              <a:t>DbContext</a:t>
            </a:r>
            <a:r>
              <a:rPr lang="ru-RU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Создание чертежа (</a:t>
            </a:r>
            <a:r>
              <a:rPr lang="ru-RU" sz="2400" b="1" dirty="0" err="1"/>
              <a:t>Add</a:t>
            </a:r>
            <a:r>
              <a:rPr lang="ru-RU" sz="2400" b="1" dirty="0"/>
              <a:t> </a:t>
            </a:r>
            <a:r>
              <a:rPr lang="ru-RU" sz="2400" b="1" dirty="0" err="1"/>
              <a:t>Migration</a:t>
            </a:r>
            <a:r>
              <a:rPr lang="ru-RU" sz="2400" b="1" dirty="0"/>
              <a:t>):</a:t>
            </a:r>
            <a:r>
              <a:rPr lang="ru-RU" sz="2400" dirty="0"/>
              <a:t> Вы просите EF </a:t>
            </a:r>
            <a:r>
              <a:rPr lang="ru-RU" sz="2400" dirty="0" err="1"/>
              <a:t>Core</a:t>
            </a:r>
            <a:r>
              <a:rPr lang="ru-RU" sz="2400" dirty="0"/>
              <a:t> сравнить код и базу. Он создает файл миграции — «чертеж» того, что нужно изменить (например, добавить колонку).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Применение изменений (</a:t>
            </a:r>
            <a:r>
              <a:rPr lang="ru-RU" sz="2400" b="1" dirty="0" err="1"/>
              <a:t>Update</a:t>
            </a:r>
            <a:r>
              <a:rPr lang="ru-RU" sz="2400" b="1" dirty="0"/>
              <a:t> </a:t>
            </a:r>
            <a:r>
              <a:rPr lang="ru-RU" sz="2400" b="1" dirty="0" err="1"/>
              <a:t>Database</a:t>
            </a:r>
            <a:r>
              <a:rPr lang="ru-RU" sz="2400" b="1" dirty="0"/>
              <a:t>):</a:t>
            </a:r>
            <a:r>
              <a:rPr lang="ru-RU" sz="2400" dirty="0"/>
              <a:t> EF </a:t>
            </a:r>
            <a:r>
              <a:rPr lang="ru-RU" sz="2400" dirty="0" err="1"/>
              <a:t>Core</a:t>
            </a:r>
            <a:r>
              <a:rPr lang="ru-RU" sz="2400" dirty="0"/>
              <a:t> выполняет этот чертеж, превращая его в реальный SQL-запрос к СУБД.</a:t>
            </a:r>
          </a:p>
        </p:txBody>
      </p:sp>
    </p:spTree>
    <p:extLst>
      <p:ext uri="{BB962C8B-B14F-4D97-AF65-F5344CB8AC3E}">
        <p14:creationId xmlns:p14="http://schemas.microsoft.com/office/powerpoint/2010/main" val="2344139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Для работы используется инструмент </a:t>
            </a:r>
            <a:r>
              <a:rPr lang="ru-RU" sz="2400" b="1" dirty="0" err="1"/>
              <a:t>dotnet-ef</a:t>
            </a:r>
            <a:r>
              <a:rPr lang="ru-RU" sz="2400" dirty="0"/>
              <a:t>. Команды запускаются из терминала.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/>
              <a:t>1. Создать </a:t>
            </a:r>
            <a:r>
              <a:rPr lang="ru-RU" sz="2400" b="1" dirty="0"/>
              <a:t>новую </a:t>
            </a:r>
            <a:r>
              <a:rPr lang="ru-RU" sz="2400" b="1" dirty="0" smtClean="0"/>
              <a:t>миграцию:</a:t>
            </a:r>
          </a:p>
          <a:p>
            <a:pPr algn="ctr">
              <a:lnSpc>
                <a:spcPct val="150000"/>
              </a:lnSpc>
            </a:pPr>
            <a:r>
              <a:rPr lang="ru-RU" sz="2400" dirty="0" err="1" smtClean="0"/>
              <a:t>dotnet</a:t>
            </a:r>
            <a:r>
              <a:rPr lang="ru-RU" sz="2400" dirty="0" smtClean="0"/>
              <a:t> </a:t>
            </a:r>
            <a:r>
              <a:rPr lang="ru-RU" sz="2400" dirty="0" err="1"/>
              <a:t>ef</a:t>
            </a:r>
            <a:r>
              <a:rPr lang="ru-RU" sz="2400" dirty="0"/>
              <a:t> </a:t>
            </a:r>
            <a:r>
              <a:rPr lang="ru-RU" sz="2400" dirty="0" err="1"/>
              <a:t>migrations</a:t>
            </a:r>
            <a:r>
              <a:rPr lang="ru-RU" sz="2400" dirty="0"/>
              <a:t> </a:t>
            </a:r>
            <a:r>
              <a:rPr lang="ru-RU" sz="2400" dirty="0" err="1"/>
              <a:t>add</a:t>
            </a:r>
            <a:r>
              <a:rPr lang="ru-RU" sz="2400" dirty="0"/>
              <a:t> </a:t>
            </a:r>
            <a:r>
              <a:rPr lang="ru-RU" sz="2400" dirty="0" err="1" smtClean="0"/>
              <a:t>NameOfMigration</a:t>
            </a:r>
            <a:endParaRPr lang="ru-RU" sz="2400" dirty="0" smtClean="0"/>
          </a:p>
          <a:p>
            <a:pPr algn="ctr">
              <a:lnSpc>
                <a:spcPct val="150000"/>
              </a:lnSpc>
            </a:pPr>
            <a:r>
              <a:rPr lang="ru-RU" sz="2400" i="1" dirty="0" smtClean="0"/>
              <a:t>Результат</a:t>
            </a:r>
            <a:r>
              <a:rPr lang="ru-RU" sz="2400" i="1" dirty="0"/>
              <a:t>: в проекте появится папка </a:t>
            </a:r>
            <a:r>
              <a:rPr lang="ru-RU" sz="2400" i="1" dirty="0" err="1"/>
              <a:t>Migrations</a:t>
            </a:r>
            <a:r>
              <a:rPr lang="ru-RU" sz="2400" i="1" dirty="0"/>
              <a:t> с новым C#-файлом</a:t>
            </a:r>
            <a:r>
              <a:rPr lang="ru-RU" sz="2400" i="1" dirty="0" smtClean="0"/>
              <a:t>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2. Применить миграции к базе </a:t>
            </a:r>
            <a:r>
              <a:rPr lang="ru-RU" sz="2400" b="1" dirty="0" smtClean="0"/>
              <a:t>данных:</a:t>
            </a:r>
          </a:p>
          <a:p>
            <a:pPr algn="ctr">
              <a:lnSpc>
                <a:spcPct val="150000"/>
              </a:lnSpc>
            </a:pPr>
            <a:r>
              <a:rPr lang="ru-RU" sz="2400" dirty="0" err="1" smtClean="0"/>
              <a:t>dotnet</a:t>
            </a:r>
            <a:r>
              <a:rPr lang="ru-RU" sz="2400" dirty="0" smtClean="0"/>
              <a:t> </a:t>
            </a:r>
            <a:r>
              <a:rPr lang="ru-RU" sz="2400" dirty="0" err="1"/>
              <a:t>ef</a:t>
            </a:r>
            <a:r>
              <a:rPr lang="ru-RU" sz="2400" dirty="0"/>
              <a:t> </a:t>
            </a:r>
            <a:r>
              <a:rPr lang="ru-RU" sz="2400" dirty="0" err="1"/>
              <a:t>database</a:t>
            </a:r>
            <a:r>
              <a:rPr lang="ru-RU" sz="2400" dirty="0"/>
              <a:t> </a:t>
            </a:r>
            <a:r>
              <a:rPr lang="ru-RU" sz="2400" dirty="0" err="1" smtClean="0"/>
              <a:t>update</a:t>
            </a:r>
            <a:endParaRPr lang="ru-RU" sz="2400" dirty="0" smtClean="0"/>
          </a:p>
          <a:p>
            <a:pPr>
              <a:lnSpc>
                <a:spcPct val="150000"/>
              </a:lnSpc>
            </a:pPr>
            <a:r>
              <a:rPr lang="ru-RU" sz="2400" i="1" dirty="0" smtClean="0"/>
              <a:t>Результат</a:t>
            </a:r>
            <a:r>
              <a:rPr lang="ru-RU" sz="2400" i="1" dirty="0"/>
              <a:t>: схема базы данных обновится, данные сохранятся.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737" y="5078313"/>
            <a:ext cx="7156526" cy="160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080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/>
              <a:t>Важно:</a:t>
            </a:r>
            <a:r>
              <a:rPr lang="ru-RU" sz="2400" dirty="0"/>
              <a:t> В сложных </a:t>
            </a:r>
            <a:r>
              <a:rPr lang="ru-RU" sz="2400" dirty="0" smtClean="0"/>
              <a:t>проектах (как в наших лабораторных) </a:t>
            </a:r>
            <a:r>
              <a:rPr lang="ru-RU" sz="2400" dirty="0"/>
              <a:t>используются флаги: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-p — путь к проекту с БД,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-s — путь к проекту с точкой входа (API</a:t>
            </a:r>
            <a:r>
              <a:rPr lang="ru-RU" sz="2400" dirty="0" smtClean="0"/>
              <a:t>).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 algn="just" fontAlgn="base">
              <a:lnSpc>
                <a:spcPct val="150000"/>
              </a:lnSpc>
            </a:pPr>
            <a:r>
              <a:rPr lang="ru-RU" sz="2400" dirty="0" smtClean="0">
                <a:solidFill>
                  <a:srgbClr val="0C0D0E"/>
                </a:solidFill>
                <a:latin typeface="Bookman Old Style" panose="02050604050505020204" pitchFamily="18" charset="0"/>
              </a:rPr>
              <a:t>Например, создаём </a:t>
            </a:r>
            <a:r>
              <a:rPr lang="ru-RU" sz="2400" dirty="0">
                <a:solidFill>
                  <a:srgbClr val="0C0D0E"/>
                </a:solidFill>
                <a:latin typeface="Bookman Old Style" panose="02050604050505020204" pitchFamily="18" charset="0"/>
              </a:rPr>
              <a:t>миграцию, вводим в терминал команду:</a:t>
            </a:r>
          </a:p>
          <a:p>
            <a:pPr algn="just" fontAlgn="base">
              <a:lnSpc>
                <a:spcPct val="150000"/>
              </a:lnSpc>
            </a:pPr>
            <a:r>
              <a:rPr lang="fr-FR" sz="2400" b="1" dirty="0">
                <a:solidFill>
                  <a:srgbClr val="0C0D0E"/>
                </a:solidFill>
                <a:latin typeface="Bookman Old Style" panose="02050604050505020204" pitchFamily="18" charset="0"/>
              </a:rPr>
              <a:t>dotnet ef migrations add -p .\Infrastructure\Persistence\ -s .\Api</a:t>
            </a:r>
            <a:r>
              <a:rPr lang="fr-FR" sz="2400" b="1" dirty="0" smtClean="0">
                <a:solidFill>
                  <a:srgbClr val="0C0D0E"/>
                </a:solidFill>
                <a:latin typeface="Bookman Old Style" panose="02050604050505020204" pitchFamily="18" charset="0"/>
              </a:rPr>
              <a:t>\</a:t>
            </a:r>
            <a:endParaRPr lang="ru-RU" sz="2400" b="1" dirty="0">
              <a:solidFill>
                <a:srgbClr val="0C0D0E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2873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/>
              <a:t>Как </a:t>
            </a:r>
            <a:r>
              <a:rPr lang="ru-RU" sz="2400" b="1" dirty="0"/>
              <a:t>база «узнает» о миграциях?</a:t>
            </a:r>
          </a:p>
          <a:p>
            <a:pPr>
              <a:lnSpc>
                <a:spcPct val="150000"/>
              </a:lnSpc>
            </a:pPr>
            <a:r>
              <a:rPr lang="ru-RU" sz="2400" dirty="0" smtClean="0"/>
              <a:t>EF </a:t>
            </a:r>
            <a:r>
              <a:rPr lang="ru-RU" sz="2400" dirty="0" err="1"/>
              <a:t>Core</a:t>
            </a:r>
            <a:r>
              <a:rPr lang="ru-RU" sz="2400" dirty="0"/>
              <a:t> создает в вашей базе данных специальную служебную таблицу: </a:t>
            </a:r>
            <a:r>
              <a:rPr lang="ru-RU" sz="2400" b="1" dirty="0"/>
              <a:t>__</a:t>
            </a:r>
            <a:r>
              <a:rPr lang="ru-RU" sz="2400" b="1" dirty="0" err="1"/>
              <a:t>EFMigrationsHistory</a:t>
            </a:r>
            <a:r>
              <a:rPr lang="ru-RU" sz="24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 этой таблице хранится список имен всех уже примененных миграций.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При запуске команды </a:t>
            </a:r>
            <a:r>
              <a:rPr lang="ru-RU" sz="2400" b="1" dirty="0" err="1"/>
              <a:t>database</a:t>
            </a:r>
            <a:r>
              <a:rPr lang="ru-RU" sz="2400" b="1" dirty="0"/>
              <a:t> </a:t>
            </a:r>
            <a:r>
              <a:rPr lang="ru-RU" sz="2400" b="1" dirty="0" err="1"/>
              <a:t>update</a:t>
            </a:r>
            <a:r>
              <a:rPr lang="ru-RU" sz="2400" dirty="0"/>
              <a:t> сервер смотрит в эту таблицу, понимает, каких файлов не хватает, и выполняет только новые изменения</a:t>
            </a:r>
            <a:r>
              <a:rPr lang="ru-RU" sz="2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1211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/>
              <a:t>Почему </a:t>
            </a:r>
            <a:r>
              <a:rPr lang="ru-RU" sz="2400" b="1" dirty="0"/>
              <a:t>это стандарт индустрии?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Никакого ручного SQL:</a:t>
            </a:r>
            <a:r>
              <a:rPr lang="ru-RU" sz="2400" dirty="0"/>
              <a:t> Вам не нужно заходить в </a:t>
            </a:r>
            <a:r>
              <a:rPr lang="ru-RU" sz="2400" dirty="0" err="1"/>
              <a:t>админку</a:t>
            </a:r>
            <a:r>
              <a:rPr lang="ru-RU" sz="2400" dirty="0"/>
              <a:t> БД и вручную менять типы колонок.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История изменений:</a:t>
            </a:r>
            <a:r>
              <a:rPr lang="ru-RU" sz="2400" dirty="0"/>
              <a:t> Вы всегда можете посмотреть, кто и когда изменил структуру базы.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Автоматизация:</a:t>
            </a:r>
            <a:r>
              <a:rPr lang="ru-RU" sz="2400" dirty="0"/>
              <a:t> Миграции могут применяться автоматически при развертывании приложения на сервере.</a:t>
            </a:r>
          </a:p>
          <a:p>
            <a:pPr>
              <a:lnSpc>
                <a:spcPct val="150000"/>
              </a:lnSpc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013231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CRUD: Работа с данными через LINQ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/>
              <a:t>CRUD</a:t>
            </a:r>
            <a:r>
              <a:rPr lang="en-US" sz="2400" dirty="0"/>
              <a:t> — </a:t>
            </a:r>
            <a:r>
              <a:rPr lang="ru-RU" sz="2400" dirty="0"/>
              <a:t>это акроним четырех базовых операций в любой информационной системе: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C</a:t>
            </a:r>
            <a:r>
              <a:rPr lang="en-US" sz="2400" dirty="0"/>
              <a:t>reate (</a:t>
            </a:r>
            <a:r>
              <a:rPr lang="ru-RU" sz="2400" dirty="0"/>
              <a:t>Создание)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R</a:t>
            </a:r>
            <a:r>
              <a:rPr lang="en-US" sz="2400" dirty="0"/>
              <a:t>ead (</a:t>
            </a:r>
            <a:r>
              <a:rPr lang="ru-RU" sz="2400" dirty="0"/>
              <a:t>Чтение)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U</a:t>
            </a:r>
            <a:r>
              <a:rPr lang="en-US" sz="2400" dirty="0"/>
              <a:t>pdate (</a:t>
            </a:r>
            <a:r>
              <a:rPr lang="ru-RU" sz="2400" dirty="0"/>
              <a:t>Обновление)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D</a:t>
            </a:r>
            <a:r>
              <a:rPr lang="en-US" sz="2400" dirty="0"/>
              <a:t>elete (</a:t>
            </a:r>
            <a:r>
              <a:rPr lang="ru-RU" sz="2400" dirty="0"/>
              <a:t>Удаление)</a:t>
            </a:r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pPr>
              <a:lnSpc>
                <a:spcPct val="150000"/>
              </a:lnSpc>
            </a:pPr>
            <a:r>
              <a:rPr lang="ru-RU" sz="2400" dirty="0" smtClean="0"/>
              <a:t>В </a:t>
            </a:r>
            <a:r>
              <a:rPr lang="en-US" sz="2400" dirty="0"/>
              <a:t>Entity Framework Core </a:t>
            </a:r>
            <a:r>
              <a:rPr lang="ru-RU" sz="2400" dirty="0"/>
              <a:t>эти операции выполняются через </a:t>
            </a:r>
            <a:r>
              <a:rPr lang="en-US" sz="2400" b="1" dirty="0"/>
              <a:t>LINQ</a:t>
            </a:r>
            <a:r>
              <a:rPr lang="en-US" sz="2400" dirty="0"/>
              <a:t> (Language Integrated Query) — </a:t>
            </a:r>
            <a:r>
              <a:rPr lang="ru-RU" sz="2400" dirty="0"/>
              <a:t>специальный синтаксис запросов внутри </a:t>
            </a:r>
            <a:r>
              <a:rPr lang="en-US" sz="2400" dirty="0"/>
              <a:t>C#.</a:t>
            </a:r>
          </a:p>
        </p:txBody>
      </p:sp>
    </p:spTree>
    <p:extLst>
      <p:ext uri="{BB962C8B-B14F-4D97-AF65-F5344CB8AC3E}">
        <p14:creationId xmlns:p14="http://schemas.microsoft.com/office/powerpoint/2010/main" val="4071389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Чтобы создать запись, мы просто добавляем новый объект в коллекцию </a:t>
            </a:r>
            <a:r>
              <a:rPr lang="ru-RU" sz="2400" dirty="0" err="1"/>
              <a:t>DbSet</a:t>
            </a:r>
            <a:r>
              <a:rPr lang="ru-RU" sz="2400" dirty="0" smtClean="0"/>
              <a:t>.</a:t>
            </a:r>
            <a:endParaRPr lang="en-US" sz="2400" dirty="0"/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ApplicationContext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1. Создаем объект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Name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Иван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Age = 25 };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2. Добавляем в "пачку" на отправку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.Customers.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3. Сохраняем изменения (только сейчас пойдет запрос в БД)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SaveChanges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smtClean="0"/>
              <a:t>Важно</a:t>
            </a:r>
            <a:r>
              <a:rPr lang="ru-RU" sz="2400" b="1" dirty="0"/>
              <a:t>:</a:t>
            </a:r>
            <a:r>
              <a:rPr lang="ru-RU" sz="2400" dirty="0"/>
              <a:t> Пока вы не вызвали </a:t>
            </a:r>
            <a:r>
              <a:rPr lang="ru-RU" sz="2400" dirty="0" err="1"/>
              <a:t>SaveChanges</a:t>
            </a:r>
            <a:r>
              <a:rPr lang="ru-RU" sz="2400" dirty="0"/>
              <a:t>(), данные живут только в оперативной памяти программы</a:t>
            </a:r>
            <a:r>
              <a:rPr lang="ru-RU" sz="2400" dirty="0" smtClean="0"/>
              <a:t>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212945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Самая мощная часть EF </a:t>
            </a:r>
            <a:r>
              <a:rPr lang="ru-RU" sz="2400" dirty="0" err="1"/>
              <a:t>Core</a:t>
            </a:r>
            <a:r>
              <a:rPr lang="ru-RU" sz="2400" dirty="0"/>
              <a:t>. Мы </a:t>
            </a:r>
            <a:r>
              <a:rPr lang="ru-RU" sz="2400" dirty="0" smtClean="0"/>
              <a:t>пишем </a:t>
            </a:r>
            <a:r>
              <a:rPr lang="ru-RU" sz="2400" dirty="0"/>
              <a:t>фильтры на C#, а ORM превращает их в эффективный SQL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Поиск всех "молодых" (младше 30)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youngOnes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.Customers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.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30)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ToList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Поиск конкретного объекта по ID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.Customers.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FirstOrDefault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== 5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/>
              <a:t>Основные методы:</a:t>
            </a: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 err="1"/>
              <a:t>Where</a:t>
            </a:r>
            <a:r>
              <a:rPr lang="ru-RU" sz="2400" dirty="0"/>
              <a:t> — фильтрация.</a:t>
            </a:r>
          </a:p>
          <a:p>
            <a:pPr>
              <a:lnSpc>
                <a:spcPct val="150000"/>
              </a:lnSpc>
            </a:pPr>
            <a:r>
              <a:rPr lang="ru-RU" sz="2400" dirty="0" err="1"/>
              <a:t>OrderBy</a:t>
            </a:r>
            <a:r>
              <a:rPr lang="ru-RU" sz="2400" dirty="0"/>
              <a:t> / </a:t>
            </a:r>
            <a:r>
              <a:rPr lang="ru-RU" sz="2400" dirty="0" err="1"/>
              <a:t>OrderByDescending</a:t>
            </a:r>
            <a:r>
              <a:rPr lang="ru-RU" sz="2400" dirty="0"/>
              <a:t> — сортировка.</a:t>
            </a:r>
          </a:p>
          <a:p>
            <a:pPr>
              <a:lnSpc>
                <a:spcPct val="150000"/>
              </a:lnSpc>
            </a:pPr>
            <a:r>
              <a:rPr lang="ru-RU" sz="2400" dirty="0" err="1"/>
              <a:t>Select</a:t>
            </a:r>
            <a:r>
              <a:rPr lang="ru-RU" sz="2400" dirty="0"/>
              <a:t> — выбор только нужных колонок (проекция</a:t>
            </a:r>
            <a:r>
              <a:rPr lang="ru-RU" sz="2400" dirty="0" smtClean="0"/>
              <a:t>).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7642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 EF </a:t>
            </a:r>
            <a:r>
              <a:rPr lang="ru-RU" sz="2400" dirty="0" err="1"/>
              <a:t>Core</a:t>
            </a:r>
            <a:r>
              <a:rPr lang="ru-RU" sz="2400" dirty="0"/>
              <a:t> есть два способа обновить данные: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b="1" dirty="0"/>
              <a:t>Классический (через трекинг):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Находим объект -&gt; меняем свойство -&gt; вызываем </a:t>
            </a:r>
            <a:r>
              <a:rPr lang="ru-RU" sz="2400" dirty="0" err="1"/>
              <a:t>SaveChanges</a:t>
            </a:r>
            <a:r>
              <a:rPr lang="ru-RU" sz="2400" dirty="0" smtClean="0"/>
              <a:t>().</a:t>
            </a:r>
          </a:p>
          <a:p>
            <a:pPr>
              <a:lnSpc>
                <a:spcPct val="150000"/>
              </a:lnSpc>
            </a:pPr>
            <a:endParaRPr lang="ru-RU" sz="2400" dirty="0" smtClean="0"/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.Customers.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.Name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Новое Имя"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SaveChanges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EF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Core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сам понял, что объект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изменился</a:t>
            </a:r>
            <a:endParaRPr lang="ru-RU" sz="2400" dirty="0" smtClean="0"/>
          </a:p>
        </p:txBody>
      </p:sp>
    </p:spTree>
    <p:extLst>
      <p:ext uri="{BB962C8B-B14F-4D97-AF65-F5344CB8AC3E}">
        <p14:creationId xmlns:p14="http://schemas.microsoft.com/office/powerpoint/2010/main" val="72930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60098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2"/>
            </a:pPr>
            <a:r>
              <a:rPr lang="ru-RU" sz="2400" b="1" dirty="0" smtClean="0"/>
              <a:t>Массовый </a:t>
            </a:r>
            <a:r>
              <a:rPr lang="ru-RU" sz="2400" b="1" dirty="0"/>
              <a:t>(</a:t>
            </a:r>
            <a:r>
              <a:rPr lang="ru-RU" sz="2400" b="1" dirty="0" err="1"/>
              <a:t>ExecuteUpdate</a:t>
            </a:r>
            <a:r>
              <a:rPr lang="ru-RU" sz="2400" b="1" dirty="0"/>
              <a:t>):</a:t>
            </a:r>
            <a:r>
              <a:rPr lang="ru-RU" sz="2400" dirty="0"/>
              <a:t/>
            </a:r>
            <a:br>
              <a:rPr lang="ru-RU" sz="2400" dirty="0"/>
            </a:br>
            <a:r>
              <a:rPr lang="ru-RU" sz="2400" dirty="0"/>
              <a:t>Позволяет обновить сотни записей одним запросом без загрузки их в память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endParaRPr lang="en-US" sz="2400" dirty="0" smtClean="0">
              <a:solidFill>
                <a:srgbClr val="1F377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.Customers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.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 50)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ExecuteUpdate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 smtClean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SetProperty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.Money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.Money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+ 100));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33984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Аналогично обновлению, удаление бывает точечным или массовым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Точечное удаление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.Notes.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(id);</a:t>
            </a:r>
          </a:p>
          <a:p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!=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.Notes.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Remove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SaveChanges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Быстрое удаление всех старых заметок (Массовое)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.Notes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.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.CreatedAt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DateTime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.Now.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AddYears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(-1))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ExecuteDelete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73618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По умолчанию EF </a:t>
            </a:r>
            <a:r>
              <a:rPr lang="ru-RU" sz="2400" dirty="0" err="1"/>
              <a:t>Core</a:t>
            </a:r>
            <a:r>
              <a:rPr lang="ru-RU" sz="2400" dirty="0"/>
              <a:t> «следит» за каждым загруженным объектом, чтобы заметить изменения. Это тратит ресурсы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b="1" dirty="0"/>
              <a:t>Правило:</a:t>
            </a:r>
            <a:r>
              <a:rPr lang="ru-RU" sz="2400" dirty="0"/>
              <a:t> Если вы просто читаете данные для отображения на экране (</a:t>
            </a:r>
            <a:r>
              <a:rPr lang="ru-RU" sz="2400" dirty="0" err="1"/>
              <a:t>Read-Only</a:t>
            </a:r>
            <a:r>
              <a:rPr lang="ru-RU" sz="2400" dirty="0"/>
              <a:t>) и не собираетесь их менять: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Используйте метод </a:t>
            </a:r>
            <a:r>
              <a:rPr lang="ru-RU" sz="2400" b="1" dirty="0"/>
              <a:t>.</a:t>
            </a:r>
            <a:r>
              <a:rPr lang="ru-RU" sz="2400" b="1" dirty="0" err="1"/>
              <a:t>AsNoTracking</a:t>
            </a:r>
            <a:r>
              <a:rPr lang="ru-RU" sz="2400" b="1" dirty="0" smtClean="0"/>
              <a:t>()</a:t>
            </a:r>
            <a:r>
              <a:rPr lang="ru-RU" sz="2400" dirty="0" smtClean="0"/>
              <a:t>.</a:t>
            </a:r>
            <a:endParaRPr lang="en-US" sz="2400" dirty="0" smtClean="0"/>
          </a:p>
          <a:p>
            <a:pPr>
              <a:lnSpc>
                <a:spcPct val="150000"/>
              </a:lnSpc>
            </a:pPr>
            <a:endParaRPr lang="en-US" sz="2400" dirty="0" smtClean="0"/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Работает в 2-3 раза быстрее и ест меньше памяти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8F08C4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await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.Notes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AsNoTracking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ToListAsync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760856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Работа с базой данных — это «медленная» операция (сеть, диск). Чтобы приложение не «зависало», все методы CRUD имеют асинхронные версии.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/>
              <a:t>Add</a:t>
            </a:r>
            <a:r>
              <a:rPr lang="ru-RU" sz="2400" b="1" dirty="0" err="1"/>
              <a:t>Async</a:t>
            </a:r>
            <a:r>
              <a:rPr lang="ru-RU" sz="2400" dirty="0"/>
              <a:t>()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/>
              <a:t>SaveChanges</a:t>
            </a:r>
            <a:r>
              <a:rPr lang="ru-RU" sz="2400" b="1" dirty="0" err="1"/>
              <a:t>Async</a:t>
            </a:r>
            <a:r>
              <a:rPr lang="ru-RU" sz="2400" dirty="0"/>
              <a:t>()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/>
              <a:t>ToList</a:t>
            </a:r>
            <a:r>
              <a:rPr lang="ru-RU" sz="2400" b="1" dirty="0" err="1"/>
              <a:t>Async</a:t>
            </a:r>
            <a:r>
              <a:rPr lang="ru-RU" sz="2400" dirty="0"/>
              <a:t>()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err="1"/>
              <a:t>FirstOrDefault</a:t>
            </a:r>
            <a:r>
              <a:rPr lang="ru-RU" sz="2400" b="1" dirty="0" err="1"/>
              <a:t>Async</a:t>
            </a:r>
            <a:r>
              <a:rPr lang="ru-RU" sz="2400" dirty="0"/>
              <a:t>()</a:t>
            </a:r>
          </a:p>
          <a:p>
            <a:pPr>
              <a:lnSpc>
                <a:spcPct val="150000"/>
              </a:lnSpc>
            </a:pPr>
            <a:r>
              <a:rPr lang="ru-RU" sz="2400" b="1" dirty="0"/>
              <a:t>Стандарт индустрии:</a:t>
            </a:r>
            <a:r>
              <a:rPr lang="ru-RU" sz="2400" dirty="0"/>
              <a:t> Всегда использовать асинхронные методы при работе с внешними ресурсами (БД, API).</a:t>
            </a:r>
          </a:p>
        </p:txBody>
      </p:sp>
    </p:spTree>
    <p:extLst>
      <p:ext uri="{BB962C8B-B14F-4D97-AF65-F5344CB8AC3E}">
        <p14:creationId xmlns:p14="http://schemas.microsoft.com/office/powerpoint/2010/main" val="4130971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Bookman Old Style"/>
        <a:ea typeface=""/>
        <a:cs typeface=""/>
      </a:majorFont>
      <a:minorFont>
        <a:latin typeface="Bookman Old Style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16294</TotalTime>
  <Words>771</Words>
  <Application>Microsoft Office PowerPoint</Application>
  <PresentationFormat>Широкоэкранный</PresentationFormat>
  <Paragraphs>297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7" baseType="lpstr">
      <vt:lpstr>Arial</vt:lpstr>
      <vt:lpstr>Bookman Old Style</vt:lpstr>
      <vt:lpstr>Calibri</vt:lpstr>
      <vt:lpstr>Cascadia Mono</vt:lpstr>
      <vt:lpstr>Consolas</vt:lpstr>
      <vt:lpstr>Times New Roman</vt:lpstr>
      <vt:lpstr>Тема Office</vt:lpstr>
      <vt:lpstr>6 семестр Лекция 6.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1037</cp:revision>
  <dcterms:modified xsi:type="dcterms:W3CDTF">2026-02-17T06:54:06Z</dcterms:modified>
</cp:coreProperties>
</file>