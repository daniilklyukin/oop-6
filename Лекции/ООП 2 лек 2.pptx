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4"/>
  </p:notesMasterIdLst>
  <p:sldIdLst>
    <p:sldId id="273" r:id="rId2"/>
    <p:sldId id="1112" r:id="rId3"/>
    <p:sldId id="1114" r:id="rId4"/>
    <p:sldId id="1115" r:id="rId5"/>
    <p:sldId id="1116" r:id="rId6"/>
    <p:sldId id="1119" r:id="rId7"/>
    <p:sldId id="1120" r:id="rId8"/>
    <p:sldId id="1128" r:id="rId9"/>
    <p:sldId id="1124" r:id="rId10"/>
    <p:sldId id="1127" r:id="rId11"/>
    <p:sldId id="1129" r:id="rId12"/>
    <p:sldId id="1131" r:id="rId13"/>
    <p:sldId id="1132" r:id="rId14"/>
    <p:sldId id="1133" r:id="rId15"/>
    <p:sldId id="1134" r:id="rId16"/>
    <p:sldId id="1135" r:id="rId17"/>
    <p:sldId id="1136" r:id="rId18"/>
    <p:sldId id="1137" r:id="rId19"/>
    <p:sldId id="1138" r:id="rId20"/>
    <p:sldId id="1140" r:id="rId21"/>
    <p:sldId id="1139" r:id="rId22"/>
    <p:sldId id="1141" r:id="rId23"/>
    <p:sldId id="1142" r:id="rId24"/>
    <p:sldId id="1143" r:id="rId25"/>
    <p:sldId id="1144" r:id="rId26"/>
    <p:sldId id="1145" r:id="rId27"/>
    <p:sldId id="1146" r:id="rId28"/>
    <p:sldId id="1147" r:id="rId29"/>
    <p:sldId id="1148" r:id="rId30"/>
    <p:sldId id="1149" r:id="rId31"/>
    <p:sldId id="1150" r:id="rId32"/>
    <p:sldId id="115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99" autoAdjust="0"/>
    <p:restoredTop sz="95343" autoAdjust="0"/>
  </p:normalViewPr>
  <p:slideViewPr>
    <p:cSldViewPr snapToGrid="0">
      <p:cViewPr varScale="1">
        <p:scale>
          <a:sx n="85" d="100"/>
          <a:sy n="85" d="100"/>
        </p:scale>
        <p:origin x="96" y="7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71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44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0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39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78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2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96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81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56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97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18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46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156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12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140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148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898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17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08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158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573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845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766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396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70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73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92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13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475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10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msdn.microsoft.com/johngossman/2005/10/08/introduction-to-modelviewviewmodel-pattern-for-building-wpf-app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2371218"/>
            <a:ext cx="10670534" cy="1718278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6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4089496"/>
            <a:ext cx="110413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Эволюция технологий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Desktop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Язык разметки XAML и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XML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Архитектурный паттерн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MVVM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Реализация MVVM (Интерфейсы и Команды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Практический пример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616059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Windows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Forms</a:t>
            </a:r>
            <a:r>
              <a:rPr lang="ru-RU" sz="2400" dirty="0">
                <a:latin typeface="Bookman Old Style" panose="02050604050505020204" pitchFamily="18" charset="0"/>
              </a:rPr>
              <a:t> — классическая технология для создания графических интерфейсов (GUI) в среде .NET. Является удобной «оберткой» над низкоуровневым Win32 API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ru-RU" sz="2400" b="1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Год рождения:</a:t>
            </a:r>
            <a:r>
              <a:rPr lang="ru-RU" sz="2400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 ~2002, вместе с .NET </a:t>
            </a:r>
            <a:r>
              <a:rPr lang="ru-RU" sz="2400" dirty="0" err="1" smtClean="0">
                <a:solidFill>
                  <a:srgbClr val="0F1115"/>
                </a:solidFill>
                <a:latin typeface="Bookman Old Style" panose="02050604050505020204" pitchFamily="18" charset="0"/>
              </a:rPr>
              <a:t>Framework</a:t>
            </a:r>
            <a:r>
              <a:rPr lang="ru-RU" sz="2400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.</a:t>
            </a:r>
            <a:endParaRPr lang="en-US" sz="2400" dirty="0">
              <a:solidFill>
                <a:srgbClr val="0F1115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Плюсы:</a:t>
            </a:r>
            <a:endParaRPr lang="ru-RU" sz="2400" dirty="0">
              <a:solidFill>
                <a:srgbClr val="0F1115"/>
              </a:solidFill>
              <a:latin typeface="Bookman Old Style" panose="02050604050505020204" pitchFamily="18" charset="0"/>
            </a:endParaRPr>
          </a:p>
          <a:p>
            <a:pPr marL="742950" lvl="1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Очень низкий порог входа.</a:t>
            </a:r>
          </a:p>
          <a:p>
            <a:pPr marL="742950" lvl="1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Быстрое создание простых приложений для </a:t>
            </a:r>
            <a:r>
              <a:rPr lang="ru-RU" sz="2400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Windows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.</a:t>
            </a:r>
          </a:p>
          <a:p>
            <a:pPr marL="742950" lvl="1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Огромная база знаний и готовых решений.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Минусы:</a:t>
            </a:r>
            <a:endParaRPr lang="ru-RU" sz="2400" dirty="0">
              <a:solidFill>
                <a:srgbClr val="0F1115"/>
              </a:solidFill>
              <a:latin typeface="Bookman Old Style" panose="02050604050505020204" pitchFamily="18" charset="0"/>
            </a:endParaRPr>
          </a:p>
          <a:p>
            <a:pPr marL="742950" lvl="1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Только для </a:t>
            </a:r>
            <a:r>
              <a:rPr lang="ru-RU" sz="2400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Windows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.</a:t>
            </a:r>
          </a:p>
          <a:p>
            <a:pPr marL="742950" lvl="1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Внешний вид привязан к версии </a:t>
            </a:r>
            <a:r>
              <a:rPr lang="ru-RU" sz="2400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Windows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. Сложно </a:t>
            </a:r>
            <a:r>
              <a:rPr lang="ru-RU" sz="2400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кастомизировать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.</a:t>
            </a:r>
          </a:p>
          <a:p>
            <a:pPr marL="742950" lvl="1" indent="-28575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«Спагетти-код». Вся логика пишется внутри обработчика нажатия кнопки (</a:t>
            </a:r>
            <a:r>
              <a:rPr lang="ru-RU" sz="2400" dirty="0" err="1">
                <a:solidFill>
                  <a:srgbClr val="0F1115"/>
                </a:solidFill>
                <a:latin typeface="Bookman Old Style" panose="02050604050505020204" pitchFamily="18" charset="0"/>
              </a:rPr>
              <a:t>button_Click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). Это нарушает принципы ООП (единственная ответственность</a:t>
            </a:r>
            <a:r>
              <a:rPr lang="ru-RU" sz="2400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F1115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Эволюция технологий </a:t>
            </a:r>
            <a:r>
              <a:rPr lang="en-US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Desktop</a:t>
            </a:r>
            <a:r>
              <a:rPr lang="ru-RU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. </a:t>
            </a:r>
            <a:r>
              <a:rPr lang="ru-RU" sz="2800" b="1" dirty="0" err="1" smtClean="0">
                <a:solidFill>
                  <a:srgbClr val="202122"/>
                </a:solidFill>
                <a:latin typeface="Bookman Old Style" panose="02050604050505020204" pitchFamily="18" charset="0"/>
              </a:rPr>
              <a:t>Windows</a:t>
            </a:r>
            <a:r>
              <a:rPr lang="ru-RU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 </a:t>
            </a:r>
            <a:r>
              <a:rPr lang="ru-RU" sz="2800" b="1" dirty="0" err="1" smtClean="0">
                <a:solidFill>
                  <a:srgbClr val="202122"/>
                </a:solidFill>
                <a:latin typeface="Bookman Old Style" panose="02050604050505020204" pitchFamily="18" charset="0"/>
              </a:rPr>
              <a:t>Forms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38200" y="2538413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64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WPF</a:t>
            </a:r>
            <a:r>
              <a:rPr lang="ru-RU" sz="2400" dirty="0">
                <a:latin typeface="Bookman Old Style" panose="02050604050505020204" pitchFamily="18" charset="0"/>
              </a:rPr>
              <a:t> — современная графическая подсистема .NET для создания визуально насыщенных </a:t>
            </a:r>
            <a:r>
              <a:rPr lang="ru-RU" sz="2400" dirty="0" err="1" smtClean="0">
                <a:latin typeface="Bookman Old Style" panose="02050604050505020204" pitchFamily="18" charset="0"/>
              </a:rPr>
              <a:t>Windows</a:t>
            </a:r>
            <a:r>
              <a:rPr lang="ru-RU" sz="2400" dirty="0" smtClean="0">
                <a:latin typeface="Bookman Old Style" panose="02050604050505020204" pitchFamily="18" charset="0"/>
              </a:rPr>
              <a:t>-приложений. Внешний </a:t>
            </a:r>
            <a:r>
              <a:rPr lang="ru-RU" sz="2400" dirty="0">
                <a:latin typeface="Bookman Old Style" panose="02050604050505020204" pitchFamily="18" charset="0"/>
              </a:rPr>
              <a:t>вид описывается на языке </a:t>
            </a:r>
            <a:r>
              <a:rPr lang="ru-RU" sz="2400" b="1" dirty="0">
                <a:latin typeface="Bookman Old Style" panose="02050604050505020204" pitchFamily="18" charset="0"/>
              </a:rPr>
              <a:t>XAML</a:t>
            </a:r>
            <a:r>
              <a:rPr lang="ru-RU" sz="2400" dirty="0">
                <a:latin typeface="Bookman Old Style" panose="02050604050505020204" pitchFamily="18" charset="0"/>
              </a:rPr>
              <a:t>, а бизнес-логика пишется на </a:t>
            </a:r>
            <a:r>
              <a:rPr lang="ru-RU" sz="2400" b="1" dirty="0">
                <a:latin typeface="Bookman Old Style" panose="02050604050505020204" pitchFamily="18" charset="0"/>
              </a:rPr>
              <a:t>C</a:t>
            </a:r>
            <a:r>
              <a:rPr lang="ru-RU" sz="2400" b="1" dirty="0" smtClean="0">
                <a:latin typeface="Bookman Old Style" panose="02050604050505020204" pitchFamily="18" charset="0"/>
              </a:rPr>
              <a:t>#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Год рождения:</a:t>
            </a:r>
            <a:r>
              <a:rPr lang="ru-RU" sz="2400" dirty="0">
                <a:latin typeface="Bookman Old Style" panose="02050604050505020204" pitchFamily="18" charset="0"/>
              </a:rPr>
              <a:t> 2006 (в составе .NET </a:t>
            </a:r>
            <a:r>
              <a:rPr lang="ru-RU" sz="2400" dirty="0" err="1">
                <a:latin typeface="Bookman Old Style" panose="02050604050505020204" pitchFamily="18" charset="0"/>
              </a:rPr>
              <a:t>Framework</a:t>
            </a:r>
            <a:r>
              <a:rPr lang="ru-RU" sz="2400" dirty="0">
                <a:latin typeface="Bookman Old Style" panose="02050604050505020204" pitchFamily="18" charset="0"/>
              </a:rPr>
              <a:t> 3.0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1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Ключевые </a:t>
            </a:r>
            <a:r>
              <a:rPr lang="ru-RU" sz="2400" b="1" dirty="0">
                <a:latin typeface="Bookman Old Style" panose="02050604050505020204" pitchFamily="18" charset="0"/>
              </a:rPr>
              <a:t>особенности и отличия: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ru-RU" sz="2400" b="1" dirty="0">
                <a:latin typeface="Bookman Old Style" panose="02050604050505020204" pitchFamily="18" charset="0"/>
              </a:rPr>
              <a:t>Векторная графика:</a:t>
            </a:r>
            <a:r>
              <a:rPr lang="ru-RU" sz="2400" dirty="0">
                <a:latin typeface="Bookman Old Style" panose="02050604050505020204" pitchFamily="18" charset="0"/>
              </a:rPr>
              <a:t> Интерфейс не зависит от разрешения экрана (не «</a:t>
            </a:r>
            <a:r>
              <a:rPr lang="ru-RU" sz="2400" dirty="0" err="1">
                <a:latin typeface="Bookman Old Style" panose="02050604050505020204" pitchFamily="18" charset="0"/>
              </a:rPr>
              <a:t>пикселизуется</a:t>
            </a:r>
            <a:r>
              <a:rPr lang="ru-RU" sz="2400" dirty="0">
                <a:latin typeface="Bookman Old Style" panose="02050604050505020204" pitchFamily="18" charset="0"/>
              </a:rPr>
              <a:t>» при масштабировании).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ru-RU" sz="2400" b="1" dirty="0">
                <a:latin typeface="Bookman Old Style" panose="02050604050505020204" pitchFamily="18" charset="0"/>
              </a:rPr>
              <a:t>Аппаратное ускорение:</a:t>
            </a:r>
            <a:r>
              <a:rPr lang="ru-RU" sz="2400" dirty="0">
                <a:latin typeface="Bookman Old Style" panose="02050604050505020204" pitchFamily="18" charset="0"/>
              </a:rPr>
              <a:t> В отличие от </a:t>
            </a:r>
            <a:r>
              <a:rPr lang="ru-RU" sz="2400" dirty="0" err="1">
                <a:latin typeface="Bookman Old Style" panose="02050604050505020204" pitchFamily="18" charset="0"/>
              </a:rPr>
              <a:t>WinForms</a:t>
            </a:r>
            <a:r>
              <a:rPr lang="ru-RU" sz="2400" dirty="0">
                <a:latin typeface="Bookman Old Style" panose="02050604050505020204" pitchFamily="18" charset="0"/>
              </a:rPr>
              <a:t> (GDI+), WPF использует </a:t>
            </a:r>
            <a:r>
              <a:rPr lang="ru-RU" sz="2400" b="1" dirty="0" err="1">
                <a:latin typeface="Bookman Old Style" panose="02050604050505020204" pitchFamily="18" charset="0"/>
              </a:rPr>
              <a:t>DirectX</a:t>
            </a:r>
            <a:r>
              <a:rPr lang="ru-RU" sz="2400" dirty="0">
                <a:latin typeface="Bookman Old Style" panose="02050604050505020204" pitchFamily="18" charset="0"/>
              </a:rPr>
              <a:t>. Это позволяет легко работать с </a:t>
            </a:r>
            <a:r>
              <a:rPr lang="ru-RU" sz="2400" dirty="0" err="1">
                <a:latin typeface="Bookman Old Style" panose="02050604050505020204" pitchFamily="18" charset="0"/>
              </a:rPr>
              <a:t>анимациями</a:t>
            </a:r>
            <a:r>
              <a:rPr lang="ru-RU" sz="2400" dirty="0">
                <a:latin typeface="Bookman Old Style" panose="02050604050505020204" pitchFamily="18" charset="0"/>
              </a:rPr>
              <a:t>, 2D/3D графикой и мультимедиа.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ru-RU" sz="2400" b="1" dirty="0">
                <a:latin typeface="Bookman Old Style" panose="02050604050505020204" pitchFamily="18" charset="0"/>
              </a:rPr>
              <a:t>Гибкая стилизация:</a:t>
            </a:r>
            <a:r>
              <a:rPr lang="ru-RU" sz="2400" dirty="0">
                <a:latin typeface="Bookman Old Style" panose="02050604050505020204" pitchFamily="18" charset="0"/>
              </a:rPr>
              <a:t> Мощная система стилей и шаблонов (аналог CSS в вебе), позволяющая полностью изменить вид любого элемента.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ru-RU" sz="2400" b="1" dirty="0">
                <a:latin typeface="Bookman Old Style" panose="02050604050505020204" pitchFamily="18" charset="0"/>
              </a:rPr>
              <a:t>Связывание данных (</a:t>
            </a:r>
            <a:r>
              <a:rPr lang="ru-RU" sz="2400" b="1" dirty="0" err="1">
                <a:latin typeface="Bookman Old Style" panose="02050604050505020204" pitchFamily="18" charset="0"/>
              </a:rPr>
              <a:t>Data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Binding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Продвинутый механизм синхронизации данных между кодом и интерфейсом.</a:t>
            </a:r>
          </a:p>
        </p:txBody>
      </p:sp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Windows Presentation Foundation (WPF)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280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Avalonia</a:t>
            </a:r>
            <a:r>
              <a:rPr lang="ru-RU" sz="2400" dirty="0" smtClean="0">
                <a:latin typeface="Bookman Old Style" panose="02050604050505020204" pitchFamily="18" charset="0"/>
              </a:rPr>
              <a:t> — это мощный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open-source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err="1" smtClean="0">
                <a:latin typeface="Bookman Old Style" panose="02050604050505020204" pitchFamily="18" charset="0"/>
              </a:rPr>
              <a:t>фреймворк</a:t>
            </a:r>
            <a:r>
              <a:rPr lang="ru-RU" sz="2400" dirty="0" smtClean="0">
                <a:latin typeface="Bookman Old Style" panose="02050604050505020204" pitchFamily="18" charset="0"/>
              </a:rPr>
              <a:t> для создания кроссплатформенных графических интерфейсов на базе .NET.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Наследник WPF:</a:t>
            </a:r>
            <a:r>
              <a:rPr lang="ru-RU" sz="2400" dirty="0" smtClean="0">
                <a:latin typeface="Bookman Old Style" panose="02050604050505020204" pitchFamily="18" charset="0"/>
              </a:rPr>
              <a:t> Построен на принципах WPF и UWP, что делает переход на него максимально легким для .NET-разработчиков.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Год появления:</a:t>
            </a:r>
            <a:r>
              <a:rPr lang="ru-RU" sz="2400" dirty="0" smtClean="0">
                <a:latin typeface="Bookman Old Style" panose="02050604050505020204" pitchFamily="18" charset="0"/>
              </a:rPr>
              <a:t> ~2013 (активное развитие началось с выходом .NET </a:t>
            </a:r>
            <a:r>
              <a:rPr lang="ru-RU" sz="2400" dirty="0" err="1" smtClean="0">
                <a:latin typeface="Bookman Old Style" panose="02050604050505020204" pitchFamily="18" charset="0"/>
              </a:rPr>
              <a:t>Core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solidFill>
                  <a:srgbClr val="0F1115"/>
                </a:solidFill>
                <a:latin typeface="Bookman Old Style" panose="02050604050505020204" pitchFamily="18" charset="0"/>
              </a:rPr>
              <a:t>Кроссплатформенность </a:t>
            </a:r>
            <a:r>
              <a:rPr lang="ru-RU" sz="2400" dirty="0">
                <a:solidFill>
                  <a:srgbClr val="0F1115"/>
                </a:solidFill>
                <a:latin typeface="Bookman Old Style" panose="02050604050505020204" pitchFamily="18" charset="0"/>
              </a:rPr>
              <a:t>– свойство программного обеспечения, позволяющее ему работать с несколькими операционными системами или аппаратными платформами без изменения исходного кода</a:t>
            </a:r>
            <a:r>
              <a:rPr lang="ru-RU" sz="2400" dirty="0" smtClean="0">
                <a:solidFill>
                  <a:srgbClr val="0F1115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F1115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rgbClr val="202122"/>
                </a:solidFill>
                <a:latin typeface="Bookman Old Style" panose="02050604050505020204" pitchFamily="18" charset="0"/>
              </a:rPr>
              <a:t>Avalonia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Avalonia UI (@avaloniaui@dotnet.social) - dotnet.soci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073" y="3747510"/>
            <a:ext cx="3769856" cy="125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6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Ключевые особенности: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Разделение ответственности:</a:t>
            </a:r>
            <a:r>
              <a:rPr lang="ru-RU" sz="2400" dirty="0" smtClean="0">
                <a:latin typeface="Bookman Old Style" panose="02050604050505020204" pitchFamily="18" charset="0"/>
              </a:rPr>
              <a:t> Полная поддержка связки </a:t>
            </a:r>
            <a:r>
              <a:rPr lang="ru-RU" sz="2400" b="1" dirty="0" smtClean="0">
                <a:latin typeface="Bookman Old Style" panose="02050604050505020204" pitchFamily="18" charset="0"/>
              </a:rPr>
              <a:t>XAML</a:t>
            </a:r>
            <a:r>
              <a:rPr lang="ru-RU" sz="2400" dirty="0" smtClean="0">
                <a:latin typeface="Bookman Old Style" panose="02050604050505020204" pitchFamily="18" charset="0"/>
              </a:rPr>
              <a:t> (интерфейс) + </a:t>
            </a:r>
            <a:r>
              <a:rPr lang="ru-RU" sz="2400" b="1" dirty="0" smtClean="0">
                <a:latin typeface="Bookman Old Style" panose="02050604050505020204" pitchFamily="18" charset="0"/>
              </a:rPr>
              <a:t>C#</a:t>
            </a:r>
            <a:r>
              <a:rPr lang="ru-RU" sz="2400" dirty="0" smtClean="0">
                <a:latin typeface="Bookman Old Style" panose="02050604050505020204" pitchFamily="18" charset="0"/>
              </a:rPr>
              <a:t> (логика), что обеспечивает чистоту и гибкость кода.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Векторная графика:</a:t>
            </a:r>
            <a:r>
              <a:rPr lang="ru-RU" sz="2400" dirty="0" smtClean="0">
                <a:latin typeface="Bookman Old Style" panose="02050604050505020204" pitchFamily="18" charset="0"/>
              </a:rPr>
              <a:t> Интерфейс </a:t>
            </a:r>
            <a:r>
              <a:rPr lang="ru-RU" sz="2400" dirty="0" err="1" smtClean="0">
                <a:latin typeface="Bookman Old Style" panose="02050604050505020204" pitchFamily="18" charset="0"/>
              </a:rPr>
              <a:t>отрисовывается</a:t>
            </a:r>
            <a:r>
              <a:rPr lang="ru-RU" sz="2400" dirty="0" smtClean="0">
                <a:latin typeface="Bookman Old Style" panose="02050604050505020204" pitchFamily="18" charset="0"/>
              </a:rPr>
              <a:t> через собственную систему визуализации. Результат: идеальная четкость на любых экранах и ОС.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Кроссплатформенность: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Desktop</a:t>
            </a:r>
            <a:r>
              <a:rPr lang="ru-RU" sz="2400" b="1" dirty="0" smtClean="0">
                <a:latin typeface="Bookman Old Style" panose="02050604050505020204" pitchFamily="18" charset="0"/>
              </a:rPr>
              <a:t> (основное):</a:t>
            </a:r>
            <a:r>
              <a:rPr lang="ru-RU" sz="2400" dirty="0" smtClean="0">
                <a:latin typeface="Bookman Old Style" panose="02050604050505020204" pitchFamily="18" charset="0"/>
              </a:rPr>
              <a:t> Единый код для 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Windows</a:t>
            </a:r>
            <a:r>
              <a:rPr lang="ru-RU" sz="2400" b="1" dirty="0" smtClean="0">
                <a:latin typeface="Bookman Old Style" panose="02050604050505020204" pitchFamily="18" charset="0"/>
              </a:rPr>
              <a:t>,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Linux</a:t>
            </a:r>
            <a:r>
              <a:rPr lang="ru-RU" sz="2400" b="1" dirty="0" smtClean="0">
                <a:latin typeface="Bookman Old Style" panose="02050604050505020204" pitchFamily="18" charset="0"/>
              </a:rPr>
              <a:t> и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macOS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Mobile</a:t>
            </a:r>
            <a:r>
              <a:rPr lang="ru-RU" sz="2400" b="1" dirty="0" smtClean="0">
                <a:latin typeface="Bookman Old Style" panose="02050604050505020204" pitchFamily="18" charset="0"/>
              </a:rPr>
              <a:t> &amp;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Web</a:t>
            </a:r>
            <a:r>
              <a:rPr lang="ru-RU" sz="2400" b="1" dirty="0" smtClean="0">
                <a:latin typeface="Bookman Old Style" panose="02050604050505020204" pitchFamily="18" charset="0"/>
              </a:rPr>
              <a:t>:</a:t>
            </a:r>
            <a:r>
              <a:rPr lang="ru-RU" sz="2400" dirty="0" smtClean="0">
                <a:latin typeface="Bookman Old Style" panose="02050604050505020204" pitchFamily="18" charset="0"/>
              </a:rPr>
              <a:t> Экспериментальная поддержка </a:t>
            </a:r>
            <a:r>
              <a:rPr lang="ru-RU" sz="2400" dirty="0" err="1" smtClean="0">
                <a:latin typeface="Bookman Old Style" panose="02050604050505020204" pitchFamily="18" charset="0"/>
              </a:rPr>
              <a:t>iOS</a:t>
            </a:r>
            <a:r>
              <a:rPr lang="ru-RU" sz="2400" dirty="0" smtClean="0">
                <a:latin typeface="Bookman Old Style" panose="02050604050505020204" pitchFamily="18" charset="0"/>
              </a:rPr>
              <a:t>, </a:t>
            </a:r>
            <a:r>
              <a:rPr lang="ru-RU" sz="2400" dirty="0" err="1" smtClean="0">
                <a:latin typeface="Bookman Old Style" panose="02050604050505020204" pitchFamily="18" charset="0"/>
              </a:rPr>
              <a:t>Android</a:t>
            </a:r>
            <a:r>
              <a:rPr lang="ru-RU" sz="2400" dirty="0" smtClean="0">
                <a:latin typeface="Bookman Old Style" panose="02050604050505020204" pitchFamily="18" charset="0"/>
              </a:rPr>
              <a:t> и браузера (</a:t>
            </a:r>
            <a:r>
              <a:rPr lang="ru-RU" sz="2400" dirty="0" err="1" smtClean="0">
                <a:latin typeface="Bookman Old Style" panose="02050604050505020204" pitchFamily="18" charset="0"/>
              </a:rPr>
              <a:t>WebAssembly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Open</a:t>
            </a:r>
            <a:r>
              <a:rPr lang="ru-RU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Source</a:t>
            </a:r>
            <a:r>
              <a:rPr lang="ru-RU" sz="2400" b="1" dirty="0" smtClean="0">
                <a:latin typeface="Bookman Old Style" panose="02050604050505020204" pitchFamily="18" charset="0"/>
              </a:rPr>
              <a:t>:</a:t>
            </a:r>
            <a:r>
              <a:rPr lang="ru-RU" sz="2400" dirty="0" smtClean="0">
                <a:latin typeface="Bookman Old Style" panose="02050604050505020204" pitchFamily="18" charset="0"/>
              </a:rPr>
              <a:t> Распространяется под свободной лицензией MIT.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20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XML (</a:t>
            </a:r>
            <a:r>
              <a:rPr lang="ru-RU" sz="2400" b="1" dirty="0" err="1">
                <a:latin typeface="Bookman Old Style" panose="02050604050505020204" pitchFamily="18" charset="0"/>
              </a:rPr>
              <a:t>eExtensible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Markup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Language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  <a:r>
              <a:rPr lang="ru-RU" sz="2400" dirty="0">
                <a:latin typeface="Bookman Old Style" panose="02050604050505020204" pitchFamily="18" charset="0"/>
              </a:rPr>
              <a:t> — расширяемый язык разметки для хранения и передачи структурированных данных.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Опубликован:</a:t>
            </a:r>
            <a:r>
              <a:rPr lang="ru-RU" sz="2400" dirty="0">
                <a:latin typeface="Bookman Old Style" panose="02050604050505020204" pitchFamily="18" charset="0"/>
              </a:rPr>
              <a:t> 1998 г.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Главная особенность:</a:t>
            </a:r>
            <a:r>
              <a:rPr lang="ru-RU" sz="2400" dirty="0">
                <a:latin typeface="Bookman Old Style" panose="02050604050505020204" pitchFamily="18" charset="0"/>
              </a:rPr>
              <a:t> Отсутствие фиксированных тегов. Разработчик сам определяет имена элементов исходя из предметной области.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Назначение: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Универсальный формат обмена данными между разными системами.</a:t>
            </a:r>
          </a:p>
          <a:p>
            <a:pPr lvl="1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Человекочитаемая</a:t>
            </a:r>
            <a:r>
              <a:rPr lang="ru-RU" sz="2400" dirty="0">
                <a:latin typeface="Bookman Old Style" panose="02050604050505020204" pitchFamily="18" charset="0"/>
              </a:rPr>
              <a:t> структура.</a:t>
            </a: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Машинная независимость.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Язык разметки </a:t>
            </a:r>
            <a:r>
              <a:rPr lang="ru-RU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XML и </a:t>
            </a:r>
            <a:r>
              <a:rPr lang="ru-RU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XAML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07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habrastorage.org/r/w1560/webt/r-/y_/tq/r-y_tqlxmqkkq_otfb2-gplu7n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202916"/>
            <a:ext cx="5715000" cy="331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0" y="0"/>
            <a:ext cx="6884894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XML имеет строгую иерархическую структуру.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1. Пролог (необязательно):</a:t>
            </a:r>
            <a:r>
              <a:rPr lang="ru-RU" sz="2400" dirty="0">
                <a:latin typeface="Bookman Old Style" panose="02050604050505020204" pitchFamily="18" charset="0"/>
              </a:rPr>
              <a:t> Указывает версию и кодировку.</a:t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&lt;?</a:t>
            </a:r>
            <a:r>
              <a:rPr lang="ru-RU" sz="2400" dirty="0" err="1">
                <a:latin typeface="Bookman Old Style" panose="02050604050505020204" pitchFamily="18" charset="0"/>
              </a:rPr>
              <a:t>xml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version</a:t>
            </a:r>
            <a:r>
              <a:rPr lang="ru-RU" sz="2400" dirty="0">
                <a:latin typeface="Bookman Old Style" panose="02050604050505020204" pitchFamily="18" charset="0"/>
              </a:rPr>
              <a:t>="1.0" </a:t>
            </a:r>
            <a:r>
              <a:rPr lang="ru-RU" sz="2400" dirty="0" err="1">
                <a:latin typeface="Bookman Old Style" panose="02050604050505020204" pitchFamily="18" charset="0"/>
              </a:rPr>
              <a:t>encoding</a:t>
            </a:r>
            <a:r>
              <a:rPr lang="ru-RU" sz="2400" dirty="0">
                <a:latin typeface="Bookman Old Style" panose="02050604050505020204" pitchFamily="18" charset="0"/>
              </a:rPr>
              <a:t>="UTF-8"?&gt;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2. Корневой элемент:</a:t>
            </a:r>
            <a:r>
              <a:rPr lang="ru-RU" sz="2400" dirty="0">
                <a:latin typeface="Bookman Old Style" panose="02050604050505020204" pitchFamily="18" charset="0"/>
              </a:rPr>
              <a:t> Обязательный «родительский» тег, в который вложены все остальные данные.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3. Элементы и Теги: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Данные заключаются в открывающий и закрывающий теги: &lt;</a:t>
            </a:r>
            <a:r>
              <a:rPr lang="ru-RU" sz="2400" dirty="0" err="1">
                <a:latin typeface="Bookman Old Style" panose="02050604050505020204" pitchFamily="18" charset="0"/>
              </a:rPr>
              <a:t>name</a:t>
            </a:r>
            <a:r>
              <a:rPr lang="ru-RU" sz="2400" dirty="0">
                <a:latin typeface="Bookman Old Style" panose="02050604050505020204" pitchFamily="18" charset="0"/>
              </a:rPr>
              <a:t>&gt;Иван&lt;/</a:t>
            </a:r>
            <a:r>
              <a:rPr lang="ru-RU" sz="2400" dirty="0" err="1">
                <a:latin typeface="Bookman Old Style" panose="02050604050505020204" pitchFamily="18" charset="0"/>
              </a:rPr>
              <a:t>name</a:t>
            </a:r>
            <a:r>
              <a:rPr lang="ru-RU" sz="2400" dirty="0" smtClean="0">
                <a:latin typeface="Bookman Old Style" panose="02050604050505020204" pitchFamily="18" charset="0"/>
              </a:rPr>
              <a:t>&gt;.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https://habrastorage.org/r/w1560/webt/pv/cg/tx/pvcgtxsrt8o3-ewdeqbp77ogwi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31115"/>
            <a:ext cx="5715000" cy="297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28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habrastorage.org/r/w1560/webt/cp/ms/ln/cpmslnauu_14-kdbyvw7uw7dgh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94" y="1683141"/>
            <a:ext cx="7700682" cy="517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0" y="0"/>
            <a:ext cx="12192000" cy="230832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4</a:t>
            </a:r>
            <a:r>
              <a:rPr lang="ru-RU" sz="2400" b="1" dirty="0">
                <a:latin typeface="Bookman Old Style" panose="02050604050505020204" pitchFamily="18" charset="0"/>
              </a:rPr>
              <a:t>. Атрибуты: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Дополнительные свойства элементов в формате имя="значение". Позволяют уточнить характеристики без создания новых вложенных элементов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44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XML: что это за формат и как он используется | Unisen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788" y="0"/>
            <a:ext cx="10233212" cy="680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24117" y="0"/>
            <a:ext cx="17346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04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XAML</a:t>
            </a:r>
            <a:r>
              <a:rPr lang="ru-RU" sz="2400" dirty="0">
                <a:latin typeface="Bookman Old Style" panose="02050604050505020204" pitchFamily="18" charset="0"/>
              </a:rPr>
              <a:t> — язык на базе XML, созданный </a:t>
            </a:r>
            <a:r>
              <a:rPr lang="ru-RU" sz="2400" dirty="0" err="1">
                <a:latin typeface="Bookman Old Style" panose="02050604050505020204" pitchFamily="18" charset="0"/>
              </a:rPr>
              <a:t>Microsoft</a:t>
            </a:r>
            <a:r>
              <a:rPr lang="ru-RU" sz="2400" dirty="0">
                <a:latin typeface="Bookman Old Style" panose="02050604050505020204" pitchFamily="18" charset="0"/>
              </a:rPr>
              <a:t> для проектирования пользовательских интерфейсов.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Разделение дизайна и логики. Дизайнер описывает внешний вид в XAML, программист пишет логику на C#.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Ключевые возможности: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Декларативность:</a:t>
            </a:r>
            <a:r>
              <a:rPr lang="ru-RU" sz="2400" dirty="0">
                <a:latin typeface="Bookman Old Style" panose="02050604050505020204" pitchFamily="18" charset="0"/>
              </a:rPr>
              <a:t> Вы описываете </a:t>
            </a:r>
            <a:r>
              <a:rPr lang="ru-RU" sz="2400" i="1" dirty="0">
                <a:latin typeface="Bookman Old Style" panose="02050604050505020204" pitchFamily="18" charset="0"/>
              </a:rPr>
              <a:t>что</a:t>
            </a:r>
            <a:r>
              <a:rPr lang="ru-RU" sz="2400" dirty="0">
                <a:latin typeface="Bookman Old Style" panose="02050604050505020204" pitchFamily="18" charset="0"/>
              </a:rPr>
              <a:t> должно быть на экране (кнопка, слайдер), а не </a:t>
            </a:r>
            <a:r>
              <a:rPr lang="ru-RU" sz="2400" i="1" dirty="0">
                <a:latin typeface="Bookman Old Style" panose="02050604050505020204" pitchFamily="18" charset="0"/>
              </a:rPr>
              <a:t>как</a:t>
            </a:r>
            <a:r>
              <a:rPr lang="ru-RU" sz="2400" dirty="0">
                <a:latin typeface="Bookman Old Style" panose="02050604050505020204" pitchFamily="18" charset="0"/>
              </a:rPr>
              <a:t> его рисовать.</a:t>
            </a:r>
          </a:p>
          <a:p>
            <a:pPr lvl="1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Стилизация:</a:t>
            </a:r>
            <a:r>
              <a:rPr lang="ru-RU" sz="2400" dirty="0">
                <a:latin typeface="Bookman Old Style" panose="02050604050505020204" pitchFamily="18" charset="0"/>
              </a:rPr>
              <a:t> Мощная поддержка стилей (аналог CSS).</a:t>
            </a:r>
          </a:p>
          <a:p>
            <a:pPr lvl="1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Data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Binding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Продвинутая синхронизация данных между интерфейсом и кодом.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smtClean="0">
                <a:solidFill>
                  <a:srgbClr val="202122"/>
                </a:solidFill>
                <a:latin typeface="Bookman Old Style" panose="02050604050505020204" pitchFamily="18" charset="0"/>
              </a:rPr>
              <a:t>XAML</a:t>
            </a:r>
            <a:endParaRPr lang="ru-RU" sz="2800" b="1" dirty="0">
              <a:solidFill>
                <a:srgbClr val="202122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62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2B2D31"/>
                </a:solidFill>
                <a:latin typeface="Bookman Old Style" panose="02050604050505020204" pitchFamily="18" charset="0"/>
              </a:rPr>
              <a:t>Пример структуры:</a:t>
            </a:r>
            <a:endParaRPr lang="en-US" sz="2400" dirty="0" smtClean="0">
              <a:solidFill>
                <a:srgbClr val="80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800000"/>
                </a:solidFill>
                <a:latin typeface="Bookman Old Style" panose="02050604050505020204" pitchFamily="18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Bookman Old Style" panose="02050604050505020204" pitchFamily="18" charset="0"/>
              </a:rPr>
              <a:t>StackPanel</a:t>
            </a:r>
            <a:r>
              <a:rPr lang="en-US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Bookman Old Style" panose="02050604050505020204" pitchFamily="18" charset="0"/>
              </a:rPr>
              <a:t>Orientation</a:t>
            </a:r>
            <a:r>
              <a:rPr lang="en-US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Bookman Old Style" panose="02050604050505020204" pitchFamily="18" charset="0"/>
              </a:rPr>
              <a:t>"Horizontal"</a:t>
            </a:r>
            <a:r>
              <a:rPr lang="en-US" sz="2400" dirty="0">
                <a:solidFill>
                  <a:srgbClr val="800000"/>
                </a:solidFill>
                <a:latin typeface="Bookman Old Style" panose="02050604050505020204" pitchFamily="18" charset="0"/>
              </a:rPr>
              <a:t>&gt;</a:t>
            </a:r>
            <a:endParaRPr lang="en-US" sz="2400" dirty="0">
              <a:solidFill>
                <a:srgbClr val="3B3B3B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   </a:t>
            </a:r>
            <a:r>
              <a:rPr lang="en-US" sz="2400" dirty="0">
                <a:solidFill>
                  <a:srgbClr val="800000"/>
                </a:solidFill>
                <a:latin typeface="Bookman Old Style" panose="02050604050505020204" pitchFamily="18" charset="0"/>
              </a:rPr>
              <a:t>&lt;Button</a:t>
            </a:r>
            <a:r>
              <a:rPr lang="en-US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Bookman Old Style" panose="02050604050505020204" pitchFamily="18" charset="0"/>
              </a:rPr>
              <a:t>Content</a:t>
            </a:r>
            <a:r>
              <a:rPr lang="en-US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Bookman Old Style" panose="02050604050505020204" pitchFamily="18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Bookman Old Style" panose="02050604050505020204" pitchFamily="18" charset="0"/>
              </a:rPr>
              <a:t>Нажать"</a:t>
            </a:r>
            <a:r>
              <a:rPr lang="ru-RU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Bookman Old Style" panose="02050604050505020204" pitchFamily="18" charset="0"/>
              </a:rPr>
              <a:t>Width</a:t>
            </a:r>
            <a:r>
              <a:rPr lang="en-US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Bookman Old Style" panose="02050604050505020204" pitchFamily="18" charset="0"/>
              </a:rPr>
              <a:t>"100"</a:t>
            </a:r>
            <a:r>
              <a:rPr lang="en-US" sz="2400" dirty="0">
                <a:solidFill>
                  <a:srgbClr val="800000"/>
                </a:solidFill>
                <a:latin typeface="Bookman Old Style" panose="02050604050505020204" pitchFamily="18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   </a:t>
            </a:r>
            <a:r>
              <a:rPr lang="en-US" sz="2400" dirty="0">
                <a:solidFill>
                  <a:srgbClr val="800000"/>
                </a:solidFill>
                <a:latin typeface="Bookman Old Style" panose="02050604050505020204" pitchFamily="18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Bookman Old Style" panose="02050604050505020204" pitchFamily="18" charset="0"/>
              </a:rPr>
              <a:t>TextBox</a:t>
            </a:r>
            <a:r>
              <a:rPr lang="en-US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Bookman Old Style" panose="02050604050505020204" pitchFamily="18" charset="0"/>
              </a:rPr>
              <a:t>Text</a:t>
            </a:r>
            <a:r>
              <a:rPr lang="en-US" sz="2400" dirty="0">
                <a:solidFill>
                  <a:srgbClr val="3B3B3B"/>
                </a:solidFill>
                <a:latin typeface="Bookman Old Style" panose="02050604050505020204" pitchFamily="18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Bookman Old Style" panose="02050604050505020204" pitchFamily="18" charset="0"/>
              </a:rPr>
              <a:t>"{Binding </a:t>
            </a:r>
            <a:r>
              <a:rPr lang="en-US" sz="2400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UserName</a:t>
            </a:r>
            <a:r>
              <a:rPr lang="en-US" sz="2400" dirty="0">
                <a:solidFill>
                  <a:srgbClr val="0000FF"/>
                </a:solidFill>
                <a:latin typeface="Bookman Old Style" panose="02050604050505020204" pitchFamily="18" charset="0"/>
              </a:rPr>
              <a:t>}"</a:t>
            </a:r>
            <a:r>
              <a:rPr lang="en-US" sz="2400" dirty="0">
                <a:solidFill>
                  <a:srgbClr val="800000"/>
                </a:solidFill>
                <a:latin typeface="Bookman Old Style" panose="02050604050505020204" pitchFamily="18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800000"/>
                </a:solidFill>
                <a:latin typeface="Bookman Old Style" panose="02050604050505020204" pitchFamily="18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Bookman Old Style" panose="02050604050505020204" pitchFamily="18" charset="0"/>
              </a:rPr>
              <a:t>StackPanel</a:t>
            </a:r>
            <a:r>
              <a:rPr lang="en-US" sz="2400" dirty="0" smtClean="0">
                <a:solidFill>
                  <a:srgbClr val="800000"/>
                </a:solidFill>
                <a:latin typeface="Bookman Old Style" panose="02050604050505020204" pitchFamily="18" charset="0"/>
              </a:rPr>
              <a:t>&gt;</a:t>
            </a:r>
            <a:endParaRPr lang="ru-RU" sz="2400" dirty="0" smtClean="0">
              <a:solidFill>
                <a:srgbClr val="80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ru-RU" sz="2400" b="0" dirty="0">
              <a:solidFill>
                <a:srgbClr val="800000"/>
              </a:solidFill>
              <a:effectLst/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XML:</a:t>
            </a:r>
            <a:r>
              <a:rPr lang="ru-RU" sz="2400" dirty="0">
                <a:latin typeface="Bookman Old Style" panose="02050604050505020204" pitchFamily="18" charset="0"/>
              </a:rPr>
              <a:t> Описывает </a:t>
            </a:r>
            <a:r>
              <a:rPr lang="ru-RU" sz="2400" b="1" dirty="0">
                <a:latin typeface="Bookman Old Style" panose="02050604050505020204" pitchFamily="18" charset="0"/>
              </a:rPr>
              <a:t>информацию</a:t>
            </a:r>
            <a:r>
              <a:rPr lang="ru-RU" sz="2400" dirty="0">
                <a:latin typeface="Bookman Old Style" panose="02050604050505020204" pitchFamily="18" charset="0"/>
              </a:rPr>
              <a:t>. Например, список студентов, настройки программы или каталог товаров. Ему всё равно, как это будет выглядеть на экране.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XAML:</a:t>
            </a:r>
            <a:r>
              <a:rPr lang="ru-RU" sz="2400" dirty="0">
                <a:latin typeface="Bookman Old Style" panose="02050604050505020204" pitchFamily="18" charset="0"/>
              </a:rPr>
              <a:t> Описывает </a:t>
            </a:r>
            <a:r>
              <a:rPr lang="ru-RU" sz="2400" b="1" dirty="0">
                <a:latin typeface="Bookman Old Style" panose="02050604050505020204" pitchFamily="18" charset="0"/>
              </a:rPr>
              <a:t>объекты интерфейса</a:t>
            </a:r>
            <a:r>
              <a:rPr lang="ru-RU" sz="2400" dirty="0">
                <a:latin typeface="Bookman Old Style" panose="02050604050505020204" pitchFamily="18" charset="0"/>
              </a:rPr>
              <a:t>. Каждый тег в XAML — это реальный программный объект (кнопка, текстовое поле, окно), который появится на экране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7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MVVM (</a:t>
            </a:r>
            <a:r>
              <a:rPr lang="ru-RU" sz="2400" b="1" dirty="0" err="1">
                <a:latin typeface="Bookman Old Style" panose="02050604050505020204" pitchFamily="18" charset="0"/>
              </a:rPr>
              <a:t>Model-View-ViewModel</a:t>
            </a:r>
            <a:r>
              <a:rPr lang="ru-RU" sz="2400" b="1" dirty="0" smtClean="0">
                <a:latin typeface="Bookman Old Style" panose="02050604050505020204" pitchFamily="18" charset="0"/>
              </a:rPr>
              <a:t>)</a:t>
            </a:r>
            <a:r>
              <a:rPr lang="ru-RU" sz="2400" dirty="0">
                <a:latin typeface="Bookman Old Style" panose="02050604050505020204" pitchFamily="18" charset="0"/>
              </a:rPr>
              <a:t> — это архитектурный </a:t>
            </a:r>
            <a:r>
              <a:rPr lang="ru-RU" sz="2400" dirty="0" smtClean="0">
                <a:latin typeface="Bookman Old Style" panose="02050604050505020204" pitchFamily="18" charset="0"/>
              </a:rPr>
              <a:t>паттерн (шаблон), </a:t>
            </a:r>
            <a:r>
              <a:rPr lang="ru-RU" sz="2400" dirty="0">
                <a:latin typeface="Bookman Old Style" panose="02050604050505020204" pitchFamily="18" charset="0"/>
              </a:rPr>
              <a:t>разделяющий визуальную часть приложения и его логику. Был представлен в 2005 </a:t>
            </a:r>
            <a:r>
              <a:rPr lang="ru-RU" sz="2400" dirty="0" smtClean="0">
                <a:latin typeface="Bookman Old Style" panose="02050604050505020204" pitchFamily="18" charset="0"/>
              </a:rPr>
              <a:t>году </a:t>
            </a:r>
            <a:r>
              <a:rPr lang="ru-RU" sz="2400" dirty="0">
                <a:latin typeface="Bookman Old Style" panose="02050604050505020204" pitchFamily="18" charset="0"/>
              </a:rPr>
              <a:t>и стал стандартом для WPF, </a:t>
            </a:r>
            <a:r>
              <a:rPr lang="ru-RU" sz="2400" dirty="0" err="1">
                <a:latin typeface="Bookman Old Style" panose="02050604050505020204" pitchFamily="18" charset="0"/>
              </a:rPr>
              <a:t>Avalonia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latin typeface="Bookman Old Style" panose="02050604050505020204" pitchFamily="18" charset="0"/>
              </a:rPr>
              <a:t>Android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latin typeface="Bookman Old Style" panose="02050604050505020204" pitchFamily="18" charset="0"/>
              </a:rPr>
              <a:t>iOS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Автор: </a:t>
            </a:r>
            <a:r>
              <a:rPr lang="ru-RU" sz="2400" dirty="0" smtClean="0">
                <a:latin typeface="Bookman Old Style" panose="02050604050505020204" pitchFamily="18" charset="0"/>
                <a:hlinkClick r:id="rId3"/>
              </a:rPr>
              <a:t>Джон </a:t>
            </a:r>
            <a:r>
              <a:rPr lang="ru-RU" sz="2400" dirty="0" err="1" smtClean="0">
                <a:latin typeface="Bookman Old Style" panose="02050604050505020204" pitchFamily="18" charset="0"/>
                <a:hlinkClick r:id="rId3"/>
              </a:rPr>
              <a:t>Госсман</a:t>
            </a:r>
            <a:r>
              <a:rPr lang="ru-RU" sz="2400" dirty="0">
                <a:latin typeface="Bookman Old Style" panose="02050604050505020204" pitchFamily="18" charset="0"/>
              </a:rPr>
              <a:t> (</a:t>
            </a:r>
            <a:r>
              <a:rPr lang="ru-RU" sz="2400" dirty="0" err="1">
                <a:latin typeface="Bookman Old Style" panose="02050604050505020204" pitchFamily="18" charset="0"/>
              </a:rPr>
              <a:t>John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 smtClean="0">
                <a:latin typeface="Bookman Old Style" panose="02050604050505020204" pitchFamily="18" charset="0"/>
              </a:rPr>
              <a:t>Gossman</a:t>
            </a:r>
            <a:r>
              <a:rPr lang="ru-RU" sz="2400" dirty="0" smtClean="0">
                <a:latin typeface="Bookman Old Style" panose="02050604050505020204" pitchFamily="18" charset="0"/>
              </a:rPr>
              <a:t>, </a:t>
            </a:r>
            <a:r>
              <a:rPr lang="ru-RU" sz="2400" dirty="0" err="1" smtClean="0">
                <a:latin typeface="Bookman Old Style" panose="02050604050505020204" pitchFamily="18" charset="0"/>
              </a:rPr>
              <a:t>Microsoft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Данный паттерн является </a:t>
            </a:r>
            <a:r>
              <a:rPr lang="ru-RU" sz="2400" b="1" dirty="0" smtClean="0">
                <a:latin typeface="Bookman Old Style" panose="02050604050505020204" pitchFamily="18" charset="0"/>
              </a:rPr>
              <a:t>архитектурным</a:t>
            </a:r>
            <a:r>
              <a:rPr lang="ru-RU" sz="2400" dirty="0" smtClean="0">
                <a:latin typeface="Bookman Old Style" panose="02050604050505020204" pitchFamily="18" charset="0"/>
              </a:rPr>
              <a:t>, то есть он задает общую архитектуру приложения.</a:t>
            </a:r>
          </a:p>
        </p:txBody>
      </p:sp>
      <p:sp>
        <p:nvSpPr>
          <p:cNvPr id="7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Архитектурный паттерн </a:t>
            </a:r>
            <a:r>
              <a:rPr lang="en-US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MVVM</a:t>
            </a:r>
            <a:endParaRPr lang="ru-RU" sz="2800" b="1" dirty="0">
              <a:solidFill>
                <a:srgbClr val="202122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88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" t="13537" r="-707" b="12462"/>
          <a:stretch/>
        </p:blipFill>
        <p:spPr>
          <a:xfrm>
            <a:off x="704850" y="38100"/>
            <a:ext cx="10782300" cy="15621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0" y="1600200"/>
            <a:ext cx="12192000" cy="484882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b="1" dirty="0">
                <a:solidFill>
                  <a:srgbClr val="2B2D31"/>
                </a:solidFill>
                <a:latin typeface="Bookman Old Style" panose="02050604050505020204" pitchFamily="18" charset="0"/>
              </a:rPr>
              <a:t>Основные компоненты: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solidFill>
                  <a:srgbClr val="2B2D31"/>
                </a:solidFill>
                <a:latin typeface="Bookman Old Style" panose="02050604050505020204" pitchFamily="18" charset="0"/>
              </a:rPr>
              <a:t>Model</a:t>
            </a:r>
            <a:r>
              <a:rPr lang="ru-RU" sz="2400" b="1" dirty="0">
                <a:solidFill>
                  <a:srgbClr val="2B2D31"/>
                </a:solidFill>
                <a:latin typeface="Bookman Old Style" panose="02050604050505020204" pitchFamily="18" charset="0"/>
              </a:rPr>
              <a:t> (Модель):</a:t>
            </a:r>
            <a:r>
              <a:rPr lang="ru-RU" sz="2400" dirty="0">
                <a:solidFill>
                  <a:srgbClr val="2B2D31"/>
                </a:solidFill>
                <a:latin typeface="Bookman Old Style" panose="02050604050505020204" pitchFamily="18" charset="0"/>
              </a:rPr>
              <a:t> Данные и бизнес-логика (например, класс </a:t>
            </a:r>
            <a:r>
              <a:rPr lang="ru-RU" sz="2400" dirty="0" err="1">
                <a:solidFill>
                  <a:srgbClr val="2B2D31"/>
                </a:solidFill>
                <a:latin typeface="Bookman Old Style" panose="02050604050505020204" pitchFamily="18" charset="0"/>
              </a:rPr>
              <a:t>User</a:t>
            </a:r>
            <a:r>
              <a:rPr lang="ru-RU" sz="2400" dirty="0">
                <a:solidFill>
                  <a:srgbClr val="2B2D31"/>
                </a:solidFill>
                <a:latin typeface="Bookman Old Style" panose="02050604050505020204" pitchFamily="18" charset="0"/>
              </a:rPr>
              <a:t> или запросы к БД). «Чистый» код, который ничего не знает об интерфейсе.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solidFill>
                  <a:srgbClr val="2B2D31"/>
                </a:solidFill>
                <a:latin typeface="Bookman Old Style" panose="02050604050505020204" pitchFamily="18" charset="0"/>
              </a:rPr>
              <a:t>View</a:t>
            </a:r>
            <a:r>
              <a:rPr lang="ru-RU" sz="2400" b="1" dirty="0">
                <a:solidFill>
                  <a:srgbClr val="2B2D31"/>
                </a:solidFill>
                <a:latin typeface="Bookman Old Style" panose="02050604050505020204" pitchFamily="18" charset="0"/>
              </a:rPr>
              <a:t> (Представление):</a:t>
            </a:r>
            <a:r>
              <a:rPr lang="ru-RU" sz="2400" dirty="0">
                <a:solidFill>
                  <a:srgbClr val="2B2D31"/>
                </a:solidFill>
                <a:latin typeface="Bookman Old Style" panose="02050604050505020204" pitchFamily="18" charset="0"/>
              </a:rPr>
              <a:t> Визуальный интерфейс (XAML). «Глупая» часть системы: она только отображает данные и не содержит логики расчетов.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solidFill>
                  <a:srgbClr val="2B2D31"/>
                </a:solidFill>
                <a:latin typeface="Bookman Old Style" panose="02050604050505020204" pitchFamily="18" charset="0"/>
              </a:rPr>
              <a:t>ViewModel</a:t>
            </a:r>
            <a:r>
              <a:rPr lang="ru-RU" sz="2400" b="1" dirty="0">
                <a:solidFill>
                  <a:srgbClr val="2B2D31"/>
                </a:solidFill>
                <a:latin typeface="Bookman Old Style" panose="02050604050505020204" pitchFamily="18" charset="0"/>
              </a:rPr>
              <a:t> (Модель представления):</a:t>
            </a:r>
            <a:r>
              <a:rPr lang="ru-RU" sz="2400" dirty="0">
                <a:solidFill>
                  <a:srgbClr val="2B2D31"/>
                </a:solidFill>
                <a:latin typeface="Bookman Old Style" panose="02050604050505020204" pitchFamily="18" charset="0"/>
              </a:rPr>
              <a:t> Связующее звено и «мозг» интерфейса.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B2D31"/>
                </a:solidFill>
                <a:latin typeface="Bookman Old Style" panose="02050604050505020204" pitchFamily="18" charset="0"/>
              </a:rPr>
              <a:t>Забирает данные из </a:t>
            </a:r>
            <a:r>
              <a:rPr lang="ru-RU" sz="2400" b="1" dirty="0">
                <a:solidFill>
                  <a:srgbClr val="2B2D31"/>
                </a:solidFill>
                <a:latin typeface="Bookman Old Style" panose="02050604050505020204" pitchFamily="18" charset="0"/>
              </a:rPr>
              <a:t>Модели</a:t>
            </a:r>
            <a:r>
              <a:rPr lang="ru-RU" sz="2400" dirty="0">
                <a:solidFill>
                  <a:srgbClr val="2B2D31"/>
                </a:solidFill>
                <a:latin typeface="Bookman Old Style" panose="02050604050505020204" pitchFamily="18" charset="0"/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B2D31"/>
                </a:solidFill>
                <a:latin typeface="Bookman Old Style" panose="02050604050505020204" pitchFamily="18" charset="0"/>
              </a:rPr>
              <a:t>Преобразует их в удобный для отображения вид.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B2D31"/>
                </a:solidFill>
                <a:latin typeface="Bookman Old Style" panose="02050604050505020204" pitchFamily="18" charset="0"/>
              </a:rPr>
              <a:t>Обрабатывает команды от </a:t>
            </a:r>
            <a:r>
              <a:rPr lang="ru-RU" sz="2400" b="1" dirty="0" err="1">
                <a:solidFill>
                  <a:srgbClr val="2B2D31"/>
                </a:solidFill>
                <a:latin typeface="Bookman Old Style" panose="02050604050505020204" pitchFamily="18" charset="0"/>
              </a:rPr>
              <a:t>View</a:t>
            </a:r>
            <a:r>
              <a:rPr lang="ru-RU" sz="2400" dirty="0">
                <a:solidFill>
                  <a:srgbClr val="2B2D31"/>
                </a:solidFill>
                <a:latin typeface="Bookman Old Style" panose="02050604050505020204" pitchFamily="18" charset="0"/>
              </a:rPr>
              <a:t> (например, нажатие кнопки).</a:t>
            </a:r>
            <a:endParaRPr lang="ru-RU" sz="2400" b="0" i="0" dirty="0">
              <a:solidFill>
                <a:srgbClr val="2B2D31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55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Главная особенность MVVM — отсутствие прямой связи между кодом и интерфейсом. Взаимодействие происходит через «магию» </a:t>
            </a:r>
            <a:r>
              <a:rPr lang="ru-RU" sz="2400" b="1" dirty="0">
                <a:latin typeface="Bookman Old Style" panose="02050604050505020204" pitchFamily="18" charset="0"/>
              </a:rPr>
              <a:t>привязок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Data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Binding</a:t>
            </a:r>
            <a:r>
              <a:rPr lang="ru-RU" sz="2400" b="1" dirty="0">
                <a:latin typeface="Bookman Old Style" panose="02050604050505020204" pitchFamily="18" charset="0"/>
              </a:rPr>
              <a:t> (Привязка данных):</a:t>
            </a:r>
            <a:r>
              <a:rPr lang="ru-RU" sz="2400" dirty="0">
                <a:latin typeface="Bookman Old Style" panose="02050604050505020204" pitchFamily="18" charset="0"/>
              </a:rPr>
              <a:t> Механизм автоматической синхронизации между </a:t>
            </a:r>
            <a:r>
              <a:rPr lang="ru-RU" sz="2400" b="1" dirty="0" err="1">
                <a:latin typeface="Bookman Old Style" panose="02050604050505020204" pitchFamily="18" charset="0"/>
              </a:rPr>
              <a:t>View</a:t>
            </a:r>
            <a:r>
              <a:rPr lang="ru-RU" sz="2400" dirty="0">
                <a:latin typeface="Bookman Old Style" panose="02050604050505020204" pitchFamily="18" charset="0"/>
              </a:rPr>
              <a:t> и </a:t>
            </a:r>
            <a:r>
              <a:rPr lang="ru-RU" sz="2400" b="1" dirty="0" err="1">
                <a:latin typeface="Bookman Old Style" panose="02050604050505020204" pitchFamily="18" charset="0"/>
              </a:rPr>
              <a:t>ViewModel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Изменили значение переменной в коде — текст на экране обновился сам.</a:t>
            </a: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Пользователь ввел текст в поле — значение в коде изменилось автоматически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63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Команды </a:t>
            </a:r>
            <a:r>
              <a:rPr lang="ru-RU" sz="2400" b="1" dirty="0">
                <a:latin typeface="Bookman Old Style" panose="02050604050505020204" pitchFamily="18" charset="0"/>
              </a:rPr>
              <a:t>(</a:t>
            </a:r>
            <a:r>
              <a:rPr lang="ru-RU" sz="2400" b="1" dirty="0" err="1">
                <a:latin typeface="Bookman Old Style" panose="02050604050505020204" pitchFamily="18" charset="0"/>
              </a:rPr>
              <a:t>Commands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Вместо классических обработчиков событий (как в </a:t>
            </a:r>
            <a:r>
              <a:rPr lang="ru-RU" sz="2400" dirty="0" err="1">
                <a:latin typeface="Bookman Old Style" panose="02050604050505020204" pitchFamily="18" charset="0"/>
              </a:rPr>
              <a:t>WinForms</a:t>
            </a:r>
            <a:r>
              <a:rPr lang="ru-RU" sz="2400" dirty="0">
                <a:latin typeface="Bookman Old Style" panose="02050604050505020204" pitchFamily="18" charset="0"/>
              </a:rPr>
              <a:t>), </a:t>
            </a:r>
            <a:r>
              <a:rPr lang="ru-RU" sz="2400" dirty="0" err="1">
                <a:latin typeface="Bookman Old Style" panose="02050604050505020204" pitchFamily="18" charset="0"/>
              </a:rPr>
              <a:t>View</a:t>
            </a:r>
            <a:r>
              <a:rPr lang="ru-RU" sz="2400" dirty="0">
                <a:latin typeface="Bookman Old Style" panose="02050604050505020204" pitchFamily="18" charset="0"/>
              </a:rPr>
              <a:t> отправляет во </a:t>
            </a:r>
            <a:r>
              <a:rPr lang="ru-RU" sz="2400" dirty="0" err="1">
                <a:latin typeface="Bookman Old Style" panose="02050604050505020204" pitchFamily="18" charset="0"/>
              </a:rPr>
              <a:t>ViewModel</a:t>
            </a:r>
            <a:r>
              <a:rPr lang="ru-RU" sz="2400" dirty="0">
                <a:latin typeface="Bookman Old Style" panose="02050604050505020204" pitchFamily="18" charset="0"/>
              </a:rPr>
              <a:t> команду на выполнение действия.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В чем профит?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Независимость:</a:t>
            </a:r>
            <a:r>
              <a:rPr lang="ru-RU" sz="2400" dirty="0">
                <a:latin typeface="Bookman Old Style" panose="02050604050505020204" pitchFamily="18" charset="0"/>
              </a:rPr>
              <a:t> Программист может писать логику, а дизайнер — менять интерфейс в XAML одновременно, не мешая друг другу.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Тестируемость:</a:t>
            </a:r>
            <a:r>
              <a:rPr lang="ru-RU" sz="2400" dirty="0">
                <a:latin typeface="Bookman Old Style" panose="02050604050505020204" pitchFamily="18" charset="0"/>
              </a:rPr>
              <a:t> Логику во </a:t>
            </a:r>
            <a:r>
              <a:rPr lang="ru-RU" sz="2400" dirty="0" err="1">
                <a:latin typeface="Bookman Old Style" panose="02050604050505020204" pitchFamily="18" charset="0"/>
              </a:rPr>
              <a:t>ViewModel</a:t>
            </a:r>
            <a:r>
              <a:rPr lang="ru-RU" sz="2400" dirty="0">
                <a:latin typeface="Bookman Old Style" panose="02050604050505020204" pitchFamily="18" charset="0"/>
              </a:rPr>
              <a:t> можно протестировать даже без запуска графического окна.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Чистота:</a:t>
            </a:r>
            <a:r>
              <a:rPr lang="ru-RU" sz="2400" dirty="0">
                <a:latin typeface="Bookman Old Style" panose="02050604050505020204" pitchFamily="18" charset="0"/>
              </a:rPr>
              <a:t> Код интерфейса не перемешан с бизнес-задачами.</a:t>
            </a:r>
          </a:p>
        </p:txBody>
      </p:sp>
    </p:spTree>
    <p:extLst>
      <p:ext uri="{BB962C8B-B14F-4D97-AF65-F5344CB8AC3E}">
        <p14:creationId xmlns:p14="http://schemas.microsoft.com/office/powerpoint/2010/main" val="369694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605441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Проблема:</a:t>
            </a:r>
            <a:r>
              <a:rPr lang="ru-RU" sz="2400" dirty="0">
                <a:latin typeface="Bookman Old Style" panose="02050604050505020204" pitchFamily="18" charset="0"/>
              </a:rPr>
              <a:t> В C# обычные свойства «молчат». Если вы </a:t>
            </a:r>
            <a:r>
              <a:rPr lang="ru-RU" sz="2400" dirty="0" smtClean="0">
                <a:latin typeface="Bookman Old Style" panose="02050604050505020204" pitchFamily="18" charset="0"/>
              </a:rPr>
              <a:t>измените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User.Name</a:t>
            </a:r>
            <a:r>
              <a:rPr lang="ru-RU" sz="2400" dirty="0">
                <a:latin typeface="Bookman Old Style" panose="02050604050505020204" pitchFamily="18" charset="0"/>
              </a:rPr>
              <a:t> в коде, текст в текстовом поле на экране останется прежним, потому что интерфейс не следит за памятью ежесекундно.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Решение: Интерфейс </a:t>
            </a:r>
            <a:r>
              <a:rPr lang="ru-RU" sz="2400" b="1" dirty="0" err="1">
                <a:latin typeface="Bookman Old Style" panose="02050604050505020204" pitchFamily="18" charset="0"/>
              </a:rPr>
              <a:t>INotifyPropertyChanged</a:t>
            </a:r>
            <a:r>
              <a:rPr lang="ru-RU" sz="2400" b="1" dirty="0">
                <a:latin typeface="Bookman Old Style" panose="02050604050505020204" pitchFamily="18" charset="0"/>
              </a:rPr>
              <a:t> (INPC)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Это стандартный механизм «оповещения» в .NET, который делает объекты разговорчивыми.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Класс </a:t>
            </a:r>
            <a:r>
              <a:rPr lang="ru-RU" sz="2400" dirty="0" err="1">
                <a:latin typeface="Bookman Old Style" panose="02050604050505020204" pitchFamily="18" charset="0"/>
              </a:rPr>
              <a:t>ViewModel</a:t>
            </a:r>
            <a:r>
              <a:rPr lang="ru-RU" sz="2400" dirty="0">
                <a:latin typeface="Bookman Old Style" panose="02050604050505020204" pitchFamily="18" charset="0"/>
              </a:rPr>
              <a:t> реализует этот интерфейс, предоставляя событие </a:t>
            </a:r>
            <a:r>
              <a:rPr lang="ru-RU" sz="2400" dirty="0" err="1">
                <a:latin typeface="Bookman Old Style" panose="02050604050505020204" pitchFamily="18" charset="0"/>
              </a:rPr>
              <a:t>PropertyChanged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Механика:</a:t>
            </a:r>
            <a:r>
              <a:rPr lang="ru-RU" sz="2400" dirty="0">
                <a:latin typeface="Bookman Old Style" panose="02050604050505020204" pitchFamily="18" charset="0"/>
              </a:rPr>
              <a:t> Когда значение свойства меняется, объект должен буквально </a:t>
            </a:r>
            <a:r>
              <a:rPr lang="ru-RU" sz="2400" b="1" dirty="0">
                <a:latin typeface="Bookman Old Style" panose="02050604050505020204" pitchFamily="18" charset="0"/>
              </a:rPr>
              <a:t>«крикнуть»</a:t>
            </a:r>
            <a:r>
              <a:rPr lang="ru-RU" sz="2400" dirty="0">
                <a:latin typeface="Bookman Old Style" panose="02050604050505020204" pitchFamily="18" charset="0"/>
              </a:rPr>
              <a:t> интерфейсу: </a:t>
            </a:r>
            <a:r>
              <a:rPr lang="ru-RU" sz="2400" i="1" dirty="0">
                <a:latin typeface="Bookman Old Style" panose="02050604050505020204" pitchFamily="18" charset="0"/>
              </a:rPr>
              <a:t>«Эй, моё свойство 'Имя' изменилось, перерисуй меня!»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Результат: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View</a:t>
            </a:r>
            <a:r>
              <a:rPr lang="ru-RU" sz="2400" dirty="0">
                <a:latin typeface="Bookman Old Style" panose="02050604050505020204" pitchFamily="18" charset="0"/>
              </a:rPr>
              <a:t> «слышит» этот сигнал и мгновенно обновляет именно тот элемент, который привязан к этому свойству.</a:t>
            </a:r>
          </a:p>
        </p:txBody>
      </p:sp>
      <p:sp>
        <p:nvSpPr>
          <p:cNvPr id="7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rgbClr val="202122"/>
                </a:solidFill>
                <a:latin typeface="Bookman Old Style" panose="02050604050505020204" pitchFamily="18" charset="0"/>
              </a:rPr>
              <a:t>Реализация MVVM (Интерфейсы и Команды)</a:t>
            </a:r>
          </a:p>
        </p:txBody>
      </p:sp>
    </p:spTree>
    <p:extLst>
      <p:ext uri="{BB962C8B-B14F-4D97-AF65-F5344CB8AC3E}">
        <p14:creationId xmlns:p14="http://schemas.microsoft.com/office/powerpoint/2010/main" val="25755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24786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INotifyPropertyChanged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_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Свойство для </a:t>
            </a:r>
            <a:r>
              <a:rPr lang="ru-RU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TextBox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и </a:t>
            </a:r>
            <a:r>
              <a:rPr lang="ru-RU" sz="20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TextBlock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_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OnPropertyChanged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Уведомляем интерфейс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0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Стандартная реализация уведомлений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PropertyChangedEventHandler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PropertyChanged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OnPropertyChanged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2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PropertyChanged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en-US" sz="20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Invoke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PropertyChangedEventArgs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237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0536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Проблема:</a:t>
            </a:r>
            <a:r>
              <a:rPr lang="ru-RU" sz="2400" dirty="0">
                <a:latin typeface="Bookman Old Style" panose="02050604050505020204" pitchFamily="18" charset="0"/>
              </a:rPr>
              <a:t> В старых подходах (</a:t>
            </a:r>
            <a:r>
              <a:rPr lang="ru-RU" sz="2400" dirty="0" err="1">
                <a:latin typeface="Bookman Old Style" panose="02050604050505020204" pitchFamily="18" charset="0"/>
              </a:rPr>
              <a:t>WinForms</a:t>
            </a:r>
            <a:r>
              <a:rPr lang="ru-RU" sz="2400" dirty="0">
                <a:latin typeface="Bookman Old Style" panose="02050604050505020204" pitchFamily="18" charset="0"/>
              </a:rPr>
              <a:t>) код писался в «обработчиках событий» (например, </a:t>
            </a:r>
            <a:r>
              <a:rPr lang="ru-RU" sz="2400" dirty="0" err="1">
                <a:latin typeface="Bookman Old Style" panose="02050604050505020204" pitchFamily="18" charset="0"/>
              </a:rPr>
              <a:t>Button_Click</a:t>
            </a:r>
            <a:r>
              <a:rPr lang="ru-RU" sz="2400" dirty="0">
                <a:latin typeface="Bookman Old Style" panose="02050604050505020204" pitchFamily="18" charset="0"/>
              </a:rPr>
              <a:t>). Это намертво привязывало логику к конкретной кнопке и конкретному окну.</a:t>
            </a:r>
          </a:p>
          <a:p>
            <a:pPr>
              <a:lnSpc>
                <a:spcPct val="12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Решение: Паттерн «Команда» (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ICommand</a:t>
            </a:r>
            <a:r>
              <a:rPr lang="ru-RU" sz="2400" b="1" dirty="0" smtClean="0">
                <a:latin typeface="Bookman Old Style" panose="02050604050505020204" pitchFamily="18" charset="0"/>
              </a:rPr>
              <a:t>) – </a:t>
            </a: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>
                <a:latin typeface="Bookman Old Style" panose="02050604050505020204" pitchFamily="18" charset="0"/>
              </a:rPr>
              <a:t>MVVM мы не обрабатываем «клик», мы вызываем «Команду».</a:t>
            </a:r>
          </a:p>
          <a:p>
            <a:pPr>
              <a:lnSpc>
                <a:spcPct val="12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Вместо события </a:t>
            </a:r>
            <a:r>
              <a:rPr lang="ru-RU" sz="2400" dirty="0" err="1">
                <a:latin typeface="Bookman Old Style" panose="02050604050505020204" pitchFamily="18" charset="0"/>
              </a:rPr>
              <a:t>Click</a:t>
            </a:r>
            <a:r>
              <a:rPr lang="ru-RU" sz="2400" dirty="0">
                <a:latin typeface="Bookman Old Style" panose="02050604050505020204" pitchFamily="18" charset="0"/>
              </a:rPr>
              <a:t>, свойство </a:t>
            </a:r>
            <a:r>
              <a:rPr lang="ru-RU" sz="2400" dirty="0" err="1">
                <a:latin typeface="Bookman Old Style" panose="02050604050505020204" pitchFamily="18" charset="0"/>
              </a:rPr>
              <a:t>Command</a:t>
            </a:r>
            <a:r>
              <a:rPr lang="ru-RU" sz="2400" dirty="0">
                <a:latin typeface="Bookman Old Style" panose="02050604050505020204" pitchFamily="18" charset="0"/>
              </a:rPr>
              <a:t> у кнопки привязывается к объекту типа </a:t>
            </a:r>
            <a:r>
              <a:rPr lang="ru-RU" sz="2400" dirty="0" err="1">
                <a:latin typeface="Bookman Old Style" panose="02050604050505020204" pitchFamily="18" charset="0"/>
              </a:rPr>
              <a:t>ICommand</a:t>
            </a:r>
            <a:r>
              <a:rPr lang="ru-RU" sz="2400" dirty="0">
                <a:latin typeface="Bookman Old Style" panose="02050604050505020204" pitchFamily="18" charset="0"/>
              </a:rPr>
              <a:t> во </a:t>
            </a:r>
            <a:r>
              <a:rPr lang="ru-RU" sz="2400" dirty="0" err="1">
                <a:latin typeface="Bookman Old Style" panose="02050604050505020204" pitchFamily="18" charset="0"/>
              </a:rPr>
              <a:t>ViewModel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Почему это </a:t>
            </a:r>
            <a:r>
              <a:rPr lang="ru-RU" sz="2400" b="1" dirty="0" smtClean="0">
                <a:latin typeface="Bookman Old Style" panose="02050604050505020204" pitchFamily="18" charset="0"/>
              </a:rPr>
              <a:t>круто:</a:t>
            </a:r>
          </a:p>
          <a:p>
            <a:pPr>
              <a:lnSpc>
                <a:spcPct val="12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Тестируемость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Вы можете запустить логику нажатия кнопки из обычного </a:t>
            </a:r>
            <a:r>
              <a:rPr lang="ru-RU" sz="2400" dirty="0" err="1">
                <a:latin typeface="Bookman Old Style" panose="02050604050505020204" pitchFamily="18" charset="0"/>
              </a:rPr>
              <a:t>Unit</a:t>
            </a:r>
            <a:r>
              <a:rPr lang="ru-RU" sz="2400" dirty="0">
                <a:latin typeface="Bookman Old Style" panose="02050604050505020204" pitchFamily="18" charset="0"/>
              </a:rPr>
              <a:t>-теста, даже не создавая само окно </a:t>
            </a:r>
            <a:r>
              <a:rPr lang="ru-RU" sz="2400" dirty="0" smtClean="0">
                <a:latin typeface="Bookman Old Style" panose="02050604050505020204" pitchFamily="18" charset="0"/>
              </a:rPr>
              <a:t>приложения.</a:t>
            </a:r>
          </a:p>
          <a:p>
            <a:pPr>
              <a:lnSpc>
                <a:spcPct val="12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Универсальность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Одну и ту же команду можно привязать к кнопке, пункту меню и горячей клавише </a:t>
            </a:r>
            <a:r>
              <a:rPr lang="ru-RU" sz="2400" dirty="0" smtClean="0">
                <a:latin typeface="Bookman Old Style" panose="02050604050505020204" pitchFamily="18" charset="0"/>
              </a:rPr>
              <a:t>одновременно.</a:t>
            </a:r>
          </a:p>
          <a:p>
            <a:pPr>
              <a:lnSpc>
                <a:spcPct val="12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Управление </a:t>
            </a:r>
            <a:r>
              <a:rPr lang="ru-RU" sz="2400" b="1" dirty="0">
                <a:latin typeface="Bookman Old Style" panose="02050604050505020204" pitchFamily="18" charset="0"/>
              </a:rPr>
              <a:t>состоянием:</a:t>
            </a:r>
            <a:r>
              <a:rPr lang="ru-RU" sz="2400" dirty="0">
                <a:latin typeface="Bookman Old Style" panose="02050604050505020204" pitchFamily="18" charset="0"/>
              </a:rPr>
              <a:t> Команда умеет говорить кнопке, можно ли её нажимать в данный момент (метод </a:t>
            </a:r>
            <a:r>
              <a:rPr lang="ru-RU" sz="2400" dirty="0" err="1">
                <a:latin typeface="Bookman Old Style" panose="02050604050505020204" pitchFamily="18" charset="0"/>
              </a:rPr>
              <a:t>CanExecute</a:t>
            </a:r>
            <a:r>
              <a:rPr lang="ru-RU" sz="2400" dirty="0">
                <a:latin typeface="Bookman Old Style" panose="02050604050505020204" pitchFamily="18" charset="0"/>
              </a:rPr>
              <a:t>). Если команда «неактивна», кнопка на экране заблокируется автоматически.</a:t>
            </a:r>
          </a:p>
        </p:txBody>
      </p:sp>
    </p:spTree>
    <p:extLst>
      <p:ext uri="{BB962C8B-B14F-4D97-AF65-F5344CB8AC3E}">
        <p14:creationId xmlns:p14="http://schemas.microsoft.com/office/powerpoint/2010/main" val="423892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INotifyPropertyChanged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Команда для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Инициализируем команду действием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RelayCommand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Здесь ваша логика при нажатии на кнопку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Debug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Сохранено имя: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65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2629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System.Windows.Input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AvaloniaApplication1;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Простая реализация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ICommand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чтобы кнопка работала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RelayCommand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ICommand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_execute;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RelayCommand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_execute =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CanExecute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parameter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parameter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_execute();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EventHandler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CanExecuteChanged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794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Window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xmlns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https://github.com/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avaloniaui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xmlns:x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http://schemas.microsoft.com/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winfx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/2006/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xaml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400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xmlns:d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http://schemas.microsoft.com/expression/blend/2008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xmlns:mc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http://schemas.openxmlformats.org/markup-compatibility/2006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mc:Ignorable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smtClean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d:DesignWidth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800"</a:t>
            </a:r>
          </a:p>
          <a:p>
            <a:r>
              <a:rPr lang="en-US" sz="2400" dirty="0" smtClean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d:DesignHeight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="450"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x:Class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AvaloniaApplication1.MainWindow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xmlns:vm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using:AvaloniaApplication1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       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x:DataType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vm: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="AvaloniaApplication1"&gt;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Window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4093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&lt;!-- View: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наше окно --&gt;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StackPanel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&lt;!-- Текстовое поле слушает свойство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--&gt;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TextBox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="{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Binding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UpdateSourceTrigger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PropertyChanged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}" /&gt;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&lt;!-- Кнопка нажимает Команду, а не событие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Click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--&gt;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Сохранить изменения"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="{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Binding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}"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="200" /&gt;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&lt;!-- Текст дублируется автоматически благодаря уведомлениям --&gt;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TextBlock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="{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Binding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}" /&gt;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&lt;/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StackPanel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09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&lt;!-- View: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наше окно --&gt;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StackPanel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&lt;!-- Текстовое поле слушает свойство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--&gt;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TextBox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="{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Binding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UpdateSourceTrigger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PropertyChanged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}" /&gt;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&lt;!-- Кнопка нажимает Команду, а не событие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Click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--&gt;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Сохранить изменения"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="{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Binding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}"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="200" /&gt;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&lt;!-- Текст дублируется автоматически благодаря уведомлениям --&gt;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&lt;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TextBlock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="{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Binding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}" /&gt;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&lt;/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StackPanel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05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Avalonia.Controls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AvaloniaApplication1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partial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Window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InitializeComponent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ВОТ ЭТА СТРОЧКА — МАГИЯ СВЯЗИ: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DataContext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65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612366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Reactive</a:t>
            </a:r>
            <a:r>
              <a:rPr lang="ru-RU" sz="2400" b="1" dirty="0">
                <a:latin typeface="Bookman Old Style" panose="02050604050505020204" pitchFamily="18" charset="0"/>
              </a:rPr>
              <a:t> UI (</a:t>
            </a:r>
            <a:r>
              <a:rPr lang="ru-RU" sz="2400" b="1" dirty="0" err="1">
                <a:latin typeface="Bookman Old Style" panose="02050604050505020204" pitchFamily="18" charset="0"/>
              </a:rPr>
              <a:t>RxUI</a:t>
            </a:r>
            <a:r>
              <a:rPr lang="ru-RU" sz="2400" b="1" dirty="0">
                <a:latin typeface="Bookman Old Style" panose="02050604050505020204" pitchFamily="18" charset="0"/>
              </a:rPr>
              <a:t>) </a:t>
            </a:r>
            <a:r>
              <a:rPr lang="ru-RU" sz="2400" dirty="0">
                <a:latin typeface="Bookman Old Style" panose="02050604050505020204" pitchFamily="18" charset="0"/>
              </a:rPr>
              <a:t>— это </a:t>
            </a:r>
            <a:r>
              <a:rPr lang="ru-RU" sz="2400" dirty="0" err="1">
                <a:latin typeface="Bookman Old Style" panose="02050604050505020204" pitchFamily="18" charset="0"/>
              </a:rPr>
              <a:t>фреймворк</a:t>
            </a:r>
            <a:r>
              <a:rPr lang="ru-RU" sz="2400" dirty="0">
                <a:latin typeface="Bookman Old Style" panose="02050604050505020204" pitchFamily="18" charset="0"/>
              </a:rPr>
              <a:t>, построенный на основе реактивного программирования (</a:t>
            </a:r>
            <a:r>
              <a:rPr lang="ru-RU" sz="2400" dirty="0" err="1">
                <a:latin typeface="Bookman Old Style" panose="02050604050505020204" pitchFamily="18" charset="0"/>
              </a:rPr>
              <a:t>Reactive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Extensions</a:t>
            </a:r>
            <a:r>
              <a:rPr lang="ru-RU" sz="2400" dirty="0">
                <a:latin typeface="Bookman Old Style" panose="02050604050505020204" pitchFamily="18" charset="0"/>
              </a:rPr>
              <a:t>, или </a:t>
            </a:r>
            <a:r>
              <a:rPr lang="ru-RU" sz="2400" dirty="0" err="1">
                <a:latin typeface="Bookman Old Style" panose="02050604050505020204" pitchFamily="18" charset="0"/>
              </a:rPr>
              <a:t>Rx</a:t>
            </a:r>
            <a:r>
              <a:rPr lang="ru-RU" sz="2400" dirty="0">
                <a:latin typeface="Bookman Old Style" panose="02050604050505020204" pitchFamily="18" charset="0"/>
              </a:rPr>
              <a:t>), который позволяет создавать приложения, реагирующие на изменения данных, используя наблюдаемые последовательности (</a:t>
            </a:r>
            <a:r>
              <a:rPr lang="ru-RU" sz="2400" dirty="0" err="1">
                <a:latin typeface="Bookman Old Style" panose="02050604050505020204" pitchFamily="18" charset="0"/>
              </a:rPr>
              <a:t>Observables</a:t>
            </a:r>
            <a:r>
              <a:rPr lang="ru-RU" sz="2400" dirty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Зачем он нужен?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Упрощение MVVM: </a:t>
            </a:r>
            <a:r>
              <a:rPr lang="ru-RU" sz="2400" dirty="0">
                <a:latin typeface="Bookman Old Style" panose="02050604050505020204" pitchFamily="18" charset="0"/>
              </a:rPr>
              <a:t>Избавляет от рутинного кода (вызовов </a:t>
            </a:r>
            <a:r>
              <a:rPr lang="ru-RU" sz="2400" dirty="0" err="1">
                <a:latin typeface="Bookman Old Style" panose="02050604050505020204" pitchFamily="18" charset="0"/>
              </a:rPr>
              <a:t>INotifyPropertyChanged</a:t>
            </a:r>
            <a:r>
              <a:rPr lang="ru-RU" sz="2400" dirty="0">
                <a:latin typeface="Bookman Old Style" panose="02050604050505020204" pitchFamily="18" charset="0"/>
              </a:rPr>
              <a:t>, команд).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Мощные привязки</a:t>
            </a:r>
            <a:r>
              <a:rPr lang="ru-RU" sz="2400" dirty="0">
                <a:latin typeface="Bookman Old Style" panose="02050604050505020204" pitchFamily="18" charset="0"/>
              </a:rPr>
              <a:t>: Позволяет привязывать не только свойства, но и целые потоки событий.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Управление состоянием: </a:t>
            </a:r>
            <a:r>
              <a:rPr lang="ru-RU" sz="2400" dirty="0">
                <a:latin typeface="Bookman Old Style" panose="02050604050505020204" pitchFamily="18" charset="0"/>
              </a:rPr>
              <a:t>Упрощает обработку асинхронных операций, </a:t>
            </a:r>
            <a:r>
              <a:rPr lang="ru-RU" sz="2400" dirty="0" err="1">
                <a:latin typeface="Bookman Old Style" panose="02050604050505020204" pitchFamily="18" charset="0"/>
              </a:rPr>
              <a:t>валидации</a:t>
            </a:r>
            <a:r>
              <a:rPr lang="ru-RU" sz="2400" dirty="0">
                <a:latin typeface="Bookman Old Style" panose="02050604050505020204" pitchFamily="18" charset="0"/>
              </a:rPr>
              <a:t> и сложных взаимодействий между компонентами.</a:t>
            </a:r>
          </a:p>
        </p:txBody>
      </p:sp>
      <p:sp>
        <p:nvSpPr>
          <p:cNvPr id="7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latin typeface="Bookman Old Style" panose="02050604050505020204" pitchFamily="18" charset="0"/>
              </a:rPr>
              <a:t>Пример. </a:t>
            </a:r>
            <a:r>
              <a:rPr lang="ru-RU" sz="2800" b="1" dirty="0" err="1" smtClean="0">
                <a:latin typeface="Bookman Old Style" panose="02050604050505020204" pitchFamily="18" charset="0"/>
              </a:rPr>
              <a:t>Reactive</a:t>
            </a:r>
            <a:r>
              <a:rPr lang="ru-RU" sz="2800" b="1" dirty="0" smtClean="0">
                <a:latin typeface="Bookman Old Style" panose="02050604050505020204" pitchFamily="18" charset="0"/>
              </a:rPr>
              <a:t> </a:t>
            </a:r>
            <a:r>
              <a:rPr lang="ru-RU" sz="2800" b="1" dirty="0">
                <a:latin typeface="Bookman Old Style" panose="02050604050505020204" pitchFamily="18" charset="0"/>
              </a:rPr>
              <a:t>UI</a:t>
            </a:r>
            <a:endParaRPr lang="ru-RU" sz="2800" b="1" dirty="0">
              <a:solidFill>
                <a:srgbClr val="202122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02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r>
              <a:rPr lang="en-US" sz="21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1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ReactiveObject</a:t>
            </a:r>
            <a:endParaRPr lang="en-US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_message = 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Добро пожаловать в 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Avalonia + </a:t>
            </a:r>
            <a:r>
              <a:rPr lang="en-US" sz="2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ReactiveUI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!"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_count;</a:t>
            </a:r>
          </a:p>
          <a:p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MainWindowViewModel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1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21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1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</a:t>
            </a:r>
            <a:r>
              <a:rPr lang="ru-RU" sz="21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Создаем вычисляемое свойство, которое реагирует на изменения </a:t>
            </a:r>
            <a:r>
              <a:rPr lang="ru-RU" sz="21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.WhenAnyValue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=&gt; 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x.Count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.Select(count =&gt; 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Количество нажатий: </a:t>
            </a:r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count}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.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ToProperty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x =&gt; 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x.DisplayCount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displayCount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Инициализация команд</a:t>
            </a:r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IncrementCommand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IncrementCount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Команда сброса активна только когда счетчик &gt; 0</a:t>
            </a:r>
            <a:endParaRPr lang="ru-RU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ResetCommand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ResetCount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.WhenAnyValue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=&gt; 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x.Count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).Select(count =&gt; count &gt; 0</a:t>
            </a:r>
            <a:r>
              <a:rPr lang="en-US" sz="21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US" sz="21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}</a:t>
            </a:r>
            <a:endParaRPr lang="en-US" sz="2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13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Reactive 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свойства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Message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_message;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.RaiseAndSetIfChanged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_message,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Count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_count;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.RaiseAndSetIfChanged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_count,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 </a:t>
            </a:r>
            <a:r>
              <a:rPr lang="ru-RU" sz="22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Вычисляемое свойство через </a:t>
            </a:r>
            <a:r>
              <a:rPr lang="en-US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Observable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ObservableAsPropertyHelper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displayCount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DisplayCount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_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displayCount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 ?? 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Количество нажатий: 0"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2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Команды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ReactiveCommand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ResetCommand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Count++;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(Count %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0)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$"Отлично! Вы достигли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ru-RU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нажатий!"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ResetCount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 = 0;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"Счетчик сброшен! Давайте начнем снова."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6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86473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Bookman Old Style" panose="02050604050505020204" pitchFamily="18" charset="0"/>
              </a:rPr>
              <a:t>View </a:t>
            </a:r>
            <a:r>
              <a:rPr lang="en-US" sz="2400" dirty="0">
                <a:latin typeface="Bookman Old Style" panose="02050604050505020204" pitchFamily="18" charset="0"/>
              </a:rPr>
              <a:t>с </a:t>
            </a:r>
            <a:r>
              <a:rPr lang="en-US" sz="2400" dirty="0" err="1">
                <a:latin typeface="Bookman Old Style" panose="02050604050505020204" pitchFamily="18" charset="0"/>
              </a:rPr>
              <a:t>ReactiveUI</a:t>
            </a:r>
            <a:endParaRPr lang="en-US" sz="2400" dirty="0">
              <a:latin typeface="Bookman Old Style" panose="02050604050505020204" pitchFamily="18" charset="0"/>
            </a:endParaRPr>
          </a:p>
          <a:p>
            <a:endParaRPr lang="ru-RU" sz="21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sz="21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Window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"https://github.com/</a:t>
            </a: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avaloniaui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xmlns:x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"http://schemas.microsoft.com/</a:t>
            </a: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winfx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/2006/</a:t>
            </a: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xaml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xmlns:vm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"using:AvaloniaApplication1.ViewModels"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xmlns:d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"http://schemas.microsoft.com/expression/blend/2008"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 err="1">
                <a:solidFill>
                  <a:srgbClr val="E50000"/>
                </a:solidFill>
                <a:latin typeface="Consolas" panose="020B0609020204030204" pitchFamily="49" charset="0"/>
              </a:rPr>
              <a:t>xmlns:mc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"http://schemas.openxmlformats.org/markup-compatibility/2006"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 err="1">
                <a:solidFill>
                  <a:srgbClr val="E50000"/>
                </a:solidFill>
                <a:latin typeface="Consolas" panose="020B0609020204030204" pitchFamily="49" charset="0"/>
              </a:rPr>
              <a:t>mc:Ignorable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"d"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Width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"600"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Height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"400"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E50000"/>
                </a:solidFill>
                <a:latin typeface="Consolas" panose="020B0609020204030204" pitchFamily="49" charset="0"/>
              </a:rPr>
              <a:t>x:Class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"AvaloniaApplication1.Views.MainWindow"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E50000"/>
                </a:solidFill>
                <a:latin typeface="Consolas" panose="020B0609020204030204" pitchFamily="49" charset="0"/>
              </a:rPr>
              <a:t>x:DataType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"vm:MainWindowViewModel"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E50000"/>
                </a:solidFill>
                <a:latin typeface="Consolas" panose="020B0609020204030204" pitchFamily="49" charset="0"/>
              </a:rPr>
              <a:t>Icon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"/Assets/avalonia-logo.ico"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E50000"/>
                </a:solidFill>
                <a:latin typeface="Consolas" panose="020B0609020204030204" pitchFamily="49" charset="0"/>
              </a:rPr>
              <a:t>Title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ru-RU" sz="2100" dirty="0">
                <a:solidFill>
                  <a:srgbClr val="0000FF"/>
                </a:solidFill>
                <a:latin typeface="Consolas" panose="020B0609020204030204" pitchFamily="49" charset="0"/>
              </a:rPr>
              <a:t>Первое приложение на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Avalonia</a:t>
            </a:r>
            <a:r>
              <a:rPr lang="en-US" sz="21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endParaRPr lang="en-US" sz="2100" dirty="0" smtClean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	</a:t>
            </a:r>
            <a:r>
              <a:rPr lang="en-US" sz="21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 err="1">
                <a:solidFill>
                  <a:srgbClr val="800000"/>
                </a:solidFill>
                <a:latin typeface="Consolas" panose="020B0609020204030204" pitchFamily="49" charset="0"/>
              </a:rPr>
              <a:t>Design.DataContext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 err="1">
                <a:solidFill>
                  <a:srgbClr val="800000"/>
                </a:solidFill>
                <a:latin typeface="Consolas" panose="020B0609020204030204" pitchFamily="49" charset="0"/>
              </a:rPr>
              <a:t>vm:MainWindowViewModel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1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100" dirty="0" err="1">
                <a:solidFill>
                  <a:srgbClr val="800000"/>
                </a:solidFill>
                <a:latin typeface="Consolas" panose="020B0609020204030204" pitchFamily="49" charset="0"/>
              </a:rPr>
              <a:t>Design.DataContext</a:t>
            </a:r>
            <a:r>
              <a:rPr lang="en-US" sz="21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sz="21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&lt;!– </a:t>
            </a:r>
            <a:r>
              <a:rPr lang="ru-RU" sz="21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Далее --&gt;</a:t>
            </a:r>
            <a:endParaRPr lang="en-US" sz="21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	</a:t>
            </a:r>
            <a: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1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100" dirty="0">
                <a:solidFill>
                  <a:srgbClr val="800000"/>
                </a:solidFill>
                <a:latin typeface="Consolas" panose="020B0609020204030204" pitchFamily="49" charset="0"/>
              </a:rPr>
              <a:t>&lt;/Window&gt;</a:t>
            </a:r>
            <a:endParaRPr lang="en-US" sz="2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04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StackPanel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HorizontalAlignment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Center"</a:t>
            </a:r>
            <a:endParaRPr lang="ru-RU" sz="2400" dirty="0" smtClean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						</a:t>
            </a:r>
            <a:r>
              <a:rPr lang="en-US" sz="2400" dirty="0" err="1" smtClean="0">
                <a:solidFill>
                  <a:srgbClr val="E50000"/>
                </a:solidFill>
                <a:latin typeface="Consolas" panose="020B0609020204030204" pitchFamily="49" charset="0"/>
              </a:rPr>
              <a:t>VerticalAlignment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"Center"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Spacing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"20"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Приветственный текст --&gt;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"{Binding Message}"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FontSize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"16"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TextAlignment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"Center"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HorizontalAlignment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"Center"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Счетчик с привязкой к вычисляемому свойству --&gt;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TextBlock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DisplayCount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FontSize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"18"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FontWeight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"Bold"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Foreground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"Blue"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HorizontalAlignment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"Center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3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&lt;!--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Кнопки с привязкой команд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ReactiveUI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--&gt;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Увеличить счетчик!"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Command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IncrementCommand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"150"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"35"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FontSize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"14"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Сбросить"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Command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"{Binding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ResetCommand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}"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"100"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E50000"/>
                </a:solidFill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"30"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2400" dirty="0" err="1">
                <a:solidFill>
                  <a:srgbClr val="E50000"/>
                </a:solidFill>
                <a:latin typeface="Consolas" panose="020B0609020204030204" pitchFamily="49" charset="0"/>
              </a:rPr>
              <a:t>FontSize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"12"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StackPanel</a:t>
            </a:r>
            <a:r>
              <a:rPr lang="en-US" sz="24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ru-RU" sz="2400" dirty="0" smtClean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Замечание: </a:t>
            </a: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Чтобы отображалась кириллица необходимо, чтобы расширение файла было </a:t>
            </a:r>
            <a:r>
              <a:rPr lang="en-US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UTF-8.</a:t>
            </a:r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9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83045"/>
          </a:xfrm>
          <a:prstGeom prst="rect">
            <a:avLst/>
          </a:prstGeom>
        </p:spPr>
        <p:txBody>
          <a:bodyPr wrap="square" l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Пример работы программы</a:t>
            </a:r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612" y="583045"/>
            <a:ext cx="8334775" cy="598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2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14564</TotalTime>
  <Words>950</Words>
  <Application>Microsoft Office PowerPoint</Application>
  <PresentationFormat>Широкоэкранный</PresentationFormat>
  <Paragraphs>357</Paragraphs>
  <Slides>32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0" baseType="lpstr">
      <vt:lpstr>Arial</vt:lpstr>
      <vt:lpstr>Bookman Old Style</vt:lpstr>
      <vt:lpstr>Calibri</vt:lpstr>
      <vt:lpstr>Calibri Light</vt:lpstr>
      <vt:lpstr>Cascadia Mono</vt:lpstr>
      <vt:lpstr>Consolas</vt:lpstr>
      <vt:lpstr>Times New Roman</vt:lpstr>
      <vt:lpstr>Тема Office</vt:lpstr>
      <vt:lpstr>6 семестр Лекция 2.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826</cp:revision>
  <dcterms:modified xsi:type="dcterms:W3CDTF">2026-02-18T13:54:05Z</dcterms:modified>
</cp:coreProperties>
</file>