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4"/>
  </p:notesMasterIdLst>
  <p:sldIdLst>
    <p:sldId id="273" r:id="rId2"/>
    <p:sldId id="1112" r:id="rId3"/>
    <p:sldId id="1114" r:id="rId4"/>
    <p:sldId id="1115" r:id="rId5"/>
    <p:sldId id="1116" r:id="rId6"/>
    <p:sldId id="1119" r:id="rId7"/>
    <p:sldId id="1120" r:id="rId8"/>
    <p:sldId id="1128" r:id="rId9"/>
    <p:sldId id="1124" r:id="rId10"/>
    <p:sldId id="1127" r:id="rId11"/>
    <p:sldId id="1129" r:id="rId12"/>
    <p:sldId id="1131" r:id="rId13"/>
    <p:sldId id="1132" r:id="rId14"/>
    <p:sldId id="1133" r:id="rId15"/>
    <p:sldId id="1134" r:id="rId16"/>
    <p:sldId id="1135" r:id="rId17"/>
    <p:sldId id="1136" r:id="rId18"/>
    <p:sldId id="1137" r:id="rId19"/>
    <p:sldId id="1138" r:id="rId20"/>
    <p:sldId id="1140" r:id="rId21"/>
    <p:sldId id="1139" r:id="rId22"/>
    <p:sldId id="1141" r:id="rId23"/>
    <p:sldId id="1142" r:id="rId24"/>
    <p:sldId id="1143" r:id="rId25"/>
    <p:sldId id="1144" r:id="rId26"/>
    <p:sldId id="1145" r:id="rId27"/>
    <p:sldId id="1146" r:id="rId28"/>
    <p:sldId id="1147" r:id="rId29"/>
    <p:sldId id="1148" r:id="rId30"/>
    <p:sldId id="1149" r:id="rId31"/>
    <p:sldId id="1150" r:id="rId32"/>
    <p:sldId id="115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799" autoAdjust="0"/>
    <p:restoredTop sz="95343" autoAdjust="0"/>
  </p:normalViewPr>
  <p:slideViewPr>
    <p:cSldViewPr snapToGrid="0">
      <p:cViewPr varScale="1">
        <p:scale>
          <a:sx n="85" d="100"/>
          <a:sy n="85" d="100"/>
        </p:scale>
        <p:origin x="96" y="7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2/15/2026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371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44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905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39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78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2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96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5819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356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974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157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718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046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415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31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140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148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898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7176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08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158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573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7845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766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396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706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573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692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13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4751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10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msdn.microsoft.com/johngossman/2005/10/08/introduction-to-modelviewviewmodel-pattern-for-building-wpf-app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371218"/>
            <a:ext cx="10670534" cy="1718278"/>
          </a:xfrm>
        </p:spPr>
        <p:txBody>
          <a:bodyPr>
            <a:noAutofit/>
          </a:bodyPr>
          <a:lstStyle/>
          <a:p>
            <a:pPr algn="l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089496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Эволюция технологий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Desktop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Язык разметки XAML и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XML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Архитектурный паттерн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MVVM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Реализация MVVM (Интерфейсы и Команды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Практический пример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605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Windows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latin typeface="Bookman Old Style" panose="02050604050505020204" pitchFamily="18" charset="0"/>
              </a:rPr>
              <a:t> — классическая технология для создания графических интерфейсов (GUI) в среде .NET. Является удобной «оберткой» над низкоуровневым Win32 API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Год рождения: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 ~2002, вместе с .NET </a:t>
            </a:r>
            <a:r>
              <a:rPr lang="ru-RU" sz="2400" dirty="0" err="1" smtClean="0">
                <a:solidFill>
                  <a:srgbClr val="0F1115"/>
                </a:solidFill>
                <a:latin typeface="Bookman Old Style" panose="02050604050505020204" pitchFamily="18" charset="0"/>
              </a:rPr>
              <a:t>Framework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en-US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Плюсы: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Очень низкий порог входа.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Быстрое создание простых приложений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Огромная база знаний и готовых решений.</a:t>
            </a:r>
          </a:p>
          <a:p>
            <a:pPr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Минусы: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Только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Внешний вид привязан к версии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 Сложно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кастомизировать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«Спагетти-код». Вся логика пишется внутри обработчика нажатия кнопки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). Это нарушает принципы ООП (единственная ответственность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Эволюция технологий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Desktop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 </a:t>
            </a:r>
            <a:r>
              <a:rPr lang="ru-RU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838200" y="2538413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6176" rIns="0" bIns="76176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6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WPF</a:t>
            </a:r>
            <a:r>
              <a:rPr lang="ru-RU" sz="2400" dirty="0">
                <a:latin typeface="Bookman Old Style" panose="02050604050505020204" pitchFamily="18" charset="0"/>
              </a:rPr>
              <a:t> — современная графическая подсистема .NET для создания визуально насыщенных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Windows</a:t>
            </a:r>
            <a:r>
              <a:rPr lang="ru-RU" sz="2400" dirty="0" smtClean="0">
                <a:latin typeface="Bookman Old Style" panose="02050604050505020204" pitchFamily="18" charset="0"/>
              </a:rPr>
              <a:t>-приложений. Внешний </a:t>
            </a:r>
            <a:r>
              <a:rPr lang="ru-RU" sz="2400" dirty="0">
                <a:latin typeface="Bookman Old Style" panose="02050604050505020204" pitchFamily="18" charset="0"/>
              </a:rPr>
              <a:t>вид описывается на языке </a:t>
            </a:r>
            <a:r>
              <a:rPr lang="ru-RU" sz="2400" b="1" dirty="0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а бизнес-логика пишется на </a:t>
            </a:r>
            <a:r>
              <a:rPr lang="ru-RU" sz="2400" b="1" dirty="0">
                <a:latin typeface="Bookman Old Style" panose="02050604050505020204" pitchFamily="18" charset="0"/>
              </a:rPr>
              <a:t>C</a:t>
            </a:r>
            <a:r>
              <a:rPr lang="ru-RU" sz="2400" b="1" dirty="0" smtClean="0">
                <a:latin typeface="Bookman Old Style" panose="02050604050505020204" pitchFamily="18" charset="0"/>
              </a:rPr>
              <a:t>#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Год рождения:</a:t>
            </a:r>
            <a:r>
              <a:rPr lang="ru-RU" sz="2400" dirty="0">
                <a:latin typeface="Bookman Old Style" panose="02050604050505020204" pitchFamily="18" charset="0"/>
              </a:rPr>
              <a:t> 2006 (в составе .NET </a:t>
            </a:r>
            <a:r>
              <a:rPr lang="ru-RU" sz="2400" dirty="0" err="1">
                <a:latin typeface="Bookman Old Style" panose="02050604050505020204" pitchFamily="18" charset="0"/>
              </a:rPr>
              <a:t>Framework</a:t>
            </a:r>
            <a:r>
              <a:rPr lang="ru-RU" sz="2400" dirty="0">
                <a:latin typeface="Bookman Old Style" panose="02050604050505020204" pitchFamily="18" charset="0"/>
              </a:rPr>
              <a:t> 3.0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1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Ключевые </a:t>
            </a:r>
            <a:r>
              <a:rPr lang="ru-RU" sz="2400" b="1" dirty="0">
                <a:latin typeface="Bookman Old Style" panose="02050604050505020204" pitchFamily="18" charset="0"/>
              </a:rPr>
              <a:t>особенности и отличия: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Векторная графика:</a:t>
            </a:r>
            <a:r>
              <a:rPr lang="ru-RU" sz="2400" dirty="0">
                <a:latin typeface="Bookman Old Style" panose="02050604050505020204" pitchFamily="18" charset="0"/>
              </a:rPr>
              <a:t> Интерфейс не зависит от разрешения экрана (не «</a:t>
            </a:r>
            <a:r>
              <a:rPr lang="ru-RU" sz="2400" dirty="0" err="1">
                <a:latin typeface="Bookman Old Style" panose="02050604050505020204" pitchFamily="18" charset="0"/>
              </a:rPr>
              <a:t>пикселизуется</a:t>
            </a:r>
            <a:r>
              <a:rPr lang="ru-RU" sz="2400" dirty="0">
                <a:latin typeface="Bookman Old Style" panose="02050604050505020204" pitchFamily="18" charset="0"/>
              </a:rPr>
              <a:t>» при масштабировании).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Аппаратное ускорение:</a:t>
            </a:r>
            <a:r>
              <a:rPr lang="ru-RU" sz="2400" dirty="0">
                <a:latin typeface="Bookman Old Style" panose="02050604050505020204" pitchFamily="18" charset="0"/>
              </a:rPr>
              <a:t> В отличие от 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 (GDI+), WPF использует </a:t>
            </a:r>
            <a:r>
              <a:rPr lang="ru-RU" sz="2400" b="1" dirty="0" err="1">
                <a:latin typeface="Bookman Old Style" panose="02050604050505020204" pitchFamily="18" charset="0"/>
              </a:rPr>
              <a:t>DirectX</a:t>
            </a:r>
            <a:r>
              <a:rPr lang="ru-RU" sz="2400" dirty="0">
                <a:latin typeface="Bookman Old Style" panose="02050604050505020204" pitchFamily="18" charset="0"/>
              </a:rPr>
              <a:t>. Это позволяет легко работать с </a:t>
            </a:r>
            <a:r>
              <a:rPr lang="ru-RU" sz="2400" dirty="0" err="1">
                <a:latin typeface="Bookman Old Style" panose="02050604050505020204" pitchFamily="18" charset="0"/>
              </a:rPr>
              <a:t>анимациями</a:t>
            </a:r>
            <a:r>
              <a:rPr lang="ru-RU" sz="2400" dirty="0">
                <a:latin typeface="Bookman Old Style" panose="02050604050505020204" pitchFamily="18" charset="0"/>
              </a:rPr>
              <a:t>, 2D/3D графикой и мультимедиа.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Гибкая стилизация:</a:t>
            </a:r>
            <a:r>
              <a:rPr lang="ru-RU" sz="2400" dirty="0">
                <a:latin typeface="Bookman Old Style" panose="02050604050505020204" pitchFamily="18" charset="0"/>
              </a:rPr>
              <a:t> Мощная система стилей и шаблонов (аналог CSS в вебе), позволяющая полностью изменить вид любого элемента.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Связывание данных (</a:t>
            </a: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Продвинутый механизм синхронизации данных между кодом и интерфейсом.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Windows Presentation Foundation (WPF)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3280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Avalonia</a:t>
            </a:r>
            <a:r>
              <a:rPr lang="ru-RU" sz="2400" dirty="0" smtClean="0">
                <a:latin typeface="Bookman Old Style" panose="02050604050505020204" pitchFamily="18" charset="0"/>
              </a:rPr>
              <a:t> — это мощный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open-source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err="1" smtClean="0">
                <a:latin typeface="Bookman Old Style" panose="02050604050505020204" pitchFamily="18" charset="0"/>
              </a:rPr>
              <a:t>фреймворк</a:t>
            </a:r>
            <a:r>
              <a:rPr lang="ru-RU" sz="2400" dirty="0" smtClean="0">
                <a:latin typeface="Bookman Old Style" panose="02050604050505020204" pitchFamily="18" charset="0"/>
              </a:rPr>
              <a:t> для создания кроссплатформенных графических интерфейсов на базе .NET.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Наследник WPF:</a:t>
            </a:r>
            <a:r>
              <a:rPr lang="ru-RU" sz="2400" dirty="0" smtClean="0">
                <a:latin typeface="Bookman Old Style" panose="02050604050505020204" pitchFamily="18" charset="0"/>
              </a:rPr>
              <a:t> Построен на принципах WPF и UWP, что делает переход на него максимально легким для .NET-разработчиков.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появления:</a:t>
            </a:r>
            <a:r>
              <a:rPr lang="ru-RU" sz="2400" dirty="0" smtClean="0">
                <a:latin typeface="Bookman Old Style" panose="02050604050505020204" pitchFamily="18" charset="0"/>
              </a:rPr>
              <a:t> ~2013 (активное развитие началось с выходом .NET </a:t>
            </a:r>
            <a:r>
              <a:rPr lang="ru-RU" sz="2400" dirty="0" err="1" smtClean="0">
                <a:latin typeface="Bookman Old Style" panose="02050604050505020204" pitchFamily="18" charset="0"/>
              </a:rPr>
              <a:t>Core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Кроссплатформенность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– свойство программного обеспечения, позволяющее ему работать с несколькими операционными системами или аппаратными платформами без изменения исходного кода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8073" y="3747510"/>
            <a:ext cx="3769856" cy="1256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466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Ключевые особенности: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Разделение ответственности:</a:t>
            </a:r>
            <a:r>
              <a:rPr lang="ru-RU" sz="2400" dirty="0" smtClean="0">
                <a:latin typeface="Bookman Old Style" panose="02050604050505020204" pitchFamily="18" charset="0"/>
              </a:rPr>
              <a:t> Полная поддержка связки </a:t>
            </a:r>
            <a:r>
              <a:rPr lang="ru-RU" sz="2400" b="1" dirty="0" smtClean="0">
                <a:latin typeface="Bookman Old Style" panose="02050604050505020204" pitchFamily="18" charset="0"/>
              </a:rPr>
              <a:t>XAML</a:t>
            </a:r>
            <a:r>
              <a:rPr lang="ru-RU" sz="2400" dirty="0" smtClean="0">
                <a:latin typeface="Bookman Old Style" panose="02050604050505020204" pitchFamily="18" charset="0"/>
              </a:rPr>
              <a:t> (интерфейс) + </a:t>
            </a:r>
            <a:r>
              <a:rPr lang="ru-RU" sz="2400" b="1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 (логика), что обеспечивает чистоту и гибкость кода.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Векторная графика:</a:t>
            </a:r>
            <a:r>
              <a:rPr lang="ru-RU" sz="2400" dirty="0" smtClean="0">
                <a:latin typeface="Bookman Old Style" panose="02050604050505020204" pitchFamily="18" charset="0"/>
              </a:rPr>
              <a:t> Интерфейс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отрисовывается</a:t>
            </a:r>
            <a:r>
              <a:rPr lang="ru-RU" sz="2400" dirty="0" smtClean="0">
                <a:latin typeface="Bookman Old Style" panose="02050604050505020204" pitchFamily="18" charset="0"/>
              </a:rPr>
              <a:t> через собственную систему визуализации. Результат: идеальная четкость на любых экранах и ОС.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Кроссплатформенность: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Desktop</a:t>
            </a:r>
            <a:r>
              <a:rPr lang="ru-RU" sz="2400" b="1" dirty="0" smtClean="0">
                <a:latin typeface="Bookman Old Style" panose="02050604050505020204" pitchFamily="18" charset="0"/>
              </a:rPr>
              <a:t> (основное):</a:t>
            </a:r>
            <a:r>
              <a:rPr lang="ru-RU" sz="2400" dirty="0" smtClean="0">
                <a:latin typeface="Bookman Old Style" panose="02050604050505020204" pitchFamily="18" charset="0"/>
              </a:rPr>
              <a:t> Единый код для 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Windows</a:t>
            </a:r>
            <a:r>
              <a:rPr lang="ru-RU" sz="2400" b="1" dirty="0" smtClean="0">
                <a:latin typeface="Bookman Old Style" panose="02050604050505020204" pitchFamily="18" charset="0"/>
              </a:rPr>
              <a:t>,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Linux</a:t>
            </a:r>
            <a:r>
              <a:rPr lang="ru-RU" sz="2400" b="1" dirty="0" smtClean="0">
                <a:latin typeface="Bookman Old Style" panose="02050604050505020204" pitchFamily="18" charset="0"/>
              </a:rPr>
              <a:t> и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macOS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lvl="1"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Mobile</a:t>
            </a:r>
            <a:r>
              <a:rPr lang="ru-RU" sz="2400" b="1" dirty="0" smtClean="0">
                <a:latin typeface="Bookman Old Style" panose="02050604050505020204" pitchFamily="18" charset="0"/>
              </a:rPr>
              <a:t> &amp;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Web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 Экспериментальная поддержка </a:t>
            </a:r>
            <a:r>
              <a:rPr lang="ru-RU" sz="2400" dirty="0" err="1" smtClean="0">
                <a:latin typeface="Bookman Old Style" panose="02050604050505020204" pitchFamily="18" charset="0"/>
              </a:rPr>
              <a:t>iOS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err="1" smtClean="0">
                <a:latin typeface="Bookman Old Style" panose="02050604050505020204" pitchFamily="18" charset="0"/>
              </a:rPr>
              <a:t>Android</a:t>
            </a:r>
            <a:r>
              <a:rPr lang="ru-RU" sz="2400" dirty="0" smtClean="0">
                <a:latin typeface="Bookman Old Style" panose="02050604050505020204" pitchFamily="18" charset="0"/>
              </a:rPr>
              <a:t> и браузера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WebAssembly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Open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Source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 Распространяется под свободной лицензией MIT.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206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XML (</a:t>
            </a:r>
            <a:r>
              <a:rPr lang="ru-RU" sz="2400" b="1" dirty="0" err="1">
                <a:latin typeface="Bookman Old Style" panose="02050604050505020204" pitchFamily="18" charset="0"/>
              </a:rPr>
              <a:t>eExtensible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Markup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Language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расширяемый язык разметки для хранения и передачи структурированных данных.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Опубликован:</a:t>
            </a:r>
            <a:r>
              <a:rPr lang="ru-RU" sz="2400" dirty="0">
                <a:latin typeface="Bookman Old Style" panose="02050604050505020204" pitchFamily="18" charset="0"/>
              </a:rPr>
              <a:t> 1998 г.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Главная особенность:</a:t>
            </a:r>
            <a:r>
              <a:rPr lang="ru-RU" sz="2400" dirty="0">
                <a:latin typeface="Bookman Old Style" panose="02050604050505020204" pitchFamily="18" charset="0"/>
              </a:rPr>
              <a:t> Отсутствие фиксированных тегов. Разработчик сам определяет имена элементов исходя из предметной области.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Назначение: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Универсальный формат обмена данными между разными системами.</a:t>
            </a: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Человекочитаемая</a:t>
            </a:r>
            <a:r>
              <a:rPr lang="ru-RU" sz="2400" dirty="0">
                <a:latin typeface="Bookman Old Style" panose="02050604050505020204" pitchFamily="18" charset="0"/>
              </a:rPr>
              <a:t> структура.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Машинная независимость.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Язык разметки 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XML и </a:t>
            </a:r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XAML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070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https://habrastorage.org/r/w1560/webt/r-/y_/tq/r-y_tqlxmqkkq_otfb2-gplu7n8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202916"/>
            <a:ext cx="5715000" cy="3316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6884894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XML имеет строгую иерархическую структуру.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 Пролог (необязательно):</a:t>
            </a:r>
            <a:r>
              <a:rPr lang="ru-RU" sz="2400" dirty="0">
                <a:latin typeface="Bookman Old Style" panose="02050604050505020204" pitchFamily="18" charset="0"/>
              </a:rPr>
              <a:t> Указывает версию и кодировку.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&lt;?</a:t>
            </a:r>
            <a:r>
              <a:rPr lang="ru-RU" sz="2400" dirty="0" err="1">
                <a:latin typeface="Bookman Old Style" panose="02050604050505020204" pitchFamily="18" charset="0"/>
              </a:rPr>
              <a:t>xml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version</a:t>
            </a:r>
            <a:r>
              <a:rPr lang="ru-RU" sz="2400" dirty="0">
                <a:latin typeface="Bookman Old Style" panose="02050604050505020204" pitchFamily="18" charset="0"/>
              </a:rPr>
              <a:t>="1.0" </a:t>
            </a:r>
            <a:r>
              <a:rPr lang="ru-RU" sz="2400" dirty="0" err="1">
                <a:latin typeface="Bookman Old Style" panose="02050604050505020204" pitchFamily="18" charset="0"/>
              </a:rPr>
              <a:t>encoding</a:t>
            </a:r>
            <a:r>
              <a:rPr lang="ru-RU" sz="2400" dirty="0">
                <a:latin typeface="Bookman Old Style" panose="02050604050505020204" pitchFamily="18" charset="0"/>
              </a:rPr>
              <a:t>="UTF-8"?&gt;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2. Корневой элемент:</a:t>
            </a:r>
            <a:r>
              <a:rPr lang="ru-RU" sz="2400" dirty="0">
                <a:latin typeface="Bookman Old Style" panose="02050604050505020204" pitchFamily="18" charset="0"/>
              </a:rPr>
              <a:t> Обязательный «родительский» тег, в который вложены все остальные данные.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Элементы и Теги: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Данные заключаются в открывающий и закрывающий теги: &lt;</a:t>
            </a:r>
            <a:r>
              <a:rPr lang="ru-RU" sz="2400" dirty="0" err="1">
                <a:latin typeface="Bookman Old Style" panose="02050604050505020204" pitchFamily="18" charset="0"/>
              </a:rPr>
              <a:t>name</a:t>
            </a:r>
            <a:r>
              <a:rPr lang="ru-RU" sz="2400" dirty="0">
                <a:latin typeface="Bookman Old Style" panose="02050604050505020204" pitchFamily="18" charset="0"/>
              </a:rPr>
              <a:t>&gt;Иван&lt;/</a:t>
            </a:r>
            <a:r>
              <a:rPr lang="ru-RU" sz="2400" dirty="0" err="1">
                <a:latin typeface="Bookman Old Style" panose="02050604050505020204" pitchFamily="18" charset="0"/>
              </a:rPr>
              <a:t>name</a:t>
            </a:r>
            <a:r>
              <a:rPr lang="ru-RU" sz="2400" dirty="0" smtClean="0">
                <a:latin typeface="Bookman Old Style" panose="02050604050505020204" pitchFamily="18" charset="0"/>
              </a:rPr>
              <a:t>&gt;.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Picture 2" descr="https://habrastorage.org/r/w1560/webt/pv/cg/tx/pvcgtxsrt8o3-ewdeqbp77ogwiw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231115"/>
            <a:ext cx="5715000" cy="2971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6287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https://habrastorage.org/r/w1560/webt/cp/ms/ln/cpmslnauu_14-kdbyvw7uw7dgh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1694" y="1683141"/>
            <a:ext cx="7700682" cy="5174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4</a:t>
            </a:r>
            <a:r>
              <a:rPr lang="ru-RU" sz="2400" b="1" dirty="0">
                <a:latin typeface="Bookman Old Style" panose="02050604050505020204" pitchFamily="18" charset="0"/>
              </a:rPr>
              <a:t>. Атрибуты: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Дополнительные свойства элементов в формате имя="значение". Позволяют уточнить характеристики без создания новых вложенных элементов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440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XML: что это за формат и как он используется | Unisend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788" y="0"/>
            <a:ext cx="10233212" cy="680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224117" y="0"/>
            <a:ext cx="173467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Пример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047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 — язык на базе XML, созданный </a:t>
            </a:r>
            <a:r>
              <a:rPr lang="ru-RU" sz="2400" dirty="0" err="1">
                <a:latin typeface="Bookman Old Style" panose="02050604050505020204" pitchFamily="18" charset="0"/>
              </a:rPr>
              <a:t>Microsoft</a:t>
            </a:r>
            <a:r>
              <a:rPr lang="ru-RU" sz="2400" dirty="0">
                <a:latin typeface="Bookman Old Style" panose="02050604050505020204" pitchFamily="18" charset="0"/>
              </a:rPr>
              <a:t> для проектирования пользовательских интерфейсов.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Разделение дизайна и логики. Дизайнер описывает внешний вид в XAML, программист пишет логику на C#.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Ключевые возможности: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Декларативность:</a:t>
            </a:r>
            <a:r>
              <a:rPr lang="ru-RU" sz="2400" dirty="0">
                <a:latin typeface="Bookman Old Style" panose="02050604050505020204" pitchFamily="18" charset="0"/>
              </a:rPr>
              <a:t> Вы описываете </a:t>
            </a:r>
            <a:r>
              <a:rPr lang="ru-RU" sz="2400" i="1" dirty="0">
                <a:latin typeface="Bookman Old Style" panose="02050604050505020204" pitchFamily="18" charset="0"/>
              </a:rPr>
              <a:t>что</a:t>
            </a:r>
            <a:r>
              <a:rPr lang="ru-RU" sz="2400" dirty="0">
                <a:latin typeface="Bookman Old Style" panose="02050604050505020204" pitchFamily="18" charset="0"/>
              </a:rPr>
              <a:t> должно быть на экране (кнопка, слайдер), а не </a:t>
            </a:r>
            <a:r>
              <a:rPr lang="ru-RU" sz="2400" i="1" dirty="0">
                <a:latin typeface="Bookman Old Style" panose="02050604050505020204" pitchFamily="18" charset="0"/>
              </a:rPr>
              <a:t>как</a:t>
            </a:r>
            <a:r>
              <a:rPr lang="ru-RU" sz="2400" dirty="0">
                <a:latin typeface="Bookman Old Style" panose="02050604050505020204" pitchFamily="18" charset="0"/>
              </a:rPr>
              <a:t> его рисовать.</a:t>
            </a:r>
          </a:p>
          <a:p>
            <a:pPr lvl="1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Стилизация:</a:t>
            </a:r>
            <a:r>
              <a:rPr lang="ru-RU" sz="2400" dirty="0">
                <a:latin typeface="Bookman Old Style" panose="02050604050505020204" pitchFamily="18" charset="0"/>
              </a:rPr>
              <a:t> Мощная поддержка стилей (аналог CSS).</a:t>
            </a:r>
          </a:p>
          <a:p>
            <a:pPr lvl="1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Продвинутая синхронизация данных между интерфейсом и кодом.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XAML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626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Пример структуры: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800000"/>
                </a:solidFill>
                <a:latin typeface="Bookman Old Style" panose="02050604050505020204" pitchFamily="18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Orientation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"Horizontal"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Нажать"</a:t>
            </a:r>
            <a:r>
              <a:rPr lang="ru-RU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"100"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TextBox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Bookman Old Style" panose="02050604050505020204" pitchFamily="18" charset="0"/>
              </a:rPr>
              <a:t>UserName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}"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Bookman Old Style" panose="02050604050505020204" pitchFamily="18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b="0" dirty="0">
              <a:solidFill>
                <a:srgbClr val="800000"/>
              </a:solidFill>
              <a:effectLst/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XML:</a:t>
            </a:r>
            <a:r>
              <a:rPr lang="ru-RU" sz="2400" dirty="0">
                <a:latin typeface="Bookman Old Style" panose="02050604050505020204" pitchFamily="18" charset="0"/>
              </a:rPr>
              <a:t> Описывает </a:t>
            </a:r>
            <a:r>
              <a:rPr lang="ru-RU" sz="2400" b="1" dirty="0">
                <a:latin typeface="Bookman Old Style" panose="02050604050505020204" pitchFamily="18" charset="0"/>
              </a:rPr>
              <a:t>информацию</a:t>
            </a:r>
            <a:r>
              <a:rPr lang="ru-RU" sz="2400" dirty="0">
                <a:latin typeface="Bookman Old Style" panose="02050604050505020204" pitchFamily="18" charset="0"/>
              </a:rPr>
              <a:t>. Например, список студентов, настройки программы или каталог товаров. Ему всё равно, как это будет выглядеть на экране.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XAML:</a:t>
            </a:r>
            <a:r>
              <a:rPr lang="ru-RU" sz="2400" dirty="0">
                <a:latin typeface="Bookman Old Style" panose="02050604050505020204" pitchFamily="18" charset="0"/>
              </a:rPr>
              <a:t> Описывает </a:t>
            </a:r>
            <a:r>
              <a:rPr lang="ru-RU" sz="2400" b="1" dirty="0">
                <a:latin typeface="Bookman Old Style" panose="02050604050505020204" pitchFamily="18" charset="0"/>
              </a:rPr>
              <a:t>объекты интерфейса</a:t>
            </a:r>
            <a:r>
              <a:rPr lang="ru-RU" sz="2400" dirty="0">
                <a:latin typeface="Bookman Old Style" panose="02050604050505020204" pitchFamily="18" charset="0"/>
              </a:rPr>
              <a:t>. Каждый тег в XAML — это реальный программный объект (кнопка, текстовое поле, окно), который появится на экране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72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MVVM (</a:t>
            </a:r>
            <a:r>
              <a:rPr lang="ru-RU" sz="2400" b="1" dirty="0" err="1">
                <a:latin typeface="Bookman Old Style" panose="02050604050505020204" pitchFamily="18" charset="0"/>
              </a:rPr>
              <a:t>Model-View-ViewModel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архитектурный </a:t>
            </a:r>
            <a:r>
              <a:rPr lang="ru-RU" sz="2400" dirty="0" smtClean="0">
                <a:latin typeface="Bookman Old Style" panose="02050604050505020204" pitchFamily="18" charset="0"/>
              </a:rPr>
              <a:t>паттерн (шаблон), </a:t>
            </a:r>
            <a:r>
              <a:rPr lang="ru-RU" sz="2400" dirty="0">
                <a:latin typeface="Bookman Old Style" panose="02050604050505020204" pitchFamily="18" charset="0"/>
              </a:rPr>
              <a:t>разделяющий визуальную часть приложения и его логику. Был представлен в 2005 </a:t>
            </a:r>
            <a:r>
              <a:rPr lang="ru-RU" sz="2400" dirty="0" smtClean="0">
                <a:latin typeface="Bookman Old Style" panose="02050604050505020204" pitchFamily="18" charset="0"/>
              </a:rPr>
              <a:t>году </a:t>
            </a:r>
            <a:r>
              <a:rPr lang="ru-RU" sz="2400" dirty="0">
                <a:latin typeface="Bookman Old Style" panose="02050604050505020204" pitchFamily="18" charset="0"/>
              </a:rPr>
              <a:t>и стал стандартом для WPF, </a:t>
            </a:r>
            <a:r>
              <a:rPr lang="ru-RU" sz="2400" dirty="0" err="1"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iOS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Автор: </a:t>
            </a:r>
            <a:r>
              <a:rPr lang="ru-RU" sz="2400" dirty="0" smtClean="0">
                <a:latin typeface="Bookman Old Style" panose="02050604050505020204" pitchFamily="18" charset="0"/>
                <a:hlinkClick r:id="rId3"/>
              </a:rPr>
              <a:t>Джон </a:t>
            </a:r>
            <a:r>
              <a:rPr lang="ru-RU" sz="2400" dirty="0" err="1" smtClean="0">
                <a:latin typeface="Bookman Old Style" panose="02050604050505020204" pitchFamily="18" charset="0"/>
                <a:hlinkClick r:id="rId3"/>
              </a:rPr>
              <a:t>Госсман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latin typeface="Bookman Old Style" panose="02050604050505020204" pitchFamily="18" charset="0"/>
              </a:rPr>
              <a:t>John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 smtClean="0">
                <a:latin typeface="Bookman Old Style" panose="02050604050505020204" pitchFamily="18" charset="0"/>
              </a:rPr>
              <a:t>Gossman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err="1" smtClean="0">
                <a:latin typeface="Bookman Old Style" panose="02050604050505020204" pitchFamily="18" charset="0"/>
              </a:rPr>
              <a:t>Microsoft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Данный паттерн является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архитектурным</a:t>
            </a:r>
            <a:r>
              <a:rPr lang="ru-RU" sz="2400" dirty="0" smtClean="0">
                <a:latin typeface="Bookman Old Style" panose="02050604050505020204" pitchFamily="18" charset="0"/>
              </a:rPr>
              <a:t>, то есть он задает общую архитектуру приложения.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Архитектурный паттерн </a:t>
            </a:r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888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7" t="13537" r="-707" b="12462"/>
          <a:stretch/>
        </p:blipFill>
        <p:spPr>
          <a:xfrm>
            <a:off x="704850" y="38100"/>
            <a:ext cx="10782300" cy="1562100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1600200"/>
            <a:ext cx="12192000" cy="484882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Основные компоненты: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Model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(Модель):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Данные и бизнес-логика (например, класс </a:t>
            </a:r>
            <a:r>
              <a:rPr lang="ru-RU" sz="2400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User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или запросы к БД). «Чистый» код, который ничего не знает об интерфейсе.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(Представление):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Визуальный интерфейс (XAML). «Глупая» часть системы: она только отображает данные и не содержит логики расчетов.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ViewModel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(Модель представления):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Связующее звено и «мозг» интерфейса.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Забирает данные из 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Модели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Преобразует их в удобный для отображения вид.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Обрабатывает команды от </a:t>
            </a: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(например, нажатие кнопки).</a:t>
            </a:r>
            <a:endParaRPr lang="ru-RU" sz="2400" b="0" i="0" dirty="0">
              <a:solidFill>
                <a:srgbClr val="2B2D31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558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Главная особенность MVVM — отсутствие прямой связи между кодом и интерфейсом. Взаимодействие происходит через «магию» </a:t>
            </a:r>
            <a:r>
              <a:rPr lang="ru-RU" sz="2400" b="1" dirty="0">
                <a:latin typeface="Bookman Old Style" panose="02050604050505020204" pitchFamily="18" charset="0"/>
              </a:rPr>
              <a:t>привязок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 (Привязка данных):</a:t>
            </a:r>
            <a:r>
              <a:rPr lang="ru-RU" sz="2400" dirty="0">
                <a:latin typeface="Bookman Old Style" panose="02050604050505020204" pitchFamily="18" charset="0"/>
              </a:rPr>
              <a:t> Механизм автоматической синхронизации между </a:t>
            </a:r>
            <a:r>
              <a:rPr lang="ru-RU" sz="2400" b="1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 и </a:t>
            </a:r>
            <a:r>
              <a:rPr lang="ru-RU" sz="2400" b="1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Изменили значение переменной в коде — текст на экране обновился сам.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Пользователь ввел текст в поле — значение в коде изменилось автоматически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8635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Команды 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Commands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Вместо классических обработчиков событий (как в 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), 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 отправляет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команду на выполнение действия.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 чем профит?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Независимость:</a:t>
            </a:r>
            <a:r>
              <a:rPr lang="ru-RU" sz="2400" dirty="0">
                <a:latin typeface="Bookman Old Style" panose="02050604050505020204" pitchFamily="18" charset="0"/>
              </a:rPr>
              <a:t> Программист может писать логику, а дизайнер — менять интерфейс в XAML одновременно, не мешая друг другу.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Тестируемость:</a:t>
            </a:r>
            <a:r>
              <a:rPr lang="ru-RU" sz="2400" dirty="0">
                <a:latin typeface="Bookman Old Style" panose="02050604050505020204" pitchFamily="18" charset="0"/>
              </a:rPr>
              <a:t> Логику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можно протестировать даже без запуска графического окна.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Чистота:</a:t>
            </a:r>
            <a:r>
              <a:rPr lang="ru-RU" sz="2400" dirty="0">
                <a:latin typeface="Bookman Old Style" panose="02050604050505020204" pitchFamily="18" charset="0"/>
              </a:rPr>
              <a:t> Код интерфейса не перемешан с бизнес-задачами.</a:t>
            </a:r>
          </a:p>
        </p:txBody>
      </p:sp>
    </p:spTree>
    <p:extLst>
      <p:ext uri="{BB962C8B-B14F-4D97-AF65-F5344CB8AC3E}">
        <p14:creationId xmlns:p14="http://schemas.microsoft.com/office/powerpoint/2010/main" val="3696949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0544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В C# обычные свойства «молчат». Если вы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измените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User.Name</a:t>
            </a:r>
            <a:r>
              <a:rPr lang="ru-RU" sz="2400" dirty="0">
                <a:latin typeface="Bookman Old Style" panose="02050604050505020204" pitchFamily="18" charset="0"/>
              </a:rPr>
              <a:t> в коде, текст в текстовом поле на экране останется прежним, потому что интерфейс не следит за памятью ежесекундно.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Интерфейс </a:t>
            </a:r>
            <a:r>
              <a:rPr lang="ru-RU" sz="2400" b="1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b="1" dirty="0">
                <a:latin typeface="Bookman Old Style" panose="02050604050505020204" pitchFamily="18" charset="0"/>
              </a:rPr>
              <a:t> (INPC)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Это стандартный механизм «оповещения» в .NET, который делает объекты разговорчивыми.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Класс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реализует этот интерфейс, предоставляя событие </a:t>
            </a:r>
            <a:r>
              <a:rPr lang="ru-RU" sz="2400" dirty="0" err="1">
                <a:latin typeface="Bookman Old Style" panose="02050604050505020204" pitchFamily="18" charset="0"/>
              </a:rPr>
              <a:t>PropertyChanged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Механика:</a:t>
            </a:r>
            <a:r>
              <a:rPr lang="ru-RU" sz="2400" dirty="0">
                <a:latin typeface="Bookman Old Style" panose="02050604050505020204" pitchFamily="18" charset="0"/>
              </a:rPr>
              <a:t> Когда значение свойства меняется, объект должен буквально </a:t>
            </a:r>
            <a:r>
              <a:rPr lang="ru-RU" sz="2400" b="1" dirty="0">
                <a:latin typeface="Bookman Old Style" panose="02050604050505020204" pitchFamily="18" charset="0"/>
              </a:rPr>
              <a:t>«крикнуть»</a:t>
            </a:r>
            <a:r>
              <a:rPr lang="ru-RU" sz="2400" dirty="0">
                <a:latin typeface="Bookman Old Style" panose="02050604050505020204" pitchFamily="18" charset="0"/>
              </a:rPr>
              <a:t> интерфейсу: </a:t>
            </a:r>
            <a:r>
              <a:rPr lang="ru-RU" sz="2400" i="1" dirty="0">
                <a:latin typeface="Bookman Old Style" panose="02050604050505020204" pitchFamily="18" charset="0"/>
              </a:rPr>
              <a:t>«Эй, моё свойство 'Имя' изменилось, перерисуй меня!»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Результат: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 «слышит» этот сигнал и мгновенно обновляет именно тот элемент, который привязан к этому свойству.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Реализация MVVM (Интерфейсы и Команды)</a:t>
            </a:r>
          </a:p>
        </p:txBody>
      </p:sp>
    </p:spTree>
    <p:extLst>
      <p:ext uri="{BB962C8B-B14F-4D97-AF65-F5344CB8AC3E}">
        <p14:creationId xmlns:p14="http://schemas.microsoft.com/office/powerpoint/2010/main" val="257554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2478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Свойство для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и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Уведомляем интерфейс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Стандартная реализация уведомлений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PropertyChangedEventHandler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0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Invoke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PropertyChangedEventArgs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237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053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В старых подходах (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) код писался в «обработчиках событий» (например, </a:t>
            </a:r>
            <a:r>
              <a:rPr lang="ru-RU" sz="2400" dirty="0" err="1"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latin typeface="Bookman Old Style" panose="02050604050505020204" pitchFamily="18" charset="0"/>
              </a:rPr>
              <a:t>). Это намертво привязывало логику к конкретной кнопке и конкретному окну.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Паттерн «Команда» (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ICommand</a:t>
            </a:r>
            <a:r>
              <a:rPr lang="ru-RU" sz="2400" b="1" dirty="0" smtClean="0">
                <a:latin typeface="Bookman Old Style" panose="02050604050505020204" pitchFamily="18" charset="0"/>
              </a:rPr>
              <a:t>) –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MVVM мы не обрабатываем «клик», мы вызываем «Команду».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Вместо события </a:t>
            </a:r>
            <a:r>
              <a:rPr lang="ru-RU" sz="2400" dirty="0" err="1">
                <a:latin typeface="Bookman Old Style" panose="02050604050505020204" pitchFamily="18" charset="0"/>
              </a:rPr>
              <a:t>Click</a:t>
            </a:r>
            <a:r>
              <a:rPr lang="ru-RU" sz="2400" dirty="0">
                <a:latin typeface="Bookman Old Style" panose="02050604050505020204" pitchFamily="18" charset="0"/>
              </a:rPr>
              <a:t>, свойство </a:t>
            </a:r>
            <a:r>
              <a:rPr lang="ru-RU" sz="2400" dirty="0" err="1">
                <a:latin typeface="Bookman Old Style" panose="02050604050505020204" pitchFamily="18" charset="0"/>
              </a:rPr>
              <a:t>Command</a:t>
            </a:r>
            <a:r>
              <a:rPr lang="ru-RU" sz="2400" dirty="0">
                <a:latin typeface="Bookman Old Style" panose="02050604050505020204" pitchFamily="18" charset="0"/>
              </a:rPr>
              <a:t> у кнопки привязывается к объекту типа </a:t>
            </a:r>
            <a:r>
              <a:rPr lang="ru-RU" sz="2400" dirty="0" err="1">
                <a:latin typeface="Bookman Old Style" panose="02050604050505020204" pitchFamily="18" charset="0"/>
              </a:rPr>
              <a:t>ICommand</a:t>
            </a:r>
            <a:r>
              <a:rPr lang="ru-RU" sz="2400" dirty="0">
                <a:latin typeface="Bookman Old Style" panose="02050604050505020204" pitchFamily="18" charset="0"/>
              </a:rPr>
              <a:t> 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Почему это </a:t>
            </a:r>
            <a:r>
              <a:rPr lang="ru-RU" sz="2400" b="1" dirty="0" smtClean="0">
                <a:latin typeface="Bookman Old Style" panose="02050604050505020204" pitchFamily="18" charset="0"/>
              </a:rPr>
              <a:t>круто: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Тестируемость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Вы можете запустить логику нажатия кнопки из обычного </a:t>
            </a:r>
            <a:r>
              <a:rPr lang="ru-RU" sz="2400" dirty="0" err="1">
                <a:latin typeface="Bookman Old Style" panose="02050604050505020204" pitchFamily="18" charset="0"/>
              </a:rPr>
              <a:t>Unit</a:t>
            </a:r>
            <a:r>
              <a:rPr lang="ru-RU" sz="2400" dirty="0">
                <a:latin typeface="Bookman Old Style" panose="02050604050505020204" pitchFamily="18" charset="0"/>
              </a:rPr>
              <a:t>-теста, даже не создавая само окно </a:t>
            </a:r>
            <a:r>
              <a:rPr lang="ru-RU" sz="2400" dirty="0" smtClean="0">
                <a:latin typeface="Bookman Old Style" panose="02050604050505020204" pitchFamily="18" charset="0"/>
              </a:rPr>
              <a:t>приложения.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Универсальность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Одну и ту же команду можно привязать к кнопке, пункту меню и горячей клавише </a:t>
            </a:r>
            <a:r>
              <a:rPr lang="ru-RU" sz="2400" dirty="0" smtClean="0">
                <a:latin typeface="Bookman Old Style" panose="02050604050505020204" pitchFamily="18" charset="0"/>
              </a:rPr>
              <a:t>одновременно.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Управление </a:t>
            </a:r>
            <a:r>
              <a:rPr lang="ru-RU" sz="2400" b="1" dirty="0">
                <a:latin typeface="Bookman Old Style" panose="02050604050505020204" pitchFamily="18" charset="0"/>
              </a:rPr>
              <a:t>состоянием:</a:t>
            </a:r>
            <a:r>
              <a:rPr lang="ru-RU" sz="2400" dirty="0">
                <a:latin typeface="Bookman Old Style" panose="02050604050505020204" pitchFamily="18" charset="0"/>
              </a:rPr>
              <a:t> Команда умеет говорить кнопке, можно ли её нажимать в данный момент (метод </a:t>
            </a:r>
            <a:r>
              <a:rPr lang="ru-RU" sz="2400" dirty="0" err="1">
                <a:latin typeface="Bookman Old Style" panose="02050604050505020204" pitchFamily="18" charset="0"/>
              </a:rPr>
              <a:t>CanExecute</a:t>
            </a:r>
            <a:r>
              <a:rPr lang="ru-RU" sz="2400" dirty="0">
                <a:latin typeface="Bookman Old Style" panose="02050604050505020204" pitchFamily="18" charset="0"/>
              </a:rPr>
              <a:t>). Если команда «неактивна», кнопка на экране заблокируется автоматически.</a:t>
            </a:r>
          </a:p>
        </p:txBody>
      </p:sp>
    </p:spTree>
    <p:extLst>
      <p:ext uri="{BB962C8B-B14F-4D97-AF65-F5344CB8AC3E}">
        <p14:creationId xmlns:p14="http://schemas.microsoft.com/office/powerpoint/2010/main" val="423892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для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Инициализируем команду действием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(() =&gt;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Здесь ваша логика при нажатии на кнопку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Debug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Сохранено имя: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1653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AvaloniaApplication1;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Простая реализация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чтобы кнопка работала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_execute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parameter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parameter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_execute();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7943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https://github.com/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avaloniaui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http://schemas.microsoft.com/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winfx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/2006/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xaml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2400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http://schemas.microsoft.com/expression/blend/2008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xmlns:mc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http://schemas.openxmlformats.org/markup-compatibility/2006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mc:Ignorable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d:DesignWidth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800"</a:t>
            </a:r>
          </a:p>
          <a:p>
            <a:r>
              <a:rPr lang="en-US" sz="2400" dirty="0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d:DesignHeight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="450"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x:Class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AvaloniaApplication1.MainWindow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xmlns:vm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using:AvaloniaApplication1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        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x:DataType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vm: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="AvaloniaApplication1"&gt;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40933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View: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наше окно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Текстовое поле слушает свойство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Кнопка нажимает Команду, а не событие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Сохранить изменения"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 /&gt;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 дублируется автоматически благодаря уведомлениям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&lt;/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092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View: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наше окно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Текстовое поле слушает свойство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Кнопка нажимает Команду, а не событие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Сохранить изменения"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 /&gt;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 дублируется автоматически благодаря уведомлениям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&lt;/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055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Avalonia.Controls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AvaloniaApplication1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ВОТ ЭТА СТРОЧКА — МАГИЯ СВЯЗИ: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2655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Reactive</a:t>
            </a:r>
            <a:r>
              <a:rPr lang="ru-RU" sz="2400" b="1" dirty="0">
                <a:latin typeface="Bookman Old Style" panose="02050604050505020204" pitchFamily="18" charset="0"/>
              </a:rPr>
              <a:t> UI (</a:t>
            </a:r>
            <a:r>
              <a:rPr lang="ru-RU" sz="2400" b="1" dirty="0" err="1">
                <a:latin typeface="Bookman Old Style" panose="02050604050505020204" pitchFamily="18" charset="0"/>
              </a:rPr>
              <a:t>RxUI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— это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latin typeface="Bookman Old Style" panose="02050604050505020204" pitchFamily="18" charset="0"/>
              </a:rPr>
              <a:t>, построенный на основе реактивного программирования (</a:t>
            </a:r>
            <a:r>
              <a:rPr lang="ru-RU" sz="2400" dirty="0" err="1">
                <a:latin typeface="Bookman Old Style" panose="02050604050505020204" pitchFamily="18" charset="0"/>
              </a:rPr>
              <a:t>Reactive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Extensions</a:t>
            </a:r>
            <a:r>
              <a:rPr lang="ru-RU" sz="2400" dirty="0">
                <a:latin typeface="Bookman Old Style" panose="02050604050505020204" pitchFamily="18" charset="0"/>
              </a:rPr>
              <a:t>, или </a:t>
            </a:r>
            <a:r>
              <a:rPr lang="ru-RU" sz="2400" dirty="0" err="1">
                <a:latin typeface="Bookman Old Style" panose="02050604050505020204" pitchFamily="18" charset="0"/>
              </a:rPr>
              <a:t>Rx</a:t>
            </a:r>
            <a:r>
              <a:rPr lang="ru-RU" sz="2400" dirty="0">
                <a:latin typeface="Bookman Old Style" panose="02050604050505020204" pitchFamily="18" charset="0"/>
              </a:rPr>
              <a:t>), который позволяет создавать приложения, реагирующие на изменения данных, используя наблюдаемые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Observables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он нужен?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Упрощение MVVM: </a:t>
            </a:r>
            <a:r>
              <a:rPr lang="ru-RU" sz="2400" dirty="0">
                <a:latin typeface="Bookman Old Style" panose="02050604050505020204" pitchFamily="18" charset="0"/>
              </a:rPr>
              <a:t>Избавляет от рутинного кода (вызовов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, команд).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Мощные привязки</a:t>
            </a:r>
            <a:r>
              <a:rPr lang="ru-RU" sz="2400" dirty="0">
                <a:latin typeface="Bookman Old Style" panose="02050604050505020204" pitchFamily="18" charset="0"/>
              </a:rPr>
              <a:t>: Позволяет привязывать не только свойства, но и целые потоки событий.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Управление состоянием: </a:t>
            </a:r>
            <a:r>
              <a:rPr lang="ru-RU" sz="2400" dirty="0">
                <a:latin typeface="Bookman Old Style" panose="02050604050505020204" pitchFamily="18" charset="0"/>
              </a:rPr>
              <a:t>Упрощает обработку асинхронных операций,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и сложных взаимодействий между компонентами.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</a:rPr>
              <a:t>Пример. </a:t>
            </a:r>
            <a:r>
              <a:rPr lang="ru-RU" sz="2800" b="1" dirty="0" err="1" smtClean="0">
                <a:latin typeface="Bookman Old Style" panose="02050604050505020204" pitchFamily="18" charset="0"/>
              </a:rPr>
              <a:t>Reactive</a:t>
            </a:r>
            <a:r>
              <a:rPr lang="ru-RU" sz="2800" b="1" dirty="0" smtClean="0">
                <a:latin typeface="Bookman Old Style" panose="02050604050505020204" pitchFamily="18" charset="0"/>
              </a:rPr>
              <a:t> </a:t>
            </a:r>
            <a:r>
              <a:rPr lang="ru-RU" sz="2800" b="1" dirty="0">
                <a:latin typeface="Bookman Old Style" panose="02050604050505020204" pitchFamily="18" charset="0"/>
              </a:rPr>
              <a:t>UI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24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1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 =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Добро пожаловать в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 + </a:t>
            </a:r>
            <a:r>
              <a:rPr lang="en-US" sz="21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ReactiveUI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1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ru-RU" sz="21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Создаем вычисляемое свойство, которое реагирует на изменения </a:t>
            </a:r>
            <a:r>
              <a:rPr lang="ru-RU" sz="21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.Select(count =&gt;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</a:t>
            </a:r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ToProperty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x.DisplayCount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out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Инициализация команд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сброса активна только когда счетчик &gt; 0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).Select(count =&gt; count &gt; 0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en-US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132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Reactive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свойства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Message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_message;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_count;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</a:t>
            </a:r>
            <a:r>
              <a:rPr lang="ru-RU" sz="22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Вычисляемое свойство через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ObservableAsPropertyHelper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 ?? </a:t>
            </a:r>
            <a:r>
              <a:rPr lang="en-US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0"</a:t>
            </a:r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256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Count++;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(Count %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0)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$"Отлично! Вы достигли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нажатий!"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 = 0;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"Счетчик сброшен! Давайте начнем снова."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66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864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View </a:t>
            </a:r>
            <a:r>
              <a:rPr lang="en-US" sz="2400" dirty="0">
                <a:latin typeface="Bookman Old Style" panose="02050604050505020204" pitchFamily="18" charset="0"/>
              </a:rPr>
              <a:t>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1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Window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"https://github.com/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xmlns:x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xmlns:vm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"using:AvaloniaApplication1.ViewModels"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xmlns:d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"http://schemas.microsoft.com/expression/blend/2008"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xmlns:mc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"http://schemas.openxmlformats.org/markup-compatibility/2006"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"d"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"600"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"400"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x:Class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"AvaloniaApplication1.Views.MainWindow"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"vm:MainWindowViewModel"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Icon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"/Assets/avalonia-logo.ico"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Title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Первое приложение на 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Avalonia</a:t>
            </a:r>
            <a:r>
              <a:rPr lang="en-US" sz="21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endParaRPr lang="en-US" sz="21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	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sz="21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&lt;!– </a:t>
            </a:r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Далее --&gt;</a:t>
            </a:r>
            <a:endParaRPr lang="en-US" sz="21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	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&lt;/Window&gt;</a:t>
            </a:r>
            <a:endParaRPr lang="en-US" sz="2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048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Center"</a:t>
            </a:r>
            <a:endParaRPr lang="ru-RU" sz="24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						</a:t>
            </a:r>
            <a:r>
              <a:rPr lang="en-US" sz="2400" dirty="0" err="1" smtClean="0">
                <a:solidFill>
                  <a:srgbClr val="E5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"20"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Приветственный текст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Message}"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"16"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TextAlignment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с привязкой к вычисляемому свойству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DisplayCount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"18"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FontWeight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"Bold"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Foreground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"Blue"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0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Кнопки с привязкой команд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ReactiveUI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Увеличить счетчик!"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IncrementCommand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"150"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"35"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"14"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Сбросить"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ResetCommand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"100"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"30"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"12"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Замечание: 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Чтобы отображалась кириллица необходимо, чтобы расширение файла было 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UTF-8.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94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Пример работы программы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612" y="583045"/>
            <a:ext cx="8334775" cy="598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026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14564</TotalTime>
  <Words>950</Words>
  <Application>Microsoft Office PowerPoint</Application>
  <PresentationFormat>Широкоэкранный</PresentationFormat>
  <Paragraphs>357</Paragraphs>
  <Slides>32</Slides>
  <Notes>32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6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826</cp:revision>
  <dcterms:modified xsi:type="dcterms:W3CDTF">2026-02-15T13:41:46Z</dcterms:modified>
</cp:coreProperties>
</file>