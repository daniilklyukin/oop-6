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12192000" cy="2286000"/>
          </a:xfrm>
        </p:spPr>
        <p:txBody>
          <a:bodyPr wrap="square" anchor="t" lIns="360000" rIns="360000" tIns="46800" bIns="46800">
            <a:no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Вот конспект лекции по математическому анализу для первого курса (тема: </a:t>
            </a:r>
            <a:r>
              <a:rPr sz="2200" b="1" i="0">
                <a:latin typeface="Bookman Old Style"/>
              </a:rPr>
              <a:t>«Производная функции и её геометрический смысл»</a:t>
            </a:r>
            <a:r>
              <a:rPr sz="2200" b="0" i="0">
                <a:latin typeface="Bookman Old Style"/>
              </a:rPr>
              <a:t>).</a:t>
            </a:r>
          </a:p>
          <a:p>
            <a:pPr algn="ctr"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Лекция оформлена в формате </a:t>
            </a:r>
            <a:r>
              <a:rPr sz="2000" b="0" i="0">
                <a:latin typeface="Courier New"/>
              </a:rPr>
              <a:t>MD</a:t>
            </a:r>
            <a:r>
              <a:rPr sz="2200" b="0" i="0">
                <a:latin typeface="Bookman Old Style"/>
              </a:rPr>
              <a:t>. Информация на «слайд» разбита короткими блоками, чтобы её было удобно читать и запоминать.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Лекция: Производная функции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1">
                <a:latin typeface="Bookman Old Style"/>
              </a:rPr>
              <a:t>Проблема:</a:t>
            </a:r>
            <a:r>
              <a:rPr sz="2200" b="0" i="1">
                <a:latin typeface="Bookman Old Style"/>
              </a:rPr>
              <a:t> Как найти мгновенную скорость, если известно перемещение </a:t>
            </a:r>
            <a:r>
              <a:rPr/>
              <a:t>S(t)</a:t>
            </a:r>
            <a:r>
              <a:rPr sz="2200" b="0" i="1">
                <a:latin typeface="Bookman Old Style"/>
              </a:rPr>
              <a:t>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Средняя скорость:</a:t>
            </a:r>
            <a:r>
              <a:rPr sz="2200" b="0" i="0">
                <a:latin typeface="Bookman Old Style"/>
              </a:rPr>
              <a:t> </a:t>
            </a:r>
            <a:r>
              <a:rPr/>
              <a:t>V_{ср} = \frac{\Delta S}{\Delta t}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Идея:</a:t>
            </a:r>
            <a:r>
              <a:rPr sz="2200" b="0" i="0">
                <a:latin typeface="Bookman Old Style"/>
              </a:rPr>
              <a:t> Устремляем </a:t>
            </a:r>
            <a:r>
              <a:rPr/>
              <a:t>\Delta t \to 0</a:t>
            </a:r>
            <a:r>
              <a:rPr sz="2200" b="0" i="0">
                <a:latin typeface="Bookman Old Style"/>
              </a:rPr>
              <a:t>, чтобы получить </a:t>
            </a:r>
            <a:r>
              <a:rPr sz="2200" b="1" i="0">
                <a:latin typeface="Bookman Old Style"/>
              </a:rPr>
              <a:t>мгновенную</a:t>
            </a:r>
            <a:r>
              <a:rPr sz="2200" b="0" i="0">
                <a:latin typeface="Bookman Old Style"/>
              </a:rPr>
              <a:t> скорость.</a:t>
            </a:r>
          </a:p>
          <a:p>
            <a:pPr marL="0" indent="0">
              <a:buNone/>
              <a:lnSpc>
                <a:spcPct val="115000"/>
              </a:lnSpc>
            </a:pPr>
            <a:r>
              <a:t>[V_{мгн} = \lim_{\Delta t \to 0} \frac{\Delta S}{\Delta t} \qquad (1)]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2. Определение производной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1">
                <a:latin typeface="Bookman Old Style"/>
              </a:rPr>
              <a:t>Производная — это предел отношения приращения функции к приращению аргумента.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Пусть </a:t>
            </a:r>
            <a:r>
              <a:rPr/>
              <a:t>y = f(x)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/>
              <a:t>\Delta x</a:t>
            </a:r>
            <a:r>
              <a:rPr sz="2200" b="0" i="0">
                <a:latin typeface="Bookman Old Style"/>
              </a:rPr>
              <a:t> — приращение аргумента (маленький шаг).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/>
              <a:t>\Delta y = f(x+\Delta x) - f(x)</a:t>
            </a:r>
            <a:r>
              <a:rPr sz="2200" b="0" i="0">
                <a:latin typeface="Bookman Old Style"/>
              </a:rPr>
              <a:t> — приращение функции.</a:t>
            </a:r>
          </a:p>
          <a:p>
            <a:pPr marL="0" indent="0">
              <a:buNone/>
              <a:lnSpc>
                <a:spcPct val="115000"/>
              </a:lnSpc>
            </a:pPr>
            <a:r>
              <a:rPr/>
              <a:t>[f'(x) = \lim_{\Delta x \to 0} \frac{\Delta y}{\Delta x} = \lim_{\Delta x \to 0} \frac{f(x+\Delta x) - f(x)}{\Delta x} \qquad (2)]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Обозначения:</a:t>
            </a:r>
            <a:r>
              <a:rPr sz="2200" b="0" i="0">
                <a:latin typeface="Bookman Old Style"/>
              </a:rPr>
              <a:t> </a:t>
            </a:r>
            <a:r>
              <a:t>f'(x), \quad y', \quad \frac{dy}{dx}</a:t>
            </a:r>
            <a:r>
              <a:rPr sz="2200" b="0" i="0">
                <a:latin typeface="Bookman Old Styl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3. Геометрический смысл (Главный слайд)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1">
                <a:latin typeface="Bookman Old Style"/>
              </a:rPr>
              <a:t>Производная = угловой коэффициент касательной.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Секущая</a:t>
            </a:r>
            <a:r>
              <a:rPr sz="2200" b="0" i="0">
                <a:latin typeface="Bookman Old Style"/>
              </a:rPr>
              <a:t> (линия через 2 точки) имеет угол наклона </a:t>
            </a:r>
            <a:r>
              <a:rPr/>
              <a:t>\alpha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Когда </a:t>
            </a:r>
            <a:r>
              <a:rPr/>
              <a:t>\Delta x \to 0</a:t>
            </a:r>
            <a:r>
              <a:rPr sz="2200" b="0" i="0">
                <a:latin typeface="Bookman Old Style"/>
              </a:rPr>
              <a:t>, секущая становится </a:t>
            </a:r>
            <a:r>
              <a:rPr sz="2200" b="1" i="0">
                <a:latin typeface="Bookman Old Style"/>
              </a:rPr>
              <a:t>касательной</a:t>
            </a:r>
            <a:r>
              <a:rPr sz="2200" b="0" i="0">
                <a:latin typeface="Bookman Old Style"/>
              </a:rPr>
              <a:t>.</a:t>
            </a:r>
          </a:p>
          <a:p>
            <a:pPr marL="0" indent="0">
              <a:buNone/>
              <a:lnSpc>
                <a:spcPct val="115000"/>
              </a:lnSpc>
            </a:pPr>
            <a:r>
              <a:rPr/>
              <a:t>[f'(x_0) = \tan(\alpha) \qquad (3)]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Уравнение касательной в точке </a:t>
            </a:r>
            <a:r>
              <a:rPr/>
              <a:t>x_0</a:t>
            </a:r>
            <a:r>
              <a:rPr sz="2200" b="1" i="0">
                <a:latin typeface="Bookman Old Style"/>
              </a:rPr>
              <a:t>:</a:t>
            </a:r>
          </a:p>
          <a:p>
            <a:pPr marL="0" indent="0">
              <a:buNone/>
              <a:lnSpc>
                <a:spcPct val="115000"/>
              </a:lnSpc>
            </a:pPr>
            <a:r>
              <a:t>[y = f(x_0) + f'(x_0)(x - x_0) \qquad (4)]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4. Физический смысл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1">
                <a:latin typeface="Bookman Old Style"/>
              </a:rPr>
              <a:t>Производная — это скорость изменения процесса.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/>
              <a:t>S'(t) = V(t)</a:t>
            </a:r>
            <a:r>
              <a:rPr sz="2200" b="0" i="0">
                <a:latin typeface="Bookman Old Style"/>
              </a:rPr>
              <a:t> — скорость.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/>
              <a:t>V'(t) = a(t)</a:t>
            </a:r>
            <a:r>
              <a:rPr sz="2200" b="0" i="0">
                <a:latin typeface="Bookman Old Style"/>
              </a:rPr>
              <a:t> — ускорение.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/>
              <a:t>Q'(t) = I(t)</a:t>
            </a:r>
            <a:r>
              <a:rPr sz="2200" b="0" i="0">
                <a:latin typeface="Bookman Old Style"/>
              </a:rPr>
              <a:t> — сила тока (заряд по времени).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Вывод:</a:t>
            </a:r>
            <a:r>
              <a:rPr sz="2200" b="0" i="0">
                <a:latin typeface="Bookman Old Style"/>
              </a:rPr>
              <a:t> Если график идёт круто вверх — производная большая. Если график пологий — производная маленькая.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5. Таблица первых производных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1">
                <a:latin typeface="Bookman Old Style"/>
              </a:rPr>
              <a:t>Надо выучить наизусть (база).</a:t>
            </a:r>
          </a:p>
          <a:p>
            <a:pPr>
              <a:spcBef>
                <a:spcPts val="21342"/>
              </a:spcBef>
              <a:defRPr sz="100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6/10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000452"/>
          <a:ext cx="109728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latin typeface="Bookman Old Style"/>
                        </a:rPr>
                        <a:t>Функция </a:t>
                      </a:r>
                      <a:r>
                        <a:rPr sz="1800" b="1">
                          <a:latin typeface="Bookman Old Style"/>
                        </a:rPr>
                        <a:t>f(x)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latin typeface="Bookman Old Style"/>
                        </a:rPr>
                        <a:t>Производная </a:t>
                      </a:r>
                      <a:r>
                        <a:rPr sz="1800" b="1">
                          <a:latin typeface="Bookman Old Style"/>
                        </a:rPr>
                        <a:t>f'(x)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Bookman Old Style"/>
                        </a:rPr>
                        <a:t>C</a:t>
                      </a:r>
                      <a:r>
                        <a:rPr sz="1800" b="0" i="0">
                          <a:latin typeface="Bookman Old Style"/>
                        </a:rPr>
                        <a:t> (константа)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Bookman Old Style"/>
                        </a:rPr>
                        <a:t>0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Bookman Old Style"/>
                        </a:rPr>
                        <a:t>x^n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Bookman Old Style"/>
                        </a:rPr>
                        <a:t>n \cdot x^{n-1}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Bookman Old Style"/>
                        </a:rPr>
                        <a:t>\sin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Bookman Old Style"/>
                        </a:rPr>
                        <a:t>\cos x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Bookman Old Style"/>
                        </a:rPr>
                        <a:t>\cos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Bookman Old Style"/>
                        </a:rPr>
                        <a:t>-\sin x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Bookman Old Style"/>
                        </a:rPr>
                        <a:t>e^x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Bookman Old Style"/>
                        </a:rPr>
                        <a:t>e^x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Bookman Old Style"/>
                        </a:rPr>
                        <a:t>\ln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Bookman Old Style"/>
                        </a:rPr>
                        <a:t>\frac{1}{x}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6. Правила дифференцирования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1">
                <a:latin typeface="Bookman Old Style"/>
              </a:rPr>
              <a:t>Три кита матанализа.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Константа выносится:</a:t>
            </a:r>
            <a:r>
              <a:rPr sz="2200" b="0" i="0">
                <a:latin typeface="Bookman Old Style"/>
              </a:rPr>
              <a:t> </a:t>
            </a:r>
            <a:r>
              <a:rPr/>
              <a:t>(c \cdot f)' = c \cdot f'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Сумма:</a:t>
            </a:r>
            <a:r>
              <a:rPr sz="2200" b="0" i="0">
                <a:latin typeface="Bookman Old Style"/>
              </a:rPr>
              <a:t> </a:t>
            </a:r>
            <a:r>
              <a:rPr/>
              <a:t>(f + g)' = f' + g'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Произведение:</a:t>
            </a:r>
            <a:r>
              <a:rPr sz="2200" b="0" i="0">
                <a:latin typeface="Bookman Old Style"/>
              </a:rPr>
              <a:t> </a:t>
            </a:r>
            <a:r>
              <a:rPr/>
              <a:t>(f \cdot g)' = f'g + fg'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Деление:</a:t>
            </a:r>
            <a:r>
              <a:rPr sz="2200" b="0" i="0">
                <a:latin typeface="Bookman Old Style"/>
              </a:rPr>
              <a:t> </a:t>
            </a:r>
            <a:r>
              <a:t>\left( \frac{f}{g} \right)' = \frac{f'g - fg'}{g^2}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7. Пример у доски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1">
                <a:latin typeface="Bookman Old Style"/>
              </a:rPr>
              <a:t>Найти</a:t>
            </a:r>
            <a:r>
              <a:rPr sz="2200" b="0" i="1">
                <a:latin typeface="Bookman Old Style"/>
              </a:rPr>
              <a:t> </a:t>
            </a:r>
            <a:r>
              <a:rPr/>
              <a:t>f'(x)</a:t>
            </a:r>
            <a:r>
              <a:rPr sz="2200" b="0" i="1">
                <a:latin typeface="Bookman Old Style"/>
              </a:rPr>
              <a:t> для </a:t>
            </a:r>
            <a:r>
              <a:rPr/>
              <a:t>f(x) = x^3 \cdot \sin x</a:t>
            </a:r>
            <a:r>
              <a:rPr sz="2200" b="0" i="1">
                <a:latin typeface="Bookman Old Style"/>
              </a:rPr>
              <a:t>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Решение: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Видим произведение: </a:t>
            </a:r>
            <a:r>
              <a:rPr/>
              <a:t>f = u \cdot v</a:t>
            </a:r>
            <a:r>
              <a:rPr sz="2200" b="0" i="0">
                <a:latin typeface="Bookman Old Style"/>
              </a:rPr>
              <a:t>, где </a:t>
            </a:r>
            <a:r>
              <a:rPr/>
              <a:t>u = x^3, \quad v = \sin x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Правило: </a:t>
            </a:r>
            <a:r>
              <a:rPr/>
              <a:t>(uv)' = u'v + uv'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Считаем: </a:t>
            </a:r>
            <a:r>
              <a:rPr/>
              <a:t>u' = 3x^2, \quad v' = \cos x</a:t>
            </a:r>
            <a:r>
              <a:rPr sz="2200" b="0" i="0">
                <a:latin typeface="Bookman Old Style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Собираем:</a:t>
            </a:r>
          </a:p>
          <a:p>
            <a:pPr marL="0" indent="0">
              <a:buNone/>
              <a:lnSpc>
                <a:spcPct val="115000"/>
              </a:lnSpc>
            </a:pPr>
            <a:r>
              <a:t>[\boxed{f'(x) = 3x^2 \sin x + x^3 \cos x} \qquad (5)]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8. Что дальше?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Производная сложной функции</a:t>
            </a:r>
            <a:r>
              <a:rPr sz="2200" b="0" i="0">
                <a:latin typeface="Bookman Old Style"/>
              </a:rPr>
              <a:t> (цепное правило).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Точки экстремума</a:t>
            </a:r>
            <a:r>
              <a:rPr sz="2200" b="0" i="0">
                <a:latin typeface="Bookman Old Style"/>
              </a:rPr>
              <a:t> (max/min) — где производная равна 0.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Исследование графиков.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1">
                <a:latin typeface="Bookman Old Style"/>
              </a:rPr>
              <a:t>Главная мысль:</a:t>
            </a:r>
            <a:r>
              <a:rPr sz="2200" b="0" i="1">
                <a:latin typeface="Bookman Old Style"/>
              </a:rPr>
              <a:t> Чтобы понять поведение функции — посмотри на её производную.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Итоговый вопрос к аудитории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Вопрос:</a:t>
            </a:r>
            <a:r>
              <a:rPr sz="2200" b="0" i="0">
                <a:latin typeface="Bookman Old Style"/>
              </a:rPr>
              <a:t> Чему равна производная константы </a:t>
            </a:r>
            <a:r>
              <a:rPr/>
              <a:t>\pi</a:t>
            </a:r>
            <a:r>
              <a:rPr sz="2200" b="0" i="0">
                <a:latin typeface="Bookman Old Style"/>
              </a:rPr>
              <a:t>?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Ответ:</a:t>
            </a:r>
            <a:r>
              <a:rPr sz="2200" b="0" i="0">
                <a:latin typeface="Bookman Old Style"/>
              </a:rPr>
              <a:t> </a:t>
            </a:r>
            <a:r>
              <a:t>0</a:t>
            </a:r>
            <a:r>
              <a:rPr sz="2200" b="0" i="0">
                <a:latin typeface="Bookman Old Style"/>
              </a:rPr>
              <a:t> (потому что число Пи не меняется).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