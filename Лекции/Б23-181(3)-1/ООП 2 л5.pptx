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2880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1. Вступление: Проблема «хрупкого кода»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12192000" cy="2286000"/>
          </a:xfrm>
        </p:spPr>
        <p:txBody>
          <a:bodyPr wrap="square" anchor="t" lIns="360000" rIns="360000" tIns="46800" bIns="46800">
            <a:no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1/49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Почему проекты умирают?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Проблема «Карточного домика»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На старте проекта: новая фича за 2 часа.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Через полгода: та же фича за 3 дня + 5 багов в случайных местах.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Хрупкость (Fragility):</a:t>
            </a:r>
            <a:r>
              <a:rPr sz="2200" b="0" i="0">
                <a:latin typeface="Bookman Old Style"/>
              </a:rPr>
              <a:t> изменение в одном модуле ломает логику в другом, никак не связанном с ним.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Главный парадокс разработки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Проекты редко закрываются из-за медленных алгоритмов. Чаще они закрываются, потому что стоимость внесения изменений превышает прибыль от этих изменений.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2/49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Технический долг и стоимость владения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Что такое Технический долг?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Это «быстрые и грязные» решения, принятые сегодня, чтобы успеть к дедлайну.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Тело кредита:</a:t>
            </a:r>
            <a:r>
              <a:rPr sz="2200" b="0" i="0">
                <a:latin typeface="Bookman Old Style"/>
              </a:rPr>
              <a:t> сэкономленное время сейчас.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Проценты:</a:t>
            </a:r>
            <a:r>
              <a:rPr sz="2200" b="0" i="0">
                <a:latin typeface="Bookman Old Style"/>
              </a:rPr>
              <a:t> дополнительное время, которое вы тратите </a:t>
            </a:r>
            <a:r>
              <a:rPr sz="2200" b="0" i="1">
                <a:latin typeface="Bookman Old Style"/>
              </a:rPr>
              <a:t>каждый раз</a:t>
            </a:r>
            <a:r>
              <a:rPr sz="2200" b="0" i="0">
                <a:latin typeface="Bookman Old Style"/>
              </a:rPr>
              <a:t> при работе с этим кодом в будущем.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График Velocity (Скорость разработки):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Начало:</a:t>
            </a:r>
            <a:r>
              <a:rPr sz="2200" b="0" i="0">
                <a:latin typeface="Bookman Old Style"/>
              </a:rPr>
              <a:t> Взрывной рост (High Velocity).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Накопление долга:</a:t>
            </a:r>
            <a:r>
              <a:rPr sz="2200" b="0" i="0">
                <a:latin typeface="Bookman Old Style"/>
              </a:rPr>
              <a:t> Постепенное замедление.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Стагнация:</a:t>
            </a:r>
            <a:r>
              <a:rPr sz="2200" b="0" i="0">
                <a:latin typeface="Bookman Old Style"/>
              </a:rPr>
              <a:t> Команда тратит 90% времени на фикс багов и 10% на новые фичи.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3/49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SOLID: Переосмысление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1">
                <a:latin typeface="Bookman Old Style"/>
              </a:rPr>
              <a:t>Принципы SOLID — это не правила вежливости, это инструменты борьбы с энтропией.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S: Single Responsibility (Единственная ответственность)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Класс должен иметь только одну </a:t>
            </a:r>
            <a:r>
              <a:rPr sz="2200" b="1" i="0">
                <a:latin typeface="Bookman Old Style"/>
              </a:rPr>
              <a:t>причину для изменения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вы меняете класс </a:t>
            </a:r>
            <a:r>
              <a:rPr sz="2000" b="0" i="0">
                <a:latin typeface="Courier New"/>
              </a:rPr>
              <a:t>User</a:t>
            </a:r>
            <a:r>
              <a:rPr sz="2200" b="0" i="0">
                <a:latin typeface="Bookman Old Style"/>
              </a:rPr>
              <a:t> и когда меняется БД, и когда меняется дизайн профиля — это плохой знак.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O: Open/Closed (Принцип открытости/закрытости)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Программные сущности открыты для расширения, но закрыты для модификации.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Идеальная архитектура позволяет добавить новый способ оплаты или тип врага в игре, </a:t>
            </a:r>
            <a:r>
              <a:rPr sz="2200" b="1" i="0">
                <a:latin typeface="Bookman Old Style"/>
              </a:rPr>
              <a:t>не меняя ни одной строчки</a:t>
            </a:r>
            <a:r>
              <a:rPr sz="2200" b="0" i="0">
                <a:latin typeface="Bookman Old Style"/>
              </a:rPr>
              <a:t> уже протестированного кода.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4/49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Главный враг — Жесткая связность (Tight Coupling)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Что такое Tight Coupling?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Это состояние, когда объект </a:t>
            </a:r>
            <a:r>
              <a:rPr sz="2000" b="0" i="0">
                <a:latin typeface="Courier New"/>
              </a:rPr>
              <a:t>A</a:t>
            </a:r>
            <a:r>
              <a:rPr sz="2200" b="0" i="0">
                <a:latin typeface="Bookman Old Style"/>
              </a:rPr>
              <a:t> знает об объекте </a:t>
            </a:r>
            <a:r>
              <a:rPr sz="2000" b="0" i="0">
                <a:latin typeface="Courier New"/>
              </a:rPr>
              <a:t>B</a:t>
            </a:r>
            <a:r>
              <a:rPr sz="2200" b="0" i="0">
                <a:latin typeface="Bookman Old Style"/>
              </a:rPr>
              <a:t> слишком много: как он устроен, какие у него внутренние поля, как он сохраняет данные.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Аналогия из реального мира: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Жесткая связность:</a:t>
            </a:r>
            <a:r>
              <a:rPr sz="2200" b="0" i="0">
                <a:latin typeface="Bookman Old Style"/>
              </a:rPr>
              <a:t> Лампочка, провода которой припаяны напрямую к электросети внутри стены. Чтобы заменить лампочку, нужно ломать стену.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Слабая связность (Loose Coupling):</a:t>
            </a:r>
            <a:r>
              <a:rPr sz="2200" b="0" i="0">
                <a:latin typeface="Bookman Old Style"/>
              </a:rPr>
              <a:t> Розетка и вилка. Любой прибор с вилкой (интерфейс) может получить ток, не зная, как устроена электростанция.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5/49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Куда мы движемся?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Чтобы код не превратился в спагетти, мы должны перейти от мышления «Я просто пишу функции в классах» к мышлению </a:t>
            </a:r>
            <a:r>
              <a:rPr sz="2200" b="1" i="0">
                <a:latin typeface="Bookman Old Style"/>
              </a:rPr>
              <a:t>«Я проектирую систему связей»</a:t>
            </a:r>
            <a:r>
              <a:rPr sz="2200" b="0" i="0">
                <a:latin typeface="Bookman Old Style"/>
              </a:rPr>
              <a:t>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Цели лекции: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Понять, почему наследование — это «серебряная пуля», которая часто попадает в ногу.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Научиться собирать объекты из компонентов (Composition).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Построить «защитный периметр» вокруг бизнес-логики (DDD).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6/49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Цитата Джо Армстронга (создатель Erlang)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1">
                <a:latin typeface="Bookman Old Style"/>
              </a:rPr>
              <a:t>«Проблема объектно-ориентированных языков заключается в том, что они тянут за собой всё неявное окружение. Вам нужен был всего лишь </a:t>
            </a:r>
            <a:r>
              <a:rPr sz="2200" b="1" i="1">
                <a:latin typeface="Bookman Old Style"/>
              </a:rPr>
              <a:t>банан</a:t>
            </a:r>
            <a:r>
              <a:rPr sz="2200" b="0" i="1">
                <a:latin typeface="Bookman Old Style"/>
              </a:rPr>
              <a:t>, но в итоге вы получаете </a:t>
            </a:r>
            <a:r>
              <a:rPr sz="2200" b="1" i="1">
                <a:latin typeface="Bookman Old Style"/>
              </a:rPr>
              <a:t>гориллу</a:t>
            </a:r>
            <a:r>
              <a:rPr sz="2200" b="0" i="1">
                <a:latin typeface="Bookman Old Style"/>
              </a:rPr>
              <a:t>, держащую этот банан, и </a:t>
            </a:r>
            <a:r>
              <a:rPr sz="2200" b="1" i="1">
                <a:latin typeface="Bookman Old Style"/>
              </a:rPr>
              <a:t>целые джунгли</a:t>
            </a:r>
            <a:r>
              <a:rPr sz="2200" b="0" i="1">
                <a:latin typeface="Bookman Old Style"/>
              </a:rPr>
              <a:t> в придачу».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В чем суть проблемы?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Когда вы наследуетесь от класса, вы не просто берете одну функцию. Вы подписываетесь на всё его состояние, все его зависимости и всё поведение его предков.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7/49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Ловушка глубокого наследования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Иерархия «Пирамида смерти»:</a:t>
            </a:r>
            <a:r>
              <a:rPr sz="2200" b="0" i="0">
                <a:latin typeface="Bookman Old Style"/>
              </a:rPr>
              <a:t>
</a:t>
            </a:r>
            <a:r>
              <a:rPr sz="2000" b="0" i="0">
                <a:latin typeface="Courier New"/>
              </a:rPr>
              <a:t>Object</a:t>
            </a:r>
            <a:r>
              <a:rPr sz="2200" b="0" i="0">
                <a:latin typeface="Bookman Old Style"/>
              </a:rPr>
              <a:t> → </a:t>
            </a:r>
            <a:r>
              <a:rPr sz="2000" b="0" i="0">
                <a:latin typeface="Courier New"/>
              </a:rPr>
              <a:t>Entity</a:t>
            </a:r>
            <a:r>
              <a:rPr sz="2200" b="0" i="0">
                <a:latin typeface="Bookman Old Style"/>
              </a:rPr>
              <a:t> → </a:t>
            </a:r>
            <a:r>
              <a:rPr sz="2000" b="0" i="0">
                <a:latin typeface="Courier New"/>
              </a:rPr>
              <a:t>Actor</a:t>
            </a:r>
            <a:r>
              <a:rPr sz="2200" b="0" i="0">
                <a:latin typeface="Bookman Old Style"/>
              </a:rPr>
              <a:t> → </a:t>
            </a:r>
            <a:r>
              <a:rPr sz="2000" b="0" i="0">
                <a:latin typeface="Courier New"/>
              </a:rPr>
              <a:t>Pawn</a:t>
            </a:r>
            <a:r>
              <a:rPr sz="2200" b="0" i="0">
                <a:latin typeface="Bookman Old Style"/>
              </a:rPr>
              <a:t> → </a:t>
            </a:r>
            <a:r>
              <a:rPr sz="2000" b="0" i="0">
                <a:latin typeface="Courier New"/>
              </a:rPr>
              <a:t>Character</a:t>
            </a:r>
            <a:r>
              <a:rPr sz="2200" b="0" i="0">
                <a:latin typeface="Bookman Old Style"/>
              </a:rPr>
              <a:t> → </a:t>
            </a:r>
            <a:r>
              <a:rPr sz="2000" b="0" i="0">
                <a:latin typeface="Courier New"/>
              </a:rPr>
              <a:t>Hero</a:t>
            </a:r>
            <a:r>
              <a:rPr sz="2200" b="0" i="0">
                <a:latin typeface="Bookman Old Style"/>
              </a:rPr>
              <a:t> → </a:t>
            </a:r>
            <a:r>
              <a:rPr sz="2000" b="0" i="0">
                <a:latin typeface="Courier New"/>
              </a:rPr>
              <a:t>Warrior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Почему 5+ уровней — это зло: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Непрозрачность:</a:t>
            </a:r>
            <a:r>
              <a:rPr sz="2200" b="0" i="0">
                <a:latin typeface="Bookman Old Style"/>
              </a:rPr>
              <a:t> Чтобы понять, как работает метод </a:t>
            </a:r>
            <a:r>
              <a:rPr sz="2000" b="0" i="0">
                <a:latin typeface="Courier New"/>
              </a:rPr>
              <a:t>attack()</a:t>
            </a:r>
            <a:r>
              <a:rPr sz="2200" b="0" i="0">
                <a:latin typeface="Bookman Old Style"/>
              </a:rPr>
              <a:t>, вам нужно просмотреть 6 файлов вверх по иерархии.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Хрупкий базовый класс (Fragile Base Class):</a:t>
            </a:r>
            <a:r>
              <a:rPr sz="2200" b="0" i="0">
                <a:latin typeface="Bookman Old Style"/>
              </a:rPr>
              <a:t> Изменение одной строки в классе </a:t>
            </a:r>
            <a:r>
              <a:rPr sz="2000" b="0" i="0">
                <a:latin typeface="Courier New"/>
              </a:rPr>
              <a:t>Actor</a:t>
            </a:r>
            <a:r>
              <a:rPr sz="2200" b="0" i="0">
                <a:latin typeface="Bookman Old Style"/>
              </a:rPr>
              <a:t> (уровень 2) может непредсказуемо сломать логику </a:t>
            </a:r>
            <a:r>
              <a:rPr sz="2000" b="0" i="0">
                <a:latin typeface="Courier New"/>
              </a:rPr>
              <a:t>Warrior</a:t>
            </a:r>
            <a:r>
              <a:rPr sz="2200" b="0" i="0">
                <a:latin typeface="Bookman Old Style"/>
              </a:rPr>
              <a:t> (уровень 7).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Избыточность:</a:t>
            </a:r>
            <a:r>
              <a:rPr sz="2200" b="0" i="0">
                <a:latin typeface="Bookman Old Style"/>
              </a:rPr>
              <a:t> Класс-потомок получает методы, которые ему не нужны, но которые он обязан «нести» на себе.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8/49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Tight Coupling (Жесткая связь)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Наследование — это </a:t>
            </a:r>
            <a:r>
              <a:rPr sz="2200" b="1" i="0">
                <a:latin typeface="Bookman Old Style"/>
              </a:rPr>
              <a:t>самая сильная форма связи</a:t>
            </a:r>
            <a:r>
              <a:rPr sz="2200" b="0" i="0">
                <a:latin typeface="Bookman Old Style"/>
              </a:rPr>
              <a:t> в ООП.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Вы не можете заменить «родителя» во время выполнения программы.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родительский класс требует в конструкторе 5 зависимостей (база данных, логгер, конфиг), каждый потомок </a:t>
            </a:r>
            <a:r>
              <a:rPr sz="2200" b="1" i="0">
                <a:latin typeface="Bookman Old Style"/>
              </a:rPr>
              <a:t>обязан</a:t>
            </a:r>
            <a:r>
              <a:rPr sz="2200" b="0" i="0">
                <a:latin typeface="Bookman Old Style"/>
              </a:rPr>
              <a:t> знать об этих зависимостях и прокидывать их вверх.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Результат:</a:t>
            </a:r>
            <a:r>
              <a:rPr sz="2200" b="0" i="0">
                <a:latin typeface="Bookman Old Style"/>
              </a:rPr>
              <a:t> Тестирование одного маленького класса </a:t>
            </a:r>
            <a:r>
              <a:rPr sz="2000" b="0" i="0">
                <a:latin typeface="Courier New"/>
              </a:rPr>
              <a:t>Warrior</a:t>
            </a:r>
            <a:r>
              <a:rPr sz="2200" b="0" i="0">
                <a:latin typeface="Bookman Old Style"/>
              </a:rPr>
              <a:t> требует поднятия всей инфраструктуры, нужной его «предкам».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9/49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Принцип: Composition over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Наследование (Inheritance):</a:t>
            </a:r>
            <a:r>
              <a:rPr sz="2200" b="0" i="0">
                <a:latin typeface="Bookman Old Style"/>
              </a:rPr>
              <a:t> Отношение </a:t>
            </a:r>
            <a:r>
              <a:rPr sz="2200" b="1" i="0">
                <a:latin typeface="Bookman Old Style"/>
              </a:rPr>
              <a:t>«IS-A»</a:t>
            </a:r>
            <a:r>
              <a:rPr sz="2200" b="0" i="0">
                <a:latin typeface="Bookman Old Style"/>
              </a:rPr>
              <a:t> (является).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latin typeface="Bookman Old Style"/>
              </a:rPr>
              <a:t>«Маг является Персонажем».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Проблема: Маг не может перестать быть персонажем или стать «немножко мечом».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Композиция (Composition):</a:t>
            </a:r>
            <a:r>
              <a:rPr sz="2200" b="0" i="0">
                <a:latin typeface="Bookman Old Style"/>
              </a:rPr>
              <a:t> Отношение </a:t>
            </a:r>
            <a:r>
              <a:rPr sz="2200" b="1" i="0">
                <a:latin typeface="Bookman Old Style"/>
              </a:rPr>
              <a:t>«HAS-A»</a:t>
            </a:r>
            <a:r>
              <a:rPr sz="2200" b="0" i="0">
                <a:latin typeface="Bookman Old Style"/>
              </a:rPr>
              <a:t> (содержит).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latin typeface="Bookman Old Style"/>
              </a:rPr>
              <a:t>«Персонаж имеет СпособностьПередвижения и СпособностьАтаки».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Объект собирается из независимых деталей (компонентов) как конструктор.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10/49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Живой пример: Система персонажей в RPG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Character</a:t>
            </a:r>
            <a:r>
              <a:rPr sz="2200" b="0" i="0">
                <a:latin typeface="Bookman Old Style"/>
              </a:rPr>
              <a:t> (can move)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Warrior</a:t>
            </a:r>
            <a:r>
              <a:rPr sz="2200" b="0" i="0">
                <a:latin typeface="Bookman Old Style"/>
              </a:rPr>
              <a:t> (move + sword attack)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Mage</a:t>
            </a:r>
            <a:r>
              <a:rPr sz="2200" b="0" i="0">
                <a:latin typeface="Bookman Old Style"/>
              </a:rPr>
              <a:t> (move + magic attack)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Проблема:</a:t>
            </a:r>
            <a:r>
              <a:rPr sz="2200" b="0" i="0">
                <a:latin typeface="Bookman Old Style"/>
              </a:rPr>
              <a:t> Появился </a:t>
            </a:r>
            <a:r>
              <a:rPr sz="2000" b="0" i="0">
                <a:latin typeface="Courier New"/>
              </a:rPr>
              <a:t>BattleMage</a:t>
            </a:r>
            <a:r>
              <a:rPr sz="2200" b="0" i="0">
                <a:latin typeface="Bookman Old Style"/>
              </a:rPr>
              <a:t>. От кого наследоваться? 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От </a:t>
            </a:r>
            <a:r>
              <a:rPr sz="2000" b="0" i="0">
                <a:latin typeface="Courier New"/>
              </a:rPr>
              <a:t>Warrior</a:t>
            </a:r>
            <a:r>
              <a:rPr sz="2200" b="0" i="0">
                <a:latin typeface="Bookman Old Style"/>
              </a:rPr>
              <a:t>? Тогда он получит ненужные методы владения щитом.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От </a:t>
            </a:r>
            <a:r>
              <a:rPr sz="2000" b="0" i="0">
                <a:latin typeface="Courier New"/>
              </a:rPr>
              <a:t>Mage</a:t>
            </a:r>
            <a:r>
              <a:rPr sz="2200" b="0" i="0">
                <a:latin typeface="Bookman Old Style"/>
              </a:rPr>
              <a:t>? Тогда придется копипастить код удара мечом из </a:t>
            </a:r>
            <a:r>
              <a:rPr sz="2000" b="0" i="0">
                <a:latin typeface="Courier New"/>
              </a:rPr>
              <a:t>Warrior</a:t>
            </a:r>
            <a:r>
              <a:rPr sz="2200" b="0" i="0">
                <a:latin typeface="Bookman Old Style"/>
              </a:rPr>
              <a:t>.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Итог:</a:t>
            </a:r>
            <a:r>
              <a:rPr sz="2200" b="0" i="0">
                <a:latin typeface="Bookman Old Style"/>
              </a:rPr>
              <a:t> Дублирование кода или «Ромбовидное наследование».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11/49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Хороший подход: Композиция (Pattern Strategy)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Вместо того чтобы прописывать логику атаки внутри класса, мы «вкладываем» её в него.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8000"/>
                </a:solidFill>
                <a:latin typeface="Courier New"/>
              </a:rPr>
              <a:t>// Интерфейс поведения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interface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Attack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8000"/>
                </a:solidFill>
                <a:latin typeface="Courier New"/>
              </a:rPr>
              <a:t>// Конкретные реализации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class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267F99"/>
                </a:solidFill>
                <a:latin typeface="Courier New"/>
              </a:rPr>
              <a:t>SwordSwing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class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267F99"/>
                </a:solidFill>
                <a:latin typeface="Courier New"/>
              </a:rPr>
              <a:t>FireballCast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class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267F99"/>
                </a:solidFill>
                <a:latin typeface="Courier New"/>
              </a:rPr>
              <a:t>Character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private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_attackStrategy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8000"/>
                </a:solidFill>
                <a:latin typeface="Courier New"/>
              </a:rPr>
              <a:t>// Композиция</a:t>
            </a:r>
          </a:p>
          <a:p>
            <a:pPr algn="l" marL="0" indent="0">
              <a:buNone/>
              <a:lnSpc>
                <a:spcPct val="11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12/49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Хороший подход: Композиция (Pattern Strategy)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SetAttackStrategy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IAttackStrategy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PerformAttack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_attackStrategy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Attack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Почему это лучше?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Гибкость:</a:t>
            </a:r>
            <a:r>
              <a:rPr sz="2200" b="0" i="0">
                <a:latin typeface="Bookman Old Style"/>
              </a:rPr>
              <a:t> </a:t>
            </a:r>
            <a:r>
              <a:rPr sz="2000" b="0" i="0">
                <a:latin typeface="Courier New"/>
              </a:rPr>
              <a:t>BattleMage</a:t>
            </a:r>
            <a:r>
              <a:rPr sz="2200" b="0" i="0">
                <a:latin typeface="Bookman Old Style"/>
              </a:rPr>
              <a:t> — это просто </a:t>
            </a:r>
            <a:r>
              <a:rPr sz="2000" b="0" i="0">
                <a:latin typeface="Courier New"/>
              </a:rPr>
              <a:t>Character</a:t>
            </a:r>
            <a:r>
              <a:rPr sz="2200" b="0" i="0">
                <a:latin typeface="Bookman Old Style"/>
              </a:rPr>
              <a:t>, которому в рантайме можно подменить </a:t>
            </a:r>
            <a:r>
              <a:rPr sz="2000" b="0" i="0">
                <a:latin typeface="Courier New"/>
              </a:rPr>
              <a:t>SwordSwing</a:t>
            </a:r>
            <a:r>
              <a:rPr sz="2200" b="0" i="0">
                <a:latin typeface="Bookman Old Style"/>
              </a:rPr>
              <a:t> на </a:t>
            </a:r>
            <a:r>
              <a:rPr sz="2000" b="0" i="0">
                <a:latin typeface="Courier New"/>
              </a:rPr>
              <a:t>FireballCast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Тестируемость:</a:t>
            </a:r>
            <a:r>
              <a:rPr sz="2200" b="0" i="0">
                <a:latin typeface="Bookman Old Style"/>
              </a:rPr>
              <a:t> Можно протестировать </a:t>
            </a:r>
            <a:r>
              <a:rPr sz="2000" b="0" i="0">
                <a:latin typeface="Courier New"/>
              </a:rPr>
              <a:t>FireballCast</a:t>
            </a:r>
            <a:r>
              <a:rPr sz="2200" b="0" i="0">
                <a:latin typeface="Bookman Old Style"/>
              </a:rPr>
              <a:t> отдельно от класса </a:t>
            </a:r>
            <a:r>
              <a:rPr sz="2000" b="0" i="0">
                <a:latin typeface="Courier New"/>
              </a:rPr>
              <a:t>Character</a:t>
            </a:r>
            <a:r>
              <a:rPr sz="2200" b="0" i="0">
                <a:latin typeface="Bookman Old Sty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13/49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Хороший подход: Композиция (Pattern Strategy)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Чистота:</a:t>
            </a:r>
            <a:r>
              <a:rPr sz="2200" b="0" i="0">
                <a:latin typeface="Bookman Old Style"/>
              </a:rPr>
              <a:t> Мы избавились от джунглей. Нам нужен банан (атака) — мы берем банан.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14/49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Когда все же использовать наследование?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Наследование не запрещено, но оно должно быть: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Неглубоким</a:t>
            </a:r>
            <a:r>
              <a:rPr sz="2200" b="0" i="0">
                <a:latin typeface="Bookman Old Style"/>
              </a:rPr>
              <a:t> (1-2 уровня).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Логическим</a:t>
            </a:r>
            <a:r>
              <a:rPr sz="2200" b="0" i="0">
                <a:latin typeface="Bookman Old Style"/>
              </a:rPr>
              <a:t>: когда вы на 100% уверены, что связь не изменится (например, </a:t>
            </a:r>
            <a:r>
              <a:rPr sz="2000" b="0" i="0">
                <a:latin typeface="Courier New"/>
              </a:rPr>
              <a:t>Circle</a:t>
            </a:r>
            <a:r>
              <a:rPr sz="2200" b="0" i="0">
                <a:latin typeface="Bookman Old Style"/>
              </a:rPr>
              <a:t> всегда будет </a:t>
            </a:r>
            <a:r>
              <a:rPr sz="2000" b="0" i="0">
                <a:latin typeface="Courier New"/>
              </a:rPr>
              <a:t>Shape</a:t>
            </a:r>
            <a:r>
              <a:rPr sz="2200" b="0" i="0">
                <a:latin typeface="Bookman Old Style"/>
              </a:rPr>
              <a:t>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Абстрактным</a:t>
            </a:r>
            <a:r>
              <a:rPr sz="2200" b="0" i="0">
                <a:latin typeface="Bookman Old Style"/>
              </a:rPr>
              <a:t>: наследуемся от интерфейсов или чистых абстрактных классов, а не от «тяжелых» классов с логикой.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15/49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Программирование на уровне интерфейсов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Классическая ошибка:</a:t>
            </a:r>
            <a:r>
              <a:rPr sz="2200" b="0" i="0">
                <a:latin typeface="Bookman Old Style"/>
              </a:rPr>
              <a:t> Мыслить классами-реализациями.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latin typeface="Bookman Old Style"/>
              </a:rPr>
              <a:t>«Мне нужен класс </a:t>
            </a:r>
            <a:r>
              <a:rPr sz="2000" b="0" i="1">
                <a:latin typeface="Courier New"/>
              </a:rPr>
              <a:t>SqlDatabase</a:t>
            </a:r>
            <a:r>
              <a:rPr sz="2200" b="0" i="1">
                <a:latin typeface="Bookman Old Style"/>
              </a:rPr>
              <a:t>, чтобы сохранить юзера».</a:t>
            </a:r>
            <a:r>
              <a:rPr sz="2200" b="0" i="0">
                <a:latin typeface="Bookman Old Style"/>
              </a:rPr>
              <a:t> — </a:t>
            </a:r>
            <a:r>
              <a:rPr sz="2200" b="1" i="0">
                <a:latin typeface="Bookman Old Style"/>
              </a:rPr>
              <a:t>Это тупик.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Правильный подход:</a:t>
            </a:r>
            <a:r>
              <a:rPr sz="2200" b="0" i="0">
                <a:latin typeface="Bookman Old Style"/>
              </a:rPr>
              <a:t> Мыслить контрактами.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latin typeface="Bookman Old Style"/>
              </a:rPr>
              <a:t>«Мне нужен кто-то, кто умеет сохранять юзеров (интерфейс </a:t>
            </a:r>
            <a:r>
              <a:rPr sz="2000" b="0" i="1">
                <a:latin typeface="Courier New"/>
              </a:rPr>
              <a:t>IUserRepository</a:t>
            </a:r>
            <a:r>
              <a:rPr sz="2200" b="0" i="1">
                <a:latin typeface="Bookman Old Style"/>
              </a:rPr>
              <a:t>), а как он это сделает — мне неважно».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Почему это спасает архитектуру: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Изоляция:</a:t>
            </a:r>
            <a:r>
              <a:rPr sz="2200" b="0" i="0">
                <a:latin typeface="Bookman Old Style"/>
              </a:rPr>
              <a:t> Бизнес-логика не знает о деталях реализации (SQL, API, файлы).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Параллельная разработка:</a:t>
            </a:r>
            <a:r>
              <a:rPr sz="2200" b="0" i="0">
                <a:latin typeface="Bookman Old Style"/>
              </a:rPr>
              <a:t> Один разработчик пишет логику регистрации, другой — реализацию БД. Они договорились только об интерфейсе.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Легкое тестирование:</a:t>
            </a:r>
            <a:r>
              <a:rPr sz="2200" b="0" i="0">
                <a:latin typeface="Bookman Old Style"/>
              </a:rPr>
              <a:t> Вы можете подсунуть «фейковый» интерфейс (Mock) вместо реальной базы данных.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16/49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Инверсия управления (IoC) и Dependency Injection (DI)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Проблема:</a:t>
            </a:r>
            <a:r>
              <a:rPr sz="2200" b="0" i="0">
                <a:latin typeface="Bookman Old Style"/>
              </a:rPr>
              <a:t> Если класс сам создает свои зависимости через </a:t>
            </a:r>
            <a:r>
              <a:rPr sz="2000" b="0" i="0">
                <a:latin typeface="Courier New"/>
              </a:rPr>
              <a:t>new</a:t>
            </a:r>
            <a:r>
              <a:rPr sz="2200" b="0" i="0">
                <a:latin typeface="Bookman Old Style"/>
              </a:rPr>
              <a:t>, он намертво к ним привязан.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class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267F99"/>
                </a:solidFill>
                <a:latin typeface="Courier New"/>
              </a:rPr>
              <a:t>OrderService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ЖЕСТКАЯ СВЯЗЬ: Мы прикованы к SQL и конкретному логгеру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private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MySqlDatabase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_db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MySqlDatabase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Принцип DI: «Не создавай зависимости сам, проси их у системы»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Объект не должен искать ресурсы. Он должен объявлять, что они ему нужны (обычно через конструктор).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Аналогия: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Без DI:</a:t>
            </a:r>
            <a:r>
              <a:rPr sz="2200" b="0" i="0">
                <a:latin typeface="Bookman Old Style"/>
              </a:rPr>
              <a:t> Вы идете в лес, рубите дерево, строите верстак, чтобы сделать себе кофе.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 DI:</a:t>
            </a:r>
            <a:r>
              <a:rPr sz="2200" b="0" i="0">
                <a:latin typeface="Bookman Old Style"/>
              </a:rPr>
              <a:t> Вы просто говорите: «Мне нужен кофе». И система (DI-контейнер) приносит его вам готовым.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17/49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Пример: Инъекция зависимости через конструктор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class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267F99"/>
                </a:solidFill>
                <a:latin typeface="Courier New"/>
              </a:rPr>
              <a:t>OrderService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private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readonly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_repository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Класс не знает, какую БД ему дадут. 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Он просто работает с контрактом IRepository.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OrderService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IRepository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PlaceOrder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Save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18/49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Кейс: Замена SQL на NoSQL без боли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Дано:</a:t>
            </a:r>
            <a:r>
              <a:rPr sz="2200" b="0" i="0">
                <a:latin typeface="Bookman Old Style"/>
              </a:rPr>
              <a:t> Наш стартап вырос. SQL-база перестала справляться с нагрузкой, нужно перейти на MongoDB (NoSQL).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Сценарий А (Плохой код):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У нас 50 классов, где написано </a:t>
            </a:r>
            <a:r>
              <a:rPr sz="2000" b="0" i="0">
                <a:latin typeface="Courier New"/>
              </a:rPr>
              <a:t>new MySqlDatabase()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Нам нужно переписать все 50 классов, изменить типы данных и заново всё протестировать.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Результат:</a:t>
            </a:r>
            <a:r>
              <a:rPr sz="2200" b="0" i="0">
                <a:latin typeface="Bookman Old Style"/>
              </a:rPr>
              <a:t> 2 недели работы и куча новых багов.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Сценарий Б (Архитектура на интерфейсах):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Создаем новый класс </a:t>
            </a:r>
            <a:r>
              <a:rPr sz="2000" b="0" i="0">
                <a:latin typeface="Courier New"/>
              </a:rPr>
              <a:t>MongoRepository</a:t>
            </a:r>
            <a:r>
              <a:rPr sz="2200" b="0" i="0">
                <a:latin typeface="Bookman Old Style"/>
              </a:rPr>
              <a:t>, который реализует уже существующий интерфейс </a:t>
            </a:r>
            <a:r>
              <a:rPr sz="2000" b="0" i="0">
                <a:latin typeface="Courier New"/>
              </a:rPr>
              <a:t>IRepository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В конфигурации проекта (DI-контейнере) меняем одну строчку:</a:t>
            </a:r>
            <a:r>
              <a:rPr sz="2200" b="0" i="0">
                <a:latin typeface="Bookman Old Style"/>
              </a:rPr>
              <a:t>
</a:t>
            </a:r>
            <a:r>
              <a:rPr sz="2000" b="0" i="0">
                <a:latin typeface="Courier New"/>
              </a:rPr>
              <a:t>services.AddScoped&lt;IRepository, MySqlRepository&gt;()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→ на →</a:t>
            </a:r>
            <a:r>
              <a:rPr sz="2200" b="0" i="0">
                <a:latin typeface="Bookman Old Style"/>
              </a:rPr>
              <a:t>
</a:t>
            </a:r>
            <a:r>
              <a:rPr sz="2000" b="0" i="0">
                <a:latin typeface="Courier New"/>
              </a:rPr>
              <a:t>services.AddScoped&lt;IRepository, MongoRepository&gt;()</a:t>
            </a:r>
            <a:r>
              <a:rPr sz="2200" b="0" i="0">
                <a:latin typeface="Bookman Old Sty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19/49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Кейс: Замена SQL на NoSQL без боли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Результат:</a:t>
            </a:r>
            <a:r>
              <a:rPr sz="2200" b="0" i="0">
                <a:latin typeface="Bookman Old Style"/>
              </a:rPr>
              <a:t> Бизнес-логика (класс </a:t>
            </a:r>
            <a:r>
              <a:rPr sz="2000" b="0" i="0">
                <a:latin typeface="Courier New"/>
              </a:rPr>
              <a:t>OrderService</a:t>
            </a:r>
            <a:r>
              <a:rPr sz="2200" b="0" i="0">
                <a:latin typeface="Bookman Old Style"/>
              </a:rPr>
              <a:t>) даже не «заметила» подмены. Всё работает на новых рельсах.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20/49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Главный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Интерфейс — это </a:t>
            </a:r>
            <a:r>
              <a:rPr sz="2200" b="1" i="0">
                <a:latin typeface="Bookman Old Style"/>
              </a:rPr>
              <a:t>граница</a:t>
            </a:r>
            <a:r>
              <a:rPr sz="2200" b="0" i="0">
                <a:latin typeface="Bookman Old Style"/>
              </a:rPr>
              <a:t> между вашей уникальной логикой (бизнесом) и внешним миром (инфраструктурой).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Бизнес-логика:</a:t>
            </a:r>
            <a:r>
              <a:rPr sz="2200" b="0" i="0">
                <a:latin typeface="Bookman Old Style"/>
              </a:rPr>
              <a:t> "Что мы делаем?" (Продать товар, рассчитать скидку).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Инфраструктура:</a:t>
            </a:r>
            <a:r>
              <a:rPr sz="2200" b="0" i="0">
                <a:latin typeface="Bookman Old Style"/>
              </a:rPr>
              <a:t> "Как мы это храним/передаем?" (SQL, MongoDB, JSON, HTTP).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Золотое правило:</a:t>
            </a:r>
            <a:r>
              <a:rPr sz="2200" b="0" i="0">
                <a:latin typeface="Bookman Old Style"/>
              </a:rPr>
              <a:t> Инфраструктура должна зависеть от Бизнеса (реализовывать его интерфейсы), а не наоборот.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21/49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Что такое «Домен»?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Домен (Предметная область)</a:t>
            </a:r>
            <a:r>
              <a:rPr sz="2200" b="0" i="0">
                <a:latin typeface="Bookman Old Style"/>
              </a:rPr>
              <a:t> — это та сфера реальности, для которой вы пишете программу (Банкинг, Логистика, Геймдев, Медицина).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Главная проблема:</a:t>
            </a:r>
            <a:r>
              <a:rPr sz="2200" b="0" i="0">
                <a:latin typeface="Bookman Old Style"/>
              </a:rPr>
              <a:t> Программисты часто думают таблицами в базе данных, а бизнес-заказчики — процессами («отгрузка», «верификация», «лимит»).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Из-за этого возникает «трудности перевода»: в голове у заказчика одно, в коде — другое.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Domain-Driven Design (DDD)</a:t>
            </a:r>
            <a:r>
              <a:rPr sz="2200" b="0" i="0">
                <a:latin typeface="Bookman Old Style"/>
              </a:rPr>
              <a:t> — это подход, при котором структура кода полностью повторяет структуру бизнеса.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Мы не просто пишем классы, мы создаем </a:t>
            </a:r>
            <a:r>
              <a:rPr sz="2200" b="1" i="0">
                <a:latin typeface="Bookman Old Style"/>
              </a:rPr>
              <a:t>модель реальности</a:t>
            </a:r>
            <a:r>
              <a:rPr sz="2200" b="0" i="0">
                <a:latin typeface="Bookman Old Sty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22/49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Entity (Сущность)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Entity</a:t>
            </a:r>
            <a:r>
              <a:rPr sz="2200" b="0" i="0">
                <a:latin typeface="Bookman Old Style"/>
              </a:rPr>
              <a:t> — это объект, который определяется своей </a:t>
            </a:r>
            <a:r>
              <a:rPr sz="2200" b="1" i="0">
                <a:latin typeface="Bookman Old Style"/>
              </a:rPr>
              <a:t>идентичностью (ID)</a:t>
            </a:r>
            <a:r>
              <a:rPr sz="2200" b="0" i="0">
                <a:latin typeface="Bookman Old Style"/>
              </a:rPr>
              <a:t>, а не набором полей.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Пример:</a:t>
            </a:r>
            <a:r>
              <a:rPr sz="2200" b="0" i="0">
                <a:latin typeface="Bookman Old Style"/>
              </a:rPr>
              <a:t> Пользователь (</a:t>
            </a:r>
            <a:r>
              <a:rPr sz="2000" b="0" i="0">
                <a:latin typeface="Courier New"/>
              </a:rPr>
              <a:t>User</a:t>
            </a:r>
            <a:r>
              <a:rPr sz="2200" b="0" i="0">
                <a:latin typeface="Bookman Old Style"/>
              </a:rPr>
              <a:t>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пользователь сменил фамилию, почту и пароль — это всё еще тот же самый пользователь.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У него есть уникальный ключ (ID), который неизменен на протяжении всей «жизни» объекта.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Свойства Entity: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Имеет уникальный идентификатор.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Изменчив (Mutable): поля могут меняться.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Сравнивается только по 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23/49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Value Object (Объект-значение)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Value Object</a:t>
            </a:r>
            <a:r>
              <a:rPr sz="2200" b="0" i="0">
                <a:latin typeface="Bookman Old Style"/>
              </a:rPr>
              <a:t> — это объект, который определяется </a:t>
            </a:r>
            <a:r>
              <a:rPr sz="2200" b="1" i="0">
                <a:latin typeface="Bookman Old Style"/>
              </a:rPr>
              <a:t>содержимым своих полей</a:t>
            </a:r>
            <a:r>
              <a:rPr sz="2200" b="0" i="0">
                <a:latin typeface="Bookman Old Style"/>
              </a:rPr>
              <a:t>. У него нет ID.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Пример:</a:t>
            </a:r>
            <a:r>
              <a:rPr sz="2200" b="0" i="0">
                <a:latin typeface="Bookman Old Style"/>
              </a:rPr>
              <a:t> Деньги (</a:t>
            </a:r>
            <a:r>
              <a:rPr sz="2000" b="0" i="0">
                <a:latin typeface="Courier New"/>
              </a:rPr>
              <a:t>Money</a:t>
            </a:r>
            <a:r>
              <a:rPr sz="2200" b="0" i="0">
                <a:latin typeface="Bookman Old Style"/>
              </a:rPr>
              <a:t>), Адрес (</a:t>
            </a:r>
            <a:r>
              <a:rPr sz="2000" b="0" i="0">
                <a:latin typeface="Courier New"/>
              </a:rPr>
              <a:t>Address</a:t>
            </a:r>
            <a:r>
              <a:rPr sz="2200" b="0" i="0">
                <a:latin typeface="Bookman Old Style"/>
              </a:rPr>
              <a:t>), Цвет (</a:t>
            </a:r>
            <a:r>
              <a:rPr sz="2000" b="0" i="0">
                <a:latin typeface="Courier New"/>
              </a:rPr>
              <a:t>Color</a:t>
            </a:r>
            <a:r>
              <a:rPr sz="2200" b="0" i="0">
                <a:latin typeface="Bookman Old Style"/>
              </a:rPr>
              <a:t>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у вас есть две купюры по 100 рублей — вам не важно, какая из них какая. Они взаимозаменяемы, так как их ценность (значение) одинакова.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вы измените в объекте </a:t>
            </a:r>
            <a:r>
              <a:rPr sz="2000" b="0" i="0">
                <a:latin typeface="Courier New"/>
              </a:rPr>
              <a:t>Money</a:t>
            </a:r>
            <a:r>
              <a:rPr sz="2200" b="0" i="0">
                <a:latin typeface="Bookman Old Style"/>
              </a:rPr>
              <a:t> поле </a:t>
            </a:r>
            <a:r>
              <a:rPr sz="2000" b="0" i="0">
                <a:latin typeface="Courier New"/>
              </a:rPr>
              <a:t>Amount</a:t>
            </a:r>
            <a:r>
              <a:rPr sz="2200" b="0" i="0">
                <a:latin typeface="Bookman Old Style"/>
              </a:rPr>
              <a:t> с 100 на 200 — это уже </a:t>
            </a:r>
            <a:r>
              <a:rPr sz="2200" b="1" i="0">
                <a:latin typeface="Bookman Old Style"/>
              </a:rPr>
              <a:t>другие деньги</a:t>
            </a:r>
            <a:r>
              <a:rPr sz="2200" b="0" i="0">
                <a:latin typeface="Bookman Old Style"/>
              </a:rPr>
              <a:t>, а не те же самые.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Свойства Value Object: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Нет идентификатора.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Неизменяемость (Immutability):</a:t>
            </a:r>
            <a:r>
              <a:rPr sz="2200" b="0" i="0">
                <a:latin typeface="Bookman Old Style"/>
              </a:rPr>
              <a:t> если нужно изменить значение, мы создаем новый объект, а не правим старый.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Сравнивается по значениям всех полей.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24/49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Практическая польза неизменяемости (Immutability)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Почему </a:t>
            </a:r>
            <a:r>
              <a:rPr sz="2000" b="0" i="0">
                <a:latin typeface="Courier New"/>
              </a:rPr>
              <a:t>Value Object</a:t>
            </a:r>
            <a:r>
              <a:rPr sz="2200" b="0" i="0">
                <a:latin typeface="Bookman Old Style"/>
              </a:rPr>
              <a:t> должен быть неизменяемым?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8000"/>
                </a:solidFill>
                <a:latin typeface="Courier New"/>
              </a:rPr>
              <a:t>// Проблема: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var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Money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98658"/>
                </a:solidFill>
                <a:latin typeface="Courier New"/>
              </a:rPr>
              <a:t>100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A31515"/>
                </a:solidFill>
                <a:latin typeface="Courier New"/>
              </a:rPr>
              <a:t>"USD"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order1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order2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8000"/>
                </a:solidFill>
                <a:latin typeface="Courier New"/>
              </a:rPr>
              <a:t>// Кто-то где-то в коде решил применить скидку: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order1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Amount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98658"/>
                </a:solidFill>
                <a:latin typeface="Courier New"/>
              </a:rPr>
              <a:t>50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8000"/>
                </a:solidFill>
                <a:latin typeface="Courier New"/>
              </a:rPr>
              <a:t>// Итог: цена order2 тоже стала 50! Это баг «скрытого изменения».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Решение через Immutability: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Мы не можем написать </a:t>
            </a:r>
            <a:r>
              <a:rPr sz="2000" b="0" i="0">
                <a:latin typeface="Courier New"/>
              </a:rPr>
              <a:t>price.Amount = 50</a:t>
            </a:r>
            <a:r>
              <a:rPr sz="2200" b="0" i="0">
                <a:latin typeface="Bookman Old Style"/>
              </a:rPr>
              <a:t>. Мы обязаны создать </a:t>
            </a:r>
            <a:r>
              <a:rPr sz="2000" b="0" i="0">
                <a:latin typeface="Courier New"/>
              </a:rPr>
              <a:t>new Money(50, "USD")</a:t>
            </a:r>
            <a:r>
              <a:rPr sz="2200" b="0" i="0">
                <a:latin typeface="Bookman Old Style"/>
              </a:rPr>
              <a:t>. Это гарантирует, что данные не «поплывут» в непредсказуемых местах.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25/49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Агрегаты (Aggregates)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В сложной системе объекты связаны друг с другом в огромные графы. Если разрешить менять любой объект в любое время, данные в базе превратятся в кашу.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Агрегат</a:t>
            </a:r>
            <a:r>
              <a:rPr sz="2200" b="0" i="0">
                <a:latin typeface="Bookman Old Style"/>
              </a:rPr>
              <a:t> — это группа связанных объектов, которые рассматриваются как единое целое для обеспечения целостности данных.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Пример: Заказ (</a:t>
            </a:r>
            <a:r>
              <a:rPr sz="2000" b="1" i="0">
                <a:latin typeface="Courier New"/>
              </a:rPr>
              <a:t>Order</a:t>
            </a:r>
            <a:r>
              <a:rPr sz="2200" b="1" i="0">
                <a:latin typeface="Bookman Old Style"/>
              </a:rPr>
              <a:t>) и Позиции заказа (</a:t>
            </a:r>
            <a:r>
              <a:rPr sz="2000" b="1" i="0">
                <a:latin typeface="Courier New"/>
              </a:rPr>
              <a:t>OrderItem</a:t>
            </a:r>
            <a:r>
              <a:rPr sz="2200" b="1" i="0">
                <a:latin typeface="Bookman Old Style"/>
              </a:rPr>
              <a:t>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Правило бизнеса: «Сумма заказа не может быть больше 100 000 руб».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мы разрешим менять </a:t>
            </a:r>
            <a:r>
              <a:rPr sz="2000" b="0" i="0">
                <a:latin typeface="Courier New"/>
              </a:rPr>
              <a:t>OrderItem</a:t>
            </a:r>
            <a:r>
              <a:rPr sz="2200" b="0" i="0">
                <a:latin typeface="Bookman Old Style"/>
              </a:rPr>
              <a:t> напрямую (в обход </a:t>
            </a:r>
            <a:r>
              <a:rPr sz="2000" b="0" i="0">
                <a:latin typeface="Courier New"/>
              </a:rPr>
              <a:t>Order</a:t>
            </a:r>
            <a:r>
              <a:rPr sz="2200" b="0" i="0">
                <a:latin typeface="Bookman Old Style"/>
              </a:rPr>
              <a:t>), мы можем случайно нарушить это правило.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Правила Агрегата: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У агрегата есть </a:t>
            </a:r>
            <a:r>
              <a:rPr sz="2200" b="1" i="0">
                <a:latin typeface="Bookman Old Style"/>
              </a:rPr>
              <a:t>Корень (Aggregate Root)</a:t>
            </a:r>
            <a:r>
              <a:rPr sz="2200" b="0" i="0">
                <a:latin typeface="Bookman Old Style"/>
              </a:rPr>
              <a:t> — единственный вход в систему. В примере выше это </a:t>
            </a:r>
            <a:r>
              <a:rPr sz="2000" b="0" i="0">
                <a:latin typeface="Courier New"/>
              </a:rPr>
              <a:t>Order</a:t>
            </a:r>
            <a:r>
              <a:rPr sz="2200" b="0" i="0">
                <a:latin typeface="Bookman Old Sty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26/49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Агрегаты (Aggregates)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Внешний мир может общаться только с Корнем. Нельзя залезть внутрь заказа и поменять цену позиции напрямую.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Агрегат гарантирует, что все бизнес-правила (инварианты) внутри него соблюдены.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27/49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Итог: Зачем это нужно?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Единый язык (Ubiquitous Language):</a:t>
            </a:r>
            <a:r>
              <a:rPr sz="2200" b="0" i="0">
                <a:latin typeface="Bookman Old Style"/>
              </a:rPr>
              <a:t> Программист и менеджер говорят на одном языке. Если в бизнесе есть понятие «Анкета», в коде должен быть класс </a:t>
            </a:r>
            <a:r>
              <a:rPr sz="2000" b="0" i="0">
                <a:latin typeface="Courier New"/>
              </a:rPr>
              <a:t>Questionnaire</a:t>
            </a:r>
            <a:r>
              <a:rPr sz="2200" b="0" i="0">
                <a:latin typeface="Bookman Old Style"/>
              </a:rPr>
              <a:t>, а не </a:t>
            </a:r>
            <a:r>
              <a:rPr sz="2000" b="0" i="0">
                <a:latin typeface="Courier New"/>
              </a:rPr>
              <a:t>UserDataTable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Безопасность:</a:t>
            </a:r>
            <a:r>
              <a:rPr sz="2200" b="0" i="0">
                <a:latin typeface="Bookman Old Style"/>
              </a:rPr>
              <a:t> Value Objects и Агрегаты защищают данные от некорректных состояний.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Читаемость:</a:t>
            </a:r>
            <a:r>
              <a:rPr sz="2200" b="0" i="0">
                <a:latin typeface="Bookman Old Style"/>
              </a:rPr>
              <a:t> Код начинает выглядеть как описание процесса, а не как перекладывание байтов.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28/49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Архитектура «Луковицы» (Onion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Чистая архитектура — это способ организации кода, при котором бизнес-логика не зависит от фреймворков, баз данных и внешних интерфейсов.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Основные слои: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Domain (Ядро):</a:t>
            </a:r>
            <a:r>
              <a:rPr sz="2200" b="0" i="0">
                <a:latin typeface="Bookman Old Style"/>
              </a:rPr>
              <a:t> Сущности, Value Objects, бизнес-правила (то, что мы обсуждали в DDD). Это сердце системы.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Application (Сервисы/Use Cases):</a:t>
            </a:r>
            <a:r>
              <a:rPr sz="2200" b="0" i="0">
                <a:latin typeface="Bookman Old Style"/>
              </a:rPr>
              <a:t> Описывает, </a:t>
            </a:r>
            <a:r>
              <a:rPr sz="2200" b="0" i="1">
                <a:latin typeface="Bookman Old Style"/>
              </a:rPr>
              <a:t>что</a:t>
            </a:r>
            <a:r>
              <a:rPr sz="2200" b="0" i="0">
                <a:latin typeface="Bookman Old Style"/>
              </a:rPr>
              <a:t> программа делает. Здесь находятся сценарии (например, «Зарегистрировать пользователя», «Оформить возврат»).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Infrastructure (Внешнее кольцо):</a:t>
            </a:r>
            <a:r>
              <a:rPr sz="2200" b="0" i="0">
                <a:latin typeface="Bookman Old Style"/>
              </a:rPr>
              <a:t> Реализация БД, API-клиенты, логирование, UI. Это детали реализации.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29/49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Главное правило: Зависимости направлены внутрь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Это фундаментальный закон. Внутренние слои </a:t>
            </a:r>
            <a:r>
              <a:rPr sz="2200" b="1" i="0">
                <a:latin typeface="Bookman Old Style"/>
              </a:rPr>
              <a:t>ничего не знают</a:t>
            </a:r>
            <a:r>
              <a:rPr sz="2200" b="0" i="0">
                <a:latin typeface="Bookman Old Style"/>
              </a:rPr>
              <a:t> о внешних слоях.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Домен</a:t>
            </a:r>
            <a:r>
              <a:rPr sz="2200" b="0" i="0">
                <a:latin typeface="Bookman Old Style"/>
              </a:rPr>
              <a:t> не знает, что он будет сохраняться в SQL или MongoDB.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Сервисы</a:t>
            </a:r>
            <a:r>
              <a:rPr sz="2200" b="0" i="0">
                <a:latin typeface="Bookman Old Style"/>
              </a:rPr>
              <a:t> не знают, откуда пришел запрос — из браузера, мобильного приложения или консоли.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Инфраструктура</a:t>
            </a:r>
            <a:r>
              <a:rPr sz="2200" b="0" i="0">
                <a:latin typeface="Bookman Old Style"/>
              </a:rPr>
              <a:t> знает обо всех, она лишь реализует контракты, которые определил Домен.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Почему это важно?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Если вы решите сменить библиотеку для отправки Email, вы измените только внешний слой. Код, отвечающий за логику «когда и кому отправить письмо», останется нетронутым.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30/49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Где в этой схеме место ООП?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В Чистой архитектуре ООП — это не просто способ организации кода, это </a:t>
            </a:r>
            <a:r>
              <a:rPr sz="2200" b="1" i="0">
                <a:latin typeface="Bookman Old Style"/>
              </a:rPr>
              <a:t>инструмент защиты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Инкапсуляция как забор:</a:t>
            </a:r>
            <a:r>
              <a:rPr sz="2200" b="0" i="0">
                <a:latin typeface="Bookman Old Style"/>
              </a:rPr>
              <a:t> Мы скрываем внутреннее состояние Агрегата, чтобы никто из слоя «Инфраструктура» не мог напрямую поменять баланс счета, минуя бизнес-проверку.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Полиморфизм как механизм стыковки:</a:t>
            </a:r>
            <a:r>
              <a:rPr sz="2200" b="0" i="0">
                <a:latin typeface="Bookman Old Style"/>
              </a:rPr>
              <a:t> Интерфейсы определяются в центре (в Домене), а их реализация подсовывается снаружи (через DI). 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latin typeface="Bookman Old Style"/>
              </a:rPr>
              <a:t>Пример:</a:t>
            </a:r>
            <a:r>
              <a:rPr sz="2200" b="0" i="0">
                <a:latin typeface="Bookman Old Style"/>
              </a:rPr>
              <a:t> Домен говорит: «Мне нужен </a:t>
            </a:r>
            <a:r>
              <a:rPr sz="2000" b="0" i="0">
                <a:latin typeface="Courier New"/>
              </a:rPr>
              <a:t>IMessageSender</a:t>
            </a:r>
            <a:r>
              <a:rPr sz="2200" b="0" i="0">
                <a:latin typeface="Bookman Old Style"/>
              </a:rPr>
              <a:t>». Инфраструктура дает </a:t>
            </a:r>
            <a:r>
              <a:rPr sz="2000" b="0" i="0">
                <a:latin typeface="Courier New"/>
              </a:rPr>
              <a:t>TelegramSender</a:t>
            </a:r>
            <a:r>
              <a:rPr sz="2200" b="0" i="0">
                <a:latin typeface="Bookman Old Style"/>
              </a:rPr>
              <a:t>. Домену всё равно, как работает Telegram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31/49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Слои в коде (Наглядная схема)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Infrastructure Layer: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SqlUserRepository.cs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SendGridEmailService.cs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UsersController.cs</a:t>
            </a:r>
            <a:r>
              <a:rPr sz="2200" b="0" i="0">
                <a:latin typeface="Bookman Old Style"/>
              </a:rPr>
              <a:t> (Web API)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Application Layer: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RegisterUserUseCase.cs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IUserRepository.cs</a:t>
            </a:r>
            <a:r>
              <a:rPr sz="2200" b="0" i="0">
                <a:latin typeface="Bookman Old Style"/>
              </a:rPr>
              <a:t> (Интерфейс!)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Domain Layer: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User.cs</a:t>
            </a:r>
            <a:r>
              <a:rPr sz="2200" b="0" i="0">
                <a:latin typeface="Bookman Old Style"/>
              </a:rPr>
              <a:t> (Entity)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latin typeface="Courier New"/>
              </a:rPr>
              <a:t>Email.cs</a:t>
            </a:r>
            <a:r>
              <a:rPr sz="2200" b="0" i="0">
                <a:latin typeface="Bookman Old Style"/>
              </a:rPr>
              <a:t> (Value Object)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Связь:</a:t>
            </a:r>
            <a:r>
              <a:rPr sz="2200" b="0" i="0">
                <a:latin typeface="Bookman Old Style"/>
              </a:rPr>
              <a:t> Контроллер вызывает UseCase. UseCase манипулирует Сущностями и сохраняет их через Интерфейс. Реальный SQL-репозиторий выполняет работу «в тени».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32/49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Чистая архитектура vs «Спагетти»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/>
          <a:p>
            <a:pPr marL="0" indent="0">
              <a:spcBef>
                <a:spcPts val="15673"/>
              </a:spcBef>
              <a:buNone/>
              <a:defRPr sz="100"/>
            </a:pP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33/49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746960"/>
          <a:ext cx="109728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Признак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Спагетти-код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Чистая архитектура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Связи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Все знают обо всех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Зависимости строго в одну сторону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Нужна база данных и запущенный сервер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Можно тестировать логику без БД за миллисекунды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Смена БД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«Проще переписать проект»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«Замените один класс в Infrastructure»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Порог входа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Низкий (пишем как хотим)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Высокий (нужно проектировать)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Золотое правило архитектора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«Детали (БД, Фреймворки, UI) должны зависеть от Политики (Бизнес-логика). Политика никогда не должна зависеть от Деталей».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Ваш код должен выглядеть так, будто он может работать в консоли так же легко, как в облачном сервисе. ООП здесь — ваш главный инструмент по созданию этих независимых границ.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34/49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Исходный код: «Всё-в-одном» (Spaghetti-style)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8000"/>
                </a:solidFill>
                <a:latin typeface="Courier New"/>
              </a:rPr>
              <a:t>// Проблема: Наследование ради доступа к БД, жесткая связь, каша из логики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class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267F99"/>
                </a:solidFill>
                <a:latin typeface="Courier New"/>
              </a:rPr>
              <a:t>OrderManager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SqlDatabase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ProcessOrder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FF"/>
                </a:solidFill>
                <a:latin typeface="Courier New"/>
              </a:rPr>
              <a:t>string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decimal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amount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string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currency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int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type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1. Валидация (Primitive Obsession)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if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!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Contains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"@"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throw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Exception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"Bad email"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if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amount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&lt;=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98658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throw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Exception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"Bad amount"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2. Бизнес-логика смешана с типами (Hardcoded logic)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if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type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98658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8000"/>
                </a:solidFill>
                <a:latin typeface="Courier New"/>
              </a:rPr>
              <a:t>/* логика обычного заказа */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else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if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type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98658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8000"/>
                </a:solidFill>
                <a:latin typeface="Courier New"/>
              </a:rPr>
              <a:t>/* логика цифрового заказа */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3. Прямая работа с инфраструктурой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35/49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Исходный код: «Всё-в-одном» (Spaghetti-style)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string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sql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A31515"/>
                </a:solidFill>
                <a:latin typeface="Courier New"/>
              </a:rPr>
              <a:t>$"INSERT INTO Orders VALUES ('{email}', {amount})"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this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ExecuteQuery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sql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4. Прямая зависимость от внешнего сервиса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var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smtp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SmtpClient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"smtp.mail.com"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smtp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Send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"Order placed"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Что здесь плохо?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Inheritance:</a:t>
            </a:r>
            <a:r>
              <a:rPr sz="2200" b="0" i="0">
                <a:latin typeface="Bookman Old Style"/>
              </a:rPr>
              <a:t> </a:t>
            </a:r>
            <a:r>
              <a:rPr sz="2000" b="0" i="0">
                <a:latin typeface="Courier New"/>
              </a:rPr>
              <a:t>OrderManager</a:t>
            </a:r>
            <a:r>
              <a:rPr sz="2200" b="0" i="0">
                <a:latin typeface="Bookman Old Style"/>
              </a:rPr>
              <a:t> — это не база данных. Наследование здесь только ради метода </a:t>
            </a:r>
            <a:r>
              <a:rPr sz="2000" b="0" i="0">
                <a:latin typeface="Courier New"/>
              </a:rPr>
              <a:t>ExecuteQuery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Primitive Obsession:</a:t>
            </a:r>
            <a:r>
              <a:rPr sz="2200" b="0" i="0">
                <a:latin typeface="Bookman Old Style"/>
              </a:rPr>
              <a:t> Почта и деньги — это просто строки и числа. Нет защиты от ошибок.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36/49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Исходный код: «Всё-в-одном» (Spaghetti-style)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Hardcoded Dependencies:</a:t>
            </a:r>
            <a:r>
              <a:rPr sz="2200" b="0" i="0">
                <a:latin typeface="Bookman Old Style"/>
              </a:rPr>
              <a:t> Невозможно протестировать метод, не отправляя реальное письмо и не имея базы.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37/49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Шаг 1: Выделяем Value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Избавляемся от «одержимости примитивами». Логика валидации переезжает внутрь самих объектов.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record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FF"/>
                </a:solidFill>
                <a:latin typeface="Courier New"/>
              </a:rPr>
              <a:t>string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Value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if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!</a:t>
            </a:r>
            <a:r>
              <a:rPr sz="2000">
                <a:solidFill>
                  <a:srgbClr val="000000"/>
                </a:solidFill>
                <a:latin typeface="Courier New"/>
              </a:rPr>
              <a:t>Value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Contains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"@"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throw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ArgumentException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"Invalid email"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record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Money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FF"/>
                </a:solidFill>
                <a:latin typeface="Courier New"/>
              </a:rPr>
              <a:t>decimal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Amount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string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Currency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Money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if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Amount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&lt;=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98658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throw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ArgumentException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A31515"/>
                </a:solidFill>
                <a:latin typeface="Courier New"/>
              </a:rPr>
              <a:t>"Amount must be positive"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38/49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Шаг 1: Выделяем Value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39/49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Шаг 2: Композиция и Интерфейсы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Заменяем наследование от БД на внедрение зависимостей через интерфейсы.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interface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IOrderRepository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Save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interface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INotificationService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Notify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string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message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40/49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Шаг 3: Итоговый «Чистый» код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Применяем паттерн </a:t>
            </a:r>
            <a:r>
              <a:rPr sz="2200" b="1" i="0">
                <a:latin typeface="Bookman Old Style"/>
              </a:rPr>
              <a:t>Strategy</a:t>
            </a:r>
            <a:r>
              <a:rPr sz="2200" b="0" i="0">
                <a:latin typeface="Bookman Old Style"/>
              </a:rPr>
              <a:t> для типов заказов и </a:t>
            </a:r>
            <a:r>
              <a:rPr sz="2200" b="1" i="0">
                <a:latin typeface="Bookman Old Style"/>
              </a:rPr>
              <a:t>DI</a:t>
            </a:r>
            <a:r>
              <a:rPr sz="2200" b="0" i="0">
                <a:latin typeface="Bookman Old Style"/>
              </a:rPr>
              <a:t> для инфраструктуры.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class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267F99"/>
                </a:solidFill>
                <a:latin typeface="Courier New"/>
              </a:rPr>
              <a:t>OrderService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private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readonly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IOrderRepository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_repository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private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readonly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INotificationService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_notification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OrderService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IOrderRepository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INotificationService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notification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_notification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notification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FF"/>
                </a:solidFill>
                <a:latin typeface="Courier New"/>
              </a:rPr>
              <a:t>public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void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795E26"/>
                </a:solidFill>
                <a:latin typeface="Courier New"/>
              </a:rPr>
              <a:t>PlaceOrder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Money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IOrderStrategy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41/49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Шаг 3: Итоговый «Чистый» код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Создаем сущность (Entity), которая сама проверяет свои правила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FF"/>
                </a:solidFill>
                <a:latin typeface="Courier New"/>
              </a:rPr>
              <a:t>var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new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price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Применяем стратегию (Композиция вместо If/Else)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strategy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Apply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Сохраняем через абстракцию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_repository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Save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order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8000"/>
                </a:solidFill>
                <a:latin typeface="Courier New"/>
              </a:rPr>
              <a:t>// Уведомляем через абстракцию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_notification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Notify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email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A31515"/>
                </a:solidFill>
                <a:latin typeface="Courier New"/>
              </a:rPr>
              <a:t>"Ваш заказ оформлен!"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42/49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Результат рефакторинга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Тестируемость:</a:t>
            </a:r>
            <a:r>
              <a:rPr sz="2200" b="0" i="0">
                <a:latin typeface="Bookman Old Style"/>
              </a:rPr>
              <a:t> Мы можем написать Unit-тест для </a:t>
            </a:r>
            <a:r>
              <a:rPr sz="2000" b="0" i="0">
                <a:latin typeface="Courier New"/>
              </a:rPr>
              <a:t>OrderService</a:t>
            </a:r>
            <a:r>
              <a:rPr sz="2200" b="0" i="0">
                <a:latin typeface="Bookman Old Style"/>
              </a:rPr>
              <a:t>, подставив </a:t>
            </a:r>
            <a:r>
              <a:rPr sz="2000" b="0" i="0">
                <a:latin typeface="Courier New"/>
              </a:rPr>
              <a:t>MockNotificationService</a:t>
            </a:r>
            <a:r>
              <a:rPr sz="2200" b="0" i="0">
                <a:latin typeface="Bookman Old Style"/>
              </a:rPr>
              <a:t>. Нам не нужен SMTP-сервер.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Гибкость:</a:t>
            </a:r>
            <a:r>
              <a:rPr sz="2200" b="0" i="0">
                <a:latin typeface="Bookman Old Style"/>
              </a:rPr>
              <a:t> Чтобы изменить способ сохранения (с SQL на JSON), мы просто создаем новый класс, реализующий </a:t>
            </a:r>
            <a:r>
              <a:rPr sz="2000" b="0" i="0">
                <a:latin typeface="Courier New"/>
              </a:rPr>
              <a:t>IOrderRepository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Читаемость:</a:t>
            </a:r>
            <a:r>
              <a:rPr sz="2200" b="0" i="0">
                <a:latin typeface="Bookman Old Style"/>
              </a:rPr>
              <a:t> Метод </a:t>
            </a:r>
            <a:r>
              <a:rPr sz="2000" b="0" i="0">
                <a:latin typeface="Courier New"/>
              </a:rPr>
              <a:t>PlaceOrder</a:t>
            </a:r>
            <a:r>
              <a:rPr sz="2200" b="0" i="0">
                <a:latin typeface="Bookman Old Style"/>
              </a:rPr>
              <a:t> теперь читается как рассказ, а не как инструкция к процессору.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Надежность:</a:t>
            </a:r>
            <a:r>
              <a:rPr sz="2200" b="0" i="0">
                <a:latin typeface="Bookman Old Style"/>
              </a:rPr>
              <a:t> Мы не можем создать объект </a:t>
            </a:r>
            <a:r>
              <a:rPr sz="2000" b="0" i="0">
                <a:latin typeface="Courier New"/>
              </a:rPr>
              <a:t>Email</a:t>
            </a:r>
            <a:r>
              <a:rPr sz="2200" b="0" i="0">
                <a:latin typeface="Bookman Old Style"/>
              </a:rPr>
              <a:t> с невалидными данными — система выдаст ошибку еще на входе.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43/49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Сравнительная таблица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/>
          <a:p>
            <a:pPr marL="0" indent="0">
              <a:spcBef>
                <a:spcPts val="15673"/>
              </a:spcBef>
              <a:buNone/>
              <a:defRPr sz="100"/>
            </a:pP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44/49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746960"/>
          <a:ext cx="109728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Было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Стало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Принцип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class OrderManager : SqlDatabase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IOrderRepository _repo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Composition over Inheritance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string email, decimal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Email email, Money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Value Objects (DDD)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if (type == 1) { ...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IOrderStrategy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Strategy Pattern / OCP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new SmtpClient(...)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0" i="0">
                          <a:latin typeface="Bookman Old Style"/>
                        </a:rPr>
                        <a:t>INotificationService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marL="0" indent="0">
                        <a:buNone/>
                        <a:lnSpc>
                          <a:spcPct val="115000"/>
                        </a:lnSpc>
                      </a:pPr>
                      <a:r>
                        <a:rPr sz="1800" b="1" i="0">
                          <a:latin typeface="Bookman Old Style"/>
                        </a:rPr>
                        <a:t>Dependency Injection / DIP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Главный вывод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Многие считают, что ООП — это умение группировать функции в классы и строить длинные цепочки наследования. Это заблуждение.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ООП — это искусство управления зависимостями.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Хороший архитектор тратит 10% времени на написание логики и 90% времени на то, чтобы провести границы между модулями так, чтобы изменение в одном месте не вызывало пожар во всём проекте.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Ваш чек-лист на ближайший проект: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Stop Inheritance:</a:t>
            </a:r>
            <a:r>
              <a:rPr sz="2200" b="0" i="0">
                <a:latin typeface="Bookman Old Style"/>
              </a:rPr>
              <a:t> Прежде чем написать </a:t>
            </a:r>
            <a:r>
              <a:rPr sz="2000" b="0" i="0">
                <a:latin typeface="Courier New"/>
              </a:rPr>
              <a:t>extends</a:t>
            </a:r>
            <a:r>
              <a:rPr sz="2200" b="0" i="0">
                <a:latin typeface="Bookman Old Style"/>
              </a:rPr>
              <a:t> или </a:t>
            </a:r>
            <a:r>
              <a:rPr sz="2000" b="0" i="0">
                <a:latin typeface="Courier New"/>
              </a:rPr>
              <a:t>:</a:t>
            </a:r>
            <a:r>
              <a:rPr sz="2200" b="0" i="0">
                <a:latin typeface="Bookman Old Style"/>
              </a:rPr>
              <a:t>, спросите себя: «Могу ли я сделать это через интерфейс и поле в классе?».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Protect the Domain:</a:t>
            </a:r>
            <a:r>
              <a:rPr sz="2200" b="0" i="0">
                <a:latin typeface="Bookman Old Style"/>
              </a:rPr>
              <a:t> Не пускайте SQL-запросы или HTTP-детали в сердце вашей логики.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Think in Values:</a:t>
            </a:r>
            <a:r>
              <a:rPr sz="2200" b="0" i="0">
                <a:latin typeface="Bookman Old Style"/>
              </a:rPr>
              <a:t> Используйте Value Objects для всего, что не имеет уникального 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45/49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Список литературы для «просветления»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Если вы хотите вырасти из Junior в Middle/Senior, эти книги обязательны к прочтению: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Роберт Мартин (Uncle Bob) — «Чистая архитектура»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О том, как правильно расставлять границы в приложении и почему база данных — это всего лишь деталь.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Эрик Эванс — «Предметно-ориентированное проектирование (DDD)»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Фундаментальный труд о том, как заставить код говорить на языке бизнеса. (ВНИМАНИЕ: книга сложная, можно начать с «DDD Distilled» Вона Вернона).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Мартин Фаулер — «Шаблоны корпоративных приложений»</a:t>
            </a:r>
          </a:p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Библия архитектурных паттернов. Если вы не знаете, как организовать доступ к данным или бизнес-логику — ответ здесь.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Эрих Гамма и др. — «Приемы объектно-ориентированного проектирования» (Gof)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46/49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Список литературы для «просветления»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lvl="1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Классика паттернов. Поможет понять, как именно применять композицию на практике.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47/49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Что дальше?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Теория без практики бесполезна.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В следующий раз, когда вы будете писать проект: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Попробуйте написать хотя бы один модуль полностью без наследования.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Попробуйте написать бизнес-логику так, чтобы она вообще ничего не знала о существовании интернета или базы данных.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Это будет больно в первый раз, но это единственный путь к созданию систем, которые не умирают через месяц после релиза.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48/49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800" b="1" i="0">
                <a:solidFill>
                  <a:srgbClr val="264673"/>
                </a:solidFill>
                <a:latin typeface="Bookman Old Style"/>
              </a:rPr>
              <a:t>Q&amp;A (Вопросы и ответы)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Примерные темы для обсуждения: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«А что, если интерфейсов становится слишком много?»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«Где хранить логику в DDD, если она не влезает в сущность?»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«Как убедить тимлида, что нам нужен рефакторинг?»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 anchor="ctr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49/49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