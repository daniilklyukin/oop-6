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1"/>
  </p:notesMasterIdLst>
  <p:sldIdLst>
    <p:sldId id="273" r:id="rId2"/>
    <p:sldId id="274" r:id="rId3"/>
    <p:sldId id="275" r:id="rId4"/>
    <p:sldId id="276" r:id="rId5"/>
    <p:sldId id="278" r:id="rId6"/>
    <p:sldId id="282" r:id="rId7"/>
    <p:sldId id="283" r:id="rId8"/>
    <p:sldId id="285" r:id="rId9"/>
    <p:sldId id="28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 autoAdjust="0"/>
    <p:restoredTop sz="94038" autoAdjust="0"/>
  </p:normalViewPr>
  <p:slideViewPr>
    <p:cSldViewPr snapToGrid="0">
      <p:cViewPr>
        <p:scale>
          <a:sx n="50" d="100"/>
          <a:sy n="50" d="100"/>
        </p:scale>
        <p:origin x="174" y="25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82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66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14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62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61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Хотя идея паттернов как способ описания решения распространенных проблем в области проектирования появилась довольно давно, но их популярность стала расти во многом благодаря известной работе четырех авторов Эриха Гаммы, Ричарда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Хелма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Ральфа Джонсона, Джона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Влиссидеса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которая называлась "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Patterns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Elements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Reusable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(на русском языке известна как "Приемы объектно-ориентированного проектирования. Паттерны проектирования") и которая вышла в свет в 1994 году. А сам коллектив авторов нередко называют "Банда четырёх"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сокращенно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Данная книга по сути являлась первой масштабной попыткой описать распространенные способы проектирования программ. И со временем применение паттернов стало считаться хорошей практикой программирования.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07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20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98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52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80156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 smtClean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2" y="2490651"/>
            <a:ext cx="10670534" cy="2000203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6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1.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лекции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</a:t>
            </a:r>
            <a:r>
              <a:rPr lang="ru-RU" sz="1800" b="1" dirty="0" smtClean="0">
                <a:solidFill>
                  <a:srgbClr val="292929"/>
                </a:solidFill>
                <a:latin typeface="Bookman Old Style" pitchFamily="18" charset="0"/>
              </a:rPr>
              <a:t>ст. преподаватель каф</a:t>
            </a:r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. </a:t>
            </a:r>
            <a:r>
              <a:rPr lang="ru-RU" sz="1800" b="1" dirty="0" err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sz="1800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77031" y="4490853"/>
            <a:ext cx="110413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Классификация ПО </a:t>
            </a:r>
            <a:r>
              <a:rPr lang="ru-RU" sz="2800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среде 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исполнения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Клиент-серверное 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взаимодействие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Проблема сложности и роль 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архитектуры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Фундаментальные принципы проектирования</a:t>
            </a:r>
            <a:endParaRPr lang="en-US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Десктоп (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Desktop)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5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Теряющее популярность, но все еще очень активное направление — это десктоп. </a:t>
            </a:r>
            <a:r>
              <a:rPr lang="ru-RU" sz="2400" dirty="0" smtClean="0">
                <a:latin typeface="Bookman Old Style" panose="02050604050505020204" pitchFamily="18" charset="0"/>
              </a:rPr>
              <a:t>Это так называемые "толстые клиенты", </a:t>
            </a:r>
            <a:r>
              <a:rPr lang="ru-RU" sz="2400" dirty="0" smtClean="0">
                <a:latin typeface="Bookman Old Style" panose="02050604050505020204" pitchFamily="18" charset="0"/>
              </a:rPr>
              <a:t>— когда почти вся логика и обработка данных происходит на компьютере пользователя.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ru-RU" sz="2400" dirty="0">
                <a:latin typeface="Bookman Old Style" panose="02050604050505020204" pitchFamily="18" charset="0"/>
              </a:rPr>
              <a:t>этом направлении всегда были популярны такие языки, как </a:t>
            </a:r>
            <a:r>
              <a:rPr lang="ru-RU" sz="2400" b="1" dirty="0">
                <a:latin typeface="Bookman Old Style" panose="02050604050505020204" pitchFamily="18" charset="0"/>
              </a:rPr>
              <a:t>С++</a:t>
            </a:r>
            <a:r>
              <a:rPr lang="ru-RU" sz="2400" dirty="0">
                <a:latin typeface="Bookman Old Style" panose="02050604050505020204" pitchFamily="18" charset="0"/>
              </a:rPr>
              <a:t>, </a:t>
            </a:r>
            <a:r>
              <a:rPr lang="ru-RU" sz="2400" b="1" dirty="0" err="1">
                <a:latin typeface="Bookman Old Style" panose="02050604050505020204" pitchFamily="18" charset="0"/>
              </a:rPr>
              <a:t>Java</a:t>
            </a:r>
            <a:r>
              <a:rPr lang="ru-RU" sz="2400" dirty="0">
                <a:latin typeface="Bookman Old Style" panose="02050604050505020204" pitchFamily="18" charset="0"/>
              </a:rPr>
              <a:t> и </a:t>
            </a:r>
            <a:r>
              <a:rPr lang="ru-RU" sz="2400" b="1" dirty="0">
                <a:latin typeface="Bookman Old Style" panose="02050604050505020204" pitchFamily="18" charset="0"/>
              </a:rPr>
              <a:t>C#</a:t>
            </a:r>
            <a:r>
              <a:rPr lang="ru-RU" sz="2400" dirty="0">
                <a:latin typeface="Bookman Old Style" panose="02050604050505020204" pitchFamily="18" charset="0"/>
              </a:rPr>
              <a:t>, но на пятки признанным авторитетам наступают те языки, которые еще не так давно никто не планировал использовать для написания толстых клиентов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r>
              <a:rPr lang="en-US" sz="2400" dirty="0" smtClean="0">
                <a:latin typeface="Bookman Old Style" panose="02050604050505020204" pitchFamily="18" charset="0"/>
              </a:rPr>
              <a:t> (</a:t>
            </a:r>
            <a:r>
              <a:rPr lang="en-US" sz="2400" b="1" dirty="0" smtClean="0">
                <a:latin typeface="Bookman Old Style" panose="02050604050505020204" pitchFamily="18" charset="0"/>
              </a:rPr>
              <a:t>Java Script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На </a:t>
            </a:r>
            <a:r>
              <a:rPr lang="en-US" sz="2400" dirty="0" smtClean="0">
                <a:latin typeface="Bookman Old Style" panose="02050604050505020204" pitchFamily="18" charset="0"/>
              </a:rPr>
              <a:t>C# </a:t>
            </a:r>
            <a:r>
              <a:rPr lang="ru-RU" sz="2400" dirty="0" smtClean="0">
                <a:latin typeface="Bookman Old Style" panose="02050604050505020204" pitchFamily="18" charset="0"/>
              </a:rPr>
              <a:t>удобно писать под </a:t>
            </a:r>
            <a:r>
              <a:rPr lang="en-US" sz="2400" dirty="0" smtClean="0">
                <a:latin typeface="Bookman Old Style" panose="02050604050505020204" pitchFamily="18" charset="0"/>
              </a:rPr>
              <a:t>Windows: </a:t>
            </a:r>
            <a:r>
              <a:rPr lang="en-US" sz="2400" b="1" dirty="0" smtClean="0">
                <a:latin typeface="Bookman Old Style" panose="02050604050505020204" pitchFamily="18" charset="0"/>
              </a:rPr>
              <a:t>Windows Forms, WPF.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36" y="4533896"/>
            <a:ext cx="1991980" cy="224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4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Языки в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Web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5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Веб делится на 2 подраздела: </a:t>
            </a:r>
            <a:r>
              <a:rPr lang="ru-RU" sz="2400" b="1" dirty="0" err="1">
                <a:latin typeface="Bookman Old Style" panose="02050604050505020204" pitchFamily="18" charset="0"/>
              </a:rPr>
              <a:t>бэкенд</a:t>
            </a:r>
            <a:r>
              <a:rPr lang="ru-RU" sz="2400" dirty="0">
                <a:latin typeface="Bookman Old Style" panose="02050604050505020204" pitchFamily="18" charset="0"/>
              </a:rPr>
              <a:t> и </a:t>
            </a:r>
            <a:r>
              <a:rPr lang="ru-RU" sz="2400" b="1" dirty="0" err="1">
                <a:latin typeface="Bookman Old Style" panose="02050604050505020204" pitchFamily="18" charset="0"/>
              </a:rPr>
              <a:t>фронтенд</a:t>
            </a:r>
            <a:r>
              <a:rPr lang="ru-RU" sz="2400" dirty="0">
                <a:latin typeface="Bookman Old Style" panose="02050604050505020204" pitchFamily="18" charset="0"/>
              </a:rPr>
              <a:t>. Любое веб-приложение в конечном итоге имеет ту часть, которая взаимодействует с пользователем, и почти всегда это </a:t>
            </a:r>
            <a:r>
              <a:rPr lang="ru-RU" sz="2400" b="1" dirty="0">
                <a:latin typeface="Bookman Old Style" panose="02050604050505020204" pitchFamily="18" charset="0"/>
              </a:rPr>
              <a:t>тонкий </a:t>
            </a:r>
            <a:r>
              <a:rPr lang="ru-RU" sz="2400" b="1" dirty="0">
                <a:latin typeface="Bookman Old Style" panose="02050604050505020204" pitchFamily="18" charset="0"/>
              </a:rPr>
              <a:t>клиент (</a:t>
            </a:r>
            <a:r>
              <a:rPr lang="ru-RU" sz="2400" b="1" dirty="0" err="1">
                <a:latin typeface="Bookman Old Style" panose="02050604050505020204" pitchFamily="18" charset="0"/>
              </a:rPr>
              <a:t>фронтенд</a:t>
            </a:r>
            <a:r>
              <a:rPr lang="ru-RU" sz="2400" b="1" dirty="0">
                <a:latin typeface="Bookman Old Style" panose="02050604050505020204" pitchFamily="18" charset="0"/>
              </a:rPr>
              <a:t>) </a:t>
            </a:r>
            <a:r>
              <a:rPr lang="ru-RU" sz="2400" dirty="0">
                <a:latin typeface="Bookman Old Style" panose="02050604050505020204" pitchFamily="18" charset="0"/>
              </a:rPr>
              <a:t>— браузер, в котором крутятся приложения. Если раньше это был просто </a:t>
            </a:r>
            <a:r>
              <a:rPr lang="ru-RU" sz="2400" b="1" dirty="0">
                <a:latin typeface="Bookman Old Style" panose="02050604050505020204" pitchFamily="18" charset="0"/>
              </a:rPr>
              <a:t>HTML</a:t>
            </a:r>
            <a:r>
              <a:rPr lang="ru-RU" sz="2400" dirty="0">
                <a:latin typeface="Bookman Old Style" panose="02050604050505020204" pitchFamily="18" charset="0"/>
              </a:rPr>
              <a:t>, и вся логика происходила на сервере, то сейчас логики в браузере становится все больше и больше, и он становится по-настоящему "толстым" и "тяжелым".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831" y="4082967"/>
            <a:ext cx="2646218" cy="264621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404" y="4082967"/>
            <a:ext cx="1874297" cy="264621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922" y="4082967"/>
            <a:ext cx="2444651" cy="264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1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5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Backend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PHP, Ruby, Python, JavaScript (Node), Perl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Go, C#, Elixir, Rust, Java, </a:t>
            </a:r>
            <a:r>
              <a:rPr lang="en-US" sz="2400" dirty="0" err="1">
                <a:latin typeface="Bookman Old Style" panose="02050604050505020204" pitchFamily="18" charset="0"/>
              </a:rPr>
              <a:t>Clojure</a:t>
            </a:r>
            <a:r>
              <a:rPr lang="en-US" sz="2400" dirty="0">
                <a:latin typeface="Bookman Old Style" panose="02050604050505020204" pitchFamily="18" charset="0"/>
              </a:rPr>
              <a:t>, </a:t>
            </a:r>
            <a:r>
              <a:rPr lang="en-US" sz="2400" dirty="0" err="1">
                <a:latin typeface="Bookman Old Style" panose="02050604050505020204" pitchFamily="18" charset="0"/>
              </a:rPr>
              <a:t>Kotlin</a:t>
            </a:r>
            <a:r>
              <a:rPr lang="en-US" sz="2400" dirty="0">
                <a:latin typeface="Bookman Old Style" panose="02050604050505020204" pitchFamily="18" charset="0"/>
              </a:rPr>
              <a:t>, </a:t>
            </a:r>
            <a:r>
              <a:rPr lang="en-US" sz="2400" dirty="0" smtClean="0">
                <a:latin typeface="Bookman Old Style" panose="02050604050505020204" pitchFamily="18" charset="0"/>
              </a:rPr>
              <a:t>Scala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Бэкендеры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ответственны </a:t>
            </a:r>
            <a:r>
              <a:rPr lang="ru-RU" sz="2400" dirty="0">
                <a:latin typeface="Bookman Old Style" panose="02050604050505020204" pitchFamily="18" charset="0"/>
              </a:rPr>
              <a:t>за </a:t>
            </a:r>
            <a:r>
              <a:rPr lang="ru-RU" sz="2400" dirty="0" smtClean="0">
                <a:latin typeface="Bookman Old Style" panose="02050604050505020204" pitchFamily="18" charset="0"/>
              </a:rPr>
              <a:t>серверную </a:t>
            </a:r>
            <a:r>
              <a:rPr lang="ru-RU" sz="2400" dirty="0">
                <a:latin typeface="Bookman Old Style" panose="02050604050505020204" pitchFamily="18" charset="0"/>
              </a:rPr>
              <a:t>часть, то есть за то, что обеспечивает работу сервиса — взаимодействие с базами данных, обработку информации и вычисления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007" y="810028"/>
            <a:ext cx="1732607" cy="190153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614" y="657234"/>
            <a:ext cx="2186150" cy="118018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0695" y="1837415"/>
            <a:ext cx="1885988" cy="115516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495" y="2328309"/>
            <a:ext cx="768431" cy="76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4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Мобильная разработка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5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Мобильная разработка: </a:t>
            </a:r>
            <a:r>
              <a:rPr lang="ru-RU" sz="2400" b="1" dirty="0" err="1">
                <a:latin typeface="Bookman Old Style" panose="02050604050505020204" pitchFamily="18" charset="0"/>
              </a:rPr>
              <a:t>Нативная</a:t>
            </a:r>
            <a:r>
              <a:rPr lang="ru-RU" sz="2400" b="1" dirty="0">
                <a:latin typeface="Bookman Old Style" panose="02050604050505020204" pitchFamily="18" charset="0"/>
              </a:rPr>
              <a:t> и Кроссплатформенная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Нативная</a:t>
            </a:r>
            <a:r>
              <a:rPr lang="ru-RU" sz="2400" b="1" dirty="0">
                <a:latin typeface="Bookman Old Style" panose="02050604050505020204" pitchFamily="18" charset="0"/>
              </a:rPr>
              <a:t> разработка (под конкретную ОС):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Android:</a:t>
            </a:r>
            <a:r>
              <a:rPr lang="en-US" sz="2400" dirty="0">
                <a:latin typeface="Bookman Old Style" panose="02050604050505020204" pitchFamily="18" charset="0"/>
              </a:rPr>
              <a:t> </a:t>
            </a:r>
            <a:r>
              <a:rPr lang="en-US" sz="2400" dirty="0" err="1">
                <a:latin typeface="Bookman Old Style" panose="02050604050505020204" pitchFamily="18" charset="0"/>
              </a:rPr>
              <a:t>Kotlin</a:t>
            </a:r>
            <a:r>
              <a:rPr lang="en-US" sz="2400" dirty="0">
                <a:latin typeface="Bookman Old Style" panose="02050604050505020204" pitchFamily="18" charset="0"/>
              </a:rPr>
              <a:t> (</a:t>
            </a:r>
            <a:r>
              <a:rPr lang="ru-RU" sz="2400" dirty="0">
                <a:latin typeface="Bookman Old Style" panose="02050604050505020204" pitchFamily="18" charset="0"/>
              </a:rPr>
              <a:t>современный стандарт), </a:t>
            </a:r>
            <a:r>
              <a:rPr lang="en-US" sz="2400" dirty="0">
                <a:latin typeface="Bookman Old Style" panose="02050604050505020204" pitchFamily="18" charset="0"/>
              </a:rPr>
              <a:t>Java.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iOS:</a:t>
            </a:r>
            <a:r>
              <a:rPr lang="en-US" sz="2400" dirty="0">
                <a:latin typeface="Bookman Old Style" panose="02050604050505020204" pitchFamily="18" charset="0"/>
              </a:rPr>
              <a:t> Swift (</a:t>
            </a:r>
            <a:r>
              <a:rPr lang="ru-RU" sz="2400" dirty="0">
                <a:latin typeface="Bookman Old Style" panose="02050604050505020204" pitchFamily="18" charset="0"/>
              </a:rPr>
              <a:t>быстрый </a:t>
            </a:r>
            <a:r>
              <a:rPr lang="en-US" sz="2400" dirty="0">
                <a:latin typeface="Bookman Old Style" panose="02050604050505020204" pitchFamily="18" charset="0"/>
              </a:rPr>
              <a:t>open-source </a:t>
            </a:r>
            <a:r>
              <a:rPr lang="ru-RU" sz="2400" dirty="0">
                <a:latin typeface="Bookman Old Style" panose="02050604050505020204" pitchFamily="18" charset="0"/>
              </a:rPr>
              <a:t>язык), </a:t>
            </a:r>
            <a:r>
              <a:rPr lang="en-US" sz="2400" dirty="0">
                <a:latin typeface="Bookman Old Style" panose="02050604050505020204" pitchFamily="18" charset="0"/>
              </a:rPr>
              <a:t>Objective-C (</a:t>
            </a:r>
            <a:r>
              <a:rPr lang="ru-RU" sz="2400" dirty="0">
                <a:latin typeface="Bookman Old Style" panose="02050604050505020204" pitchFamily="18" charset="0"/>
              </a:rPr>
              <a:t>устаревает).</a:t>
            </a:r>
          </a:p>
          <a:p>
            <a:pPr>
              <a:lnSpc>
                <a:spcPct val="150000"/>
              </a:lnSpc>
            </a:pPr>
            <a:endParaRPr lang="ru-RU" sz="2400" b="1" dirty="0" smtClean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Кроссплатформенная </a:t>
            </a:r>
            <a:r>
              <a:rPr lang="ru-RU" sz="2400" b="1" dirty="0">
                <a:latin typeface="Bookman Old Style" panose="02050604050505020204" pitchFamily="18" charset="0"/>
              </a:rPr>
              <a:t>разработка (один код для </a:t>
            </a:r>
            <a:r>
              <a:rPr lang="en-US" sz="2400" b="1" dirty="0">
                <a:latin typeface="Bookman Old Style" panose="02050604050505020204" pitchFamily="18" charset="0"/>
              </a:rPr>
              <a:t>iOS </a:t>
            </a:r>
            <a:r>
              <a:rPr lang="ru-RU" sz="2400" b="1" dirty="0">
                <a:latin typeface="Bookman Old Style" panose="02050604050505020204" pitchFamily="18" charset="0"/>
              </a:rPr>
              <a:t>и </a:t>
            </a:r>
            <a:r>
              <a:rPr lang="en-US" sz="2400" b="1" dirty="0">
                <a:latin typeface="Bookman Old Style" panose="02050604050505020204" pitchFamily="18" charset="0"/>
              </a:rPr>
              <a:t>Android):</a:t>
            </a:r>
            <a:endParaRPr lang="en-US" sz="2400" dirty="0">
              <a:latin typeface="Bookman Old Style" panose="0205060405050502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Flutter (Dart):</a:t>
            </a:r>
            <a:r>
              <a:rPr lang="en-US" sz="2400" dirty="0">
                <a:latin typeface="Bookman Old Style" panose="02050604050505020204" pitchFamily="18" charset="0"/>
              </a:rPr>
              <a:t> </a:t>
            </a:r>
            <a:r>
              <a:rPr lang="ru-RU" sz="2400" dirty="0">
                <a:latin typeface="Bookman Old Style" panose="02050604050505020204" pitchFamily="18" charset="0"/>
              </a:rPr>
              <a:t>Популярный </a:t>
            </a:r>
            <a:r>
              <a:rPr lang="ru-RU" sz="2400" dirty="0" err="1">
                <a:latin typeface="Bookman Old Style" panose="02050604050505020204" pitchFamily="18" charset="0"/>
              </a:rPr>
              <a:t>фреймворк</a:t>
            </a:r>
            <a:r>
              <a:rPr lang="ru-RU" sz="2400" dirty="0">
                <a:latin typeface="Bookman Old Style" panose="02050604050505020204" pitchFamily="18" charset="0"/>
              </a:rPr>
              <a:t> от </a:t>
            </a:r>
            <a:r>
              <a:rPr lang="en-US" sz="2400" dirty="0">
                <a:latin typeface="Bookman Old Style" panose="02050604050505020204" pitchFamily="18" charset="0"/>
              </a:rPr>
              <a:t>Google.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Bookman Old Style" panose="02050604050505020204" pitchFamily="18" charset="0"/>
              </a:rPr>
              <a:t>React Native (JavaScript):</a:t>
            </a:r>
            <a:r>
              <a:rPr lang="en-US" sz="2400" dirty="0">
                <a:latin typeface="Bookman Old Style" panose="02050604050505020204" pitchFamily="18" charset="0"/>
              </a:rPr>
              <a:t> </a:t>
            </a:r>
            <a:r>
              <a:rPr lang="ru-RU" sz="2400" dirty="0">
                <a:latin typeface="Bookman Old Style" panose="02050604050505020204" pitchFamily="18" charset="0"/>
              </a:rPr>
              <a:t>Широко используемое решение от </a:t>
            </a:r>
            <a:r>
              <a:rPr lang="en-US" sz="2400" dirty="0">
                <a:latin typeface="Bookman Old Style" panose="02050604050505020204" pitchFamily="18" charset="0"/>
              </a:rPr>
              <a:t>Meta.</a:t>
            </a:r>
          </a:p>
          <a:p>
            <a:pPr lvl="1">
              <a:lnSpc>
                <a:spcPct val="150000"/>
              </a:lnSpc>
            </a:pPr>
            <a:r>
              <a:rPr lang="en-US" sz="2400" b="1" dirty="0" err="1">
                <a:latin typeface="Bookman Old Style" panose="02050604050505020204" pitchFamily="18" charset="0"/>
              </a:rPr>
              <a:t>Xamarin</a:t>
            </a:r>
            <a:r>
              <a:rPr lang="en-US" sz="2400" b="1" dirty="0">
                <a:latin typeface="Bookman Old Style" panose="02050604050505020204" pitchFamily="18" charset="0"/>
              </a:rPr>
              <a:t> (C#):</a:t>
            </a:r>
            <a:r>
              <a:rPr lang="en-US" sz="2400" dirty="0">
                <a:latin typeface="Bookman Old Style" panose="02050604050505020204" pitchFamily="18" charset="0"/>
              </a:rPr>
              <a:t> </a:t>
            </a:r>
            <a:r>
              <a:rPr lang="ru-RU" sz="2400" dirty="0">
                <a:latin typeface="Bookman Old Style" panose="02050604050505020204" pitchFamily="18" charset="0"/>
              </a:rPr>
              <a:t>Позволяет создавать приложения для </a:t>
            </a:r>
            <a:r>
              <a:rPr lang="en-US" sz="2400" dirty="0">
                <a:latin typeface="Bookman Old Style" panose="02050604050505020204" pitchFamily="18" charset="0"/>
              </a:rPr>
              <a:t>iOS, Android </a:t>
            </a:r>
            <a:r>
              <a:rPr lang="ru-RU" sz="2400" dirty="0">
                <a:latin typeface="Bookman Old Style" panose="02050604050505020204" pitchFamily="18" charset="0"/>
              </a:rPr>
              <a:t>и </a:t>
            </a:r>
            <a:r>
              <a:rPr lang="en-US" sz="2400" dirty="0">
                <a:latin typeface="Bookman Old Style" panose="02050604050505020204" pitchFamily="18" charset="0"/>
              </a:rPr>
              <a:t>Windows </a:t>
            </a:r>
            <a:r>
              <a:rPr lang="ru-RU" sz="2400" dirty="0">
                <a:latin typeface="Bookman Old Style" panose="02050604050505020204" pitchFamily="18" charset="0"/>
              </a:rPr>
              <a:t>на базе .</a:t>
            </a:r>
            <a:r>
              <a:rPr lang="en-US" sz="2400" dirty="0">
                <a:latin typeface="Bookman Old Style" panose="02050604050505020204" pitchFamily="18" charset="0"/>
              </a:rPr>
              <a:t>NET.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759" y="1156220"/>
            <a:ext cx="626632" cy="114910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1020" y="1156220"/>
            <a:ext cx="1149105" cy="114910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754" y="1214004"/>
            <a:ext cx="1091321" cy="109132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636"/>
          <a:stretch/>
        </p:blipFill>
        <p:spPr>
          <a:xfrm>
            <a:off x="10959283" y="2531690"/>
            <a:ext cx="1020261" cy="101148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4075" y="3965195"/>
            <a:ext cx="534573" cy="6616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6011" y="4451379"/>
            <a:ext cx="847889" cy="75462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487" y="5878217"/>
            <a:ext cx="917863" cy="81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8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Серверное ПО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5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Системное </a:t>
            </a:r>
            <a:r>
              <a:rPr lang="ru-RU" sz="2400" b="1" dirty="0">
                <a:latin typeface="Bookman Old Style" panose="02050604050505020204" pitchFamily="18" charset="0"/>
              </a:rPr>
              <a:t>и прикладное ПО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Системное ПО (работа с «железом»)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Что это: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smtClean="0">
                <a:latin typeface="Bookman Old Style" panose="02050604050505020204" pitchFamily="18" charset="0"/>
              </a:rPr>
              <a:t>ОС, </a:t>
            </a:r>
            <a:r>
              <a:rPr lang="ru-RU" sz="2400" dirty="0">
                <a:latin typeface="Bookman Old Style" panose="02050604050505020204" pitchFamily="18" charset="0"/>
              </a:rPr>
              <a:t>драйверы, управление ресурсами ПК.</a:t>
            </a:r>
          </a:p>
          <a:p>
            <a:pPr lvl="1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Языки:</a:t>
            </a:r>
            <a:r>
              <a:rPr lang="ru-RU" sz="2400" dirty="0">
                <a:latin typeface="Bookman Old Style" panose="02050604050505020204" pitchFamily="18" charset="0"/>
              </a:rPr>
              <a:t> C, C++, </a:t>
            </a:r>
            <a:r>
              <a:rPr lang="ru-RU" sz="2400" dirty="0" err="1">
                <a:latin typeface="Bookman Old Style" panose="02050604050505020204" pitchFamily="18" charset="0"/>
              </a:rPr>
              <a:t>Rust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Прикладное и серверное ПО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Что это:</a:t>
            </a:r>
            <a:r>
              <a:rPr lang="ru-RU" sz="2400" dirty="0">
                <a:latin typeface="Bookman Old Style" panose="02050604050505020204" pitchFamily="18" charset="0"/>
              </a:rPr>
              <a:t> Программы для решения конкретных задач (аналитика, расчеты, базы данных).</a:t>
            </a:r>
          </a:p>
          <a:p>
            <a:pPr lvl="1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Структура:</a:t>
            </a:r>
            <a:r>
              <a:rPr lang="ru-RU" sz="2400" dirty="0">
                <a:latin typeface="Bookman Old Style" panose="02050604050505020204" pitchFamily="18" charset="0"/>
              </a:rPr>
              <a:t> Состоит из </a:t>
            </a:r>
            <a:r>
              <a:rPr lang="ru-RU" sz="2400" dirty="0" smtClean="0">
                <a:latin typeface="Bookman Old Style" panose="02050604050505020204" pitchFamily="18" charset="0"/>
              </a:rPr>
              <a:t>интерфейса пользователя </a:t>
            </a:r>
            <a:r>
              <a:rPr lang="ru-RU" sz="2400" dirty="0">
                <a:latin typeface="Bookman Old Style" panose="02050604050505020204" pitchFamily="18" charset="0"/>
              </a:rPr>
              <a:t>и </a:t>
            </a:r>
            <a:r>
              <a:rPr lang="ru-RU" sz="2400" dirty="0" smtClean="0">
                <a:latin typeface="Bookman Old Style" panose="02050604050505020204" pitchFamily="18" charset="0"/>
              </a:rPr>
              <a:t>логики </a:t>
            </a:r>
            <a:r>
              <a:rPr lang="ru-RU" sz="2400" dirty="0">
                <a:latin typeface="Bookman Old Style" panose="02050604050505020204" pitchFamily="18" charset="0"/>
              </a:rPr>
              <a:t>на </a:t>
            </a:r>
            <a:r>
              <a:rPr lang="ru-RU" sz="2400" dirty="0" smtClean="0">
                <a:latin typeface="Bookman Old Style" panose="02050604050505020204" pitchFamily="18" charset="0"/>
              </a:rPr>
              <a:t>сервере.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Языки: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Java</a:t>
            </a:r>
            <a:r>
              <a:rPr lang="ru-RU" sz="2400" dirty="0">
                <a:latin typeface="Bookman Old Style" panose="02050604050505020204" pitchFamily="18" charset="0"/>
              </a:rPr>
              <a:t>, </a:t>
            </a:r>
            <a:r>
              <a:rPr lang="ru-RU" sz="2400" dirty="0" err="1">
                <a:latin typeface="Bookman Old Style" panose="02050604050505020204" pitchFamily="18" charset="0"/>
              </a:rPr>
              <a:t>Python</a:t>
            </a:r>
            <a:r>
              <a:rPr lang="ru-RU" sz="2400" dirty="0">
                <a:latin typeface="Bookman Old Style" panose="02050604050505020204" pitchFamily="18" charset="0"/>
              </a:rPr>
              <a:t>, C#, C++ и практически любые другие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136" y="2431215"/>
            <a:ext cx="922793" cy="103929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742" y="2431215"/>
            <a:ext cx="924569" cy="103929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5754" y="2431215"/>
            <a:ext cx="1039296" cy="103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03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Проблема сложности и роль архитектуры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5"/>
            <a:ext cx="12192000" cy="605441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ru-RU" sz="2400" b="1" spc="-30" dirty="0">
                <a:latin typeface="Bookman Old Style" panose="02050604050505020204" pitchFamily="18" charset="0"/>
              </a:rPr>
              <a:t>Что это:</a:t>
            </a:r>
            <a:r>
              <a:rPr lang="ru-RU" sz="2400" spc="-30" dirty="0">
                <a:latin typeface="Bookman Old Style" panose="02050604050505020204" pitchFamily="18" charset="0"/>
              </a:rPr>
              <a:t> Проверенные временем решения типовых проблем, возникающих при проектировании программного кода.</a:t>
            </a:r>
          </a:p>
          <a:p>
            <a:pPr algn="just">
              <a:lnSpc>
                <a:spcPct val="125000"/>
              </a:lnSpc>
            </a:pPr>
            <a:r>
              <a:rPr lang="ru-RU" sz="2400" b="1" spc="-30" dirty="0">
                <a:latin typeface="Bookman Old Style" panose="02050604050505020204" pitchFamily="18" charset="0"/>
              </a:rPr>
              <a:t>Универсальность:</a:t>
            </a:r>
            <a:r>
              <a:rPr lang="ru-RU" sz="2400" spc="-30" dirty="0">
                <a:latin typeface="Bookman Old Style" panose="02050604050505020204" pitchFamily="18" charset="0"/>
              </a:rPr>
              <a:t> Паттерны не зависят от конкретного языка программирования. Принципы едины для C#, </a:t>
            </a:r>
            <a:r>
              <a:rPr lang="ru-RU" sz="2400" spc="-30" dirty="0" err="1">
                <a:latin typeface="Bookman Old Style" panose="02050604050505020204" pitchFamily="18" charset="0"/>
              </a:rPr>
              <a:t>Java</a:t>
            </a:r>
            <a:r>
              <a:rPr lang="ru-RU" sz="2400" spc="-30" dirty="0">
                <a:latin typeface="Bookman Old Style" panose="02050604050505020204" pitchFamily="18" charset="0"/>
              </a:rPr>
              <a:t>, </a:t>
            </a:r>
            <a:r>
              <a:rPr lang="ru-RU" sz="2400" spc="-30" dirty="0" err="1">
                <a:latin typeface="Bookman Old Style" panose="02050604050505020204" pitchFamily="18" charset="0"/>
              </a:rPr>
              <a:t>Python</a:t>
            </a:r>
            <a:r>
              <a:rPr lang="ru-RU" sz="2400" spc="-30" dirty="0">
                <a:latin typeface="Bookman Old Style" panose="02050604050505020204" pitchFamily="18" charset="0"/>
              </a:rPr>
              <a:t> и других ООП-языков.</a:t>
            </a:r>
          </a:p>
          <a:p>
            <a:pPr algn="just">
              <a:lnSpc>
                <a:spcPct val="125000"/>
              </a:lnSpc>
            </a:pPr>
            <a:r>
              <a:rPr lang="ru-RU" sz="2400" b="1" spc="-30" dirty="0">
                <a:latin typeface="Bookman Old Style" panose="02050604050505020204" pitchFamily="18" charset="0"/>
              </a:rPr>
              <a:t>Зачем использовать:</a:t>
            </a:r>
            <a:endParaRPr lang="ru-RU" sz="2400" spc="-30" dirty="0">
              <a:latin typeface="Bookman Old Style" panose="02050604050505020204" pitchFamily="18" charset="0"/>
            </a:endParaRPr>
          </a:p>
          <a:p>
            <a:pPr lvl="1" algn="just">
              <a:lnSpc>
                <a:spcPct val="125000"/>
              </a:lnSpc>
            </a:pPr>
            <a:r>
              <a:rPr lang="ru-RU" sz="2400" b="1" spc="-30" dirty="0">
                <a:latin typeface="Bookman Old Style" panose="02050604050505020204" pitchFamily="18" charset="0"/>
              </a:rPr>
              <a:t>Готовые шаблоны:</a:t>
            </a:r>
            <a:r>
              <a:rPr lang="ru-RU" sz="2400" spc="-30" dirty="0">
                <a:latin typeface="Bookman Old Style" panose="02050604050505020204" pitchFamily="18" charset="0"/>
              </a:rPr>
              <a:t> Позволяют не «изобретать велосипед», а использовать стандартные способы формализации связей между объектами.</a:t>
            </a:r>
          </a:p>
          <a:p>
            <a:pPr lvl="1" algn="just">
              <a:lnSpc>
                <a:spcPct val="125000"/>
              </a:lnSpc>
            </a:pPr>
            <a:r>
              <a:rPr lang="ru-RU" sz="2400" b="1" spc="-30" dirty="0">
                <a:latin typeface="Bookman Old Style" panose="02050604050505020204" pitchFamily="18" charset="0"/>
              </a:rPr>
              <a:t>Чистота кода:</a:t>
            </a:r>
            <a:r>
              <a:rPr lang="ru-RU" sz="2400" spc="-30" dirty="0">
                <a:latin typeface="Bookman Old Style" panose="02050604050505020204" pitchFamily="18" charset="0"/>
              </a:rPr>
              <a:t> Упрощают структуру программы, делая её более гибкой.</a:t>
            </a:r>
          </a:p>
          <a:p>
            <a:pPr lvl="1" algn="just">
              <a:lnSpc>
                <a:spcPct val="125000"/>
              </a:lnSpc>
            </a:pPr>
            <a:r>
              <a:rPr lang="ru-RU" sz="2400" b="1" spc="-30" dirty="0">
                <a:latin typeface="Bookman Old Style" panose="02050604050505020204" pitchFamily="18" charset="0"/>
              </a:rPr>
              <a:t>Командная работа:</a:t>
            </a:r>
            <a:r>
              <a:rPr lang="ru-RU" sz="2400" spc="-30" dirty="0">
                <a:latin typeface="Bookman Old Style" panose="02050604050505020204" pitchFamily="18" charset="0"/>
              </a:rPr>
              <a:t> Создают «общий язык» для разработчиков. Зная паттерн, другой программист мгновенно понимает архитектурный замысел.</a:t>
            </a:r>
          </a:p>
        </p:txBody>
      </p:sp>
    </p:spTree>
    <p:extLst>
      <p:ext uri="{BB962C8B-B14F-4D97-AF65-F5344CB8AC3E}">
        <p14:creationId xmlns:p14="http://schemas.microsoft.com/office/powerpoint/2010/main" val="141534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1. Принцип </a:t>
            </a:r>
            <a:r>
              <a:rPr lang="ru-RU" sz="2400" b="1" dirty="0">
                <a:latin typeface="Bookman Old Style" panose="02050604050505020204" pitchFamily="18" charset="0"/>
              </a:rPr>
              <a:t>KISS (</a:t>
            </a:r>
            <a:r>
              <a:rPr lang="ru-RU" sz="2400" b="1" dirty="0" err="1">
                <a:latin typeface="Bookman Old Style" panose="02050604050505020204" pitchFamily="18" charset="0"/>
              </a:rPr>
              <a:t>Keep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It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Simple</a:t>
            </a:r>
            <a:r>
              <a:rPr lang="ru-RU" sz="2400" b="1" dirty="0">
                <a:latin typeface="Bookman Old Style" panose="02050604050505020204" pitchFamily="18" charset="0"/>
              </a:rPr>
              <a:t>, </a:t>
            </a:r>
            <a:r>
              <a:rPr lang="ru-RU" sz="2400" b="1" dirty="0" err="1">
                <a:latin typeface="Bookman Old Style" panose="02050604050505020204" pitchFamily="18" charset="0"/>
              </a:rPr>
              <a:t>Stupid</a:t>
            </a:r>
            <a:r>
              <a:rPr lang="ru-RU" sz="2400" b="1" dirty="0">
                <a:latin typeface="Bookman Old Style" panose="02050604050505020204" pitchFamily="18" charset="0"/>
              </a:rPr>
              <a:t>)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Суть:</a:t>
            </a:r>
            <a:r>
              <a:rPr lang="ru-RU" sz="2400" dirty="0">
                <a:latin typeface="Bookman Old Style" panose="02050604050505020204" pitchFamily="18" charset="0"/>
              </a:rPr>
              <a:t> Код должен быть максимально простым и ясным.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Главная цель паттернов:</a:t>
            </a:r>
            <a:r>
              <a:rPr lang="ru-RU" sz="2400" dirty="0">
                <a:latin typeface="Bookman Old Style" panose="02050604050505020204" pitchFamily="18" charset="0"/>
              </a:rPr>
              <a:t> Упрощать структуру, а не усложнять её. Если применение паттерна делает код менее понятным — он не нужен.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2. Не злоупотребляйте паттернами («Паттерны ради паттернов»)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Избегайте избыточного проектирования (</a:t>
            </a:r>
            <a:r>
              <a:rPr lang="ru-RU" sz="2400" dirty="0" err="1">
                <a:latin typeface="Bookman Old Style" panose="02050604050505020204" pitchFamily="18" charset="0"/>
              </a:rPr>
              <a:t>over-engineering</a:t>
            </a:r>
            <a:r>
              <a:rPr lang="ru-RU" sz="2400" dirty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Необоснованное использование шаблонов ведет к «раздуванию» кода и снижению его качества. Паттерн должен быть </a:t>
            </a:r>
            <a:r>
              <a:rPr lang="ru-RU" sz="2400" b="1" dirty="0">
                <a:latin typeface="Bookman Old Style" panose="02050604050505020204" pitchFamily="18" charset="0"/>
              </a:rPr>
              <a:t>оправданным</a:t>
            </a:r>
            <a:r>
              <a:rPr lang="ru-RU" sz="2400" dirty="0">
                <a:latin typeface="Bookman Old Style" panose="02050604050505020204" pitchFamily="18" charset="0"/>
              </a:rPr>
              <a:t> и эффективным способом решения конкретной задачи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Фундаментальные принципы проектирования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187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3</a:t>
            </a:r>
            <a:r>
              <a:rPr lang="ru-RU" sz="2400" b="1" dirty="0">
                <a:latin typeface="Bookman Old Style" panose="02050604050505020204" pitchFamily="18" charset="0"/>
              </a:rPr>
              <a:t>. Принцип осознанности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Не используйте паттерн, если не понимаете его внутреннюю логику и механику. Копирование структуры без понимания принципа работы создает архитектурные долги.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4. Классификация решений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Паттернов много, и они решают разные задачи. Для удобства их разделяют на группы (порождающие, структурные, поведенческие) в зависимости от цели, которую они преследуют.</a:t>
            </a:r>
          </a:p>
        </p:txBody>
      </p:sp>
    </p:spTree>
    <p:extLst>
      <p:ext uri="{BB962C8B-B14F-4D97-AF65-F5344CB8AC3E}">
        <p14:creationId xmlns:p14="http://schemas.microsoft.com/office/powerpoint/2010/main" val="302251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15782</TotalTime>
  <Words>506</Words>
  <Application>Microsoft Office PowerPoint</Application>
  <PresentationFormat>Широкоэкранный</PresentationFormat>
  <Paragraphs>69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Times New Roman</vt:lpstr>
      <vt:lpstr>Тема Office</vt:lpstr>
      <vt:lpstr>6 семестр Лекция 1.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938</cp:revision>
  <dcterms:modified xsi:type="dcterms:W3CDTF">2026-02-14T14:19:38Z</dcterms:modified>
</cp:coreProperties>
</file>