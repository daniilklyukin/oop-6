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9"/>
  </p:notesMasterIdLst>
  <p:sldIdLst>
    <p:sldId id="273" r:id="rId2"/>
    <p:sldId id="1207" r:id="rId3"/>
    <p:sldId id="1208" r:id="rId4"/>
    <p:sldId id="1209" r:id="rId5"/>
    <p:sldId id="1210" r:id="rId6"/>
    <p:sldId id="1211" r:id="rId7"/>
    <p:sldId id="1220" r:id="rId8"/>
    <p:sldId id="1221" r:id="rId9"/>
    <p:sldId id="1222" r:id="rId10"/>
    <p:sldId id="1223" r:id="rId11"/>
    <p:sldId id="1224" r:id="rId12"/>
    <p:sldId id="1225" r:id="rId13"/>
    <p:sldId id="1226" r:id="rId14"/>
    <p:sldId id="1227" r:id="rId15"/>
    <p:sldId id="1240" r:id="rId16"/>
    <p:sldId id="1241" r:id="rId17"/>
    <p:sldId id="1242" r:id="rId18"/>
    <p:sldId id="1243" r:id="rId19"/>
    <p:sldId id="1231" r:id="rId20"/>
    <p:sldId id="1232" r:id="rId21"/>
    <p:sldId id="1234" r:id="rId22"/>
    <p:sldId id="1236" r:id="rId23"/>
    <p:sldId id="1244" r:id="rId24"/>
    <p:sldId id="1245" r:id="rId25"/>
    <p:sldId id="1246" r:id="rId26"/>
    <p:sldId id="1247" r:id="rId27"/>
    <p:sldId id="124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2" autoAdjust="0"/>
    <p:restoredTop sz="82509" autoAdjust="0"/>
  </p:normalViewPr>
  <p:slideViewPr>
    <p:cSldViewPr snapToGrid="0">
      <p:cViewPr>
        <p:scale>
          <a:sx n="50" d="100"/>
          <a:sy n="50" d="100"/>
        </p:scale>
        <p:origin x="1854" y="990"/>
      </p:cViewPr>
      <p:guideLst>
        <p:guide orient="horz" pos="2160"/>
        <p:guide pos="386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45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96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3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55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19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83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50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38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32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99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29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1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86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04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25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74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69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110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816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91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04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258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425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03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939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07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377214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 smtClean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xmlns="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1946872"/>
            <a:ext cx="10670534" cy="1680438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7. 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</a:t>
            </a:r>
            <a:r>
              <a:rPr lang="ru-RU" sz="1800" b="1" dirty="0" smtClean="0">
                <a:solidFill>
                  <a:srgbClr val="292929"/>
                </a:solidFill>
                <a:latin typeface="Bookman Old Style" pitchFamily="18" charset="0"/>
              </a:rPr>
              <a:t>ст. преподаватель каф</a:t>
            </a:r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. </a:t>
            </a:r>
            <a:r>
              <a:rPr lang="ru-RU" sz="1800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sz="1800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7B00361-5492-4290-B470-295172C16526}"/>
              </a:ext>
            </a:extLst>
          </p:cNvPr>
          <p:cNvSpPr txBox="1"/>
          <p:nvPr/>
        </p:nvSpPr>
        <p:spPr>
          <a:xfrm>
            <a:off x="877031" y="3627310"/>
            <a:ext cx="11041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Принцип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IoC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(Inversion of Control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Dependency Injection (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Внедрение зависимостей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DI-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контейнер (Провайдер сервисов)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Жизненный цикл зависимостей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Lifetimes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DI в контроллерах ASP.NET 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Core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Инверсия управления (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IoC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610487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400" b="1" dirty="0"/>
              <a:t>Проблема «Жесткой связанности»</a:t>
            </a:r>
          </a:p>
          <a:p>
            <a:pPr>
              <a:lnSpc>
                <a:spcPct val="114000"/>
              </a:lnSpc>
            </a:pPr>
            <a:r>
              <a:rPr lang="ru-RU" sz="2400" dirty="0"/>
              <a:t>В классическом программировании объекты создают друг друга напрямую</a:t>
            </a:r>
            <a:r>
              <a:rPr lang="ru-RU" sz="2400" dirty="0" smtClean="0"/>
              <a:t>: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САМ создает зависимость. Они связаны "намертво".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_writer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>
              <a:lnSpc>
                <a:spcPct val="114000"/>
              </a:lnSpc>
            </a:pPr>
            <a:r>
              <a:rPr lang="ru-RU" sz="2400" b="1" dirty="0"/>
              <a:t>Проблемы такого подхода:</a:t>
            </a:r>
            <a:endParaRPr lang="ru-RU" sz="2400" dirty="0"/>
          </a:p>
          <a:p>
            <a:pPr marL="457200" indent="-457200">
              <a:lnSpc>
                <a:spcPct val="114000"/>
              </a:lnSpc>
              <a:buFont typeface="+mj-lt"/>
              <a:buAutoNum type="arabicPeriod"/>
            </a:pPr>
            <a:r>
              <a:rPr lang="ru-RU" sz="2400" b="1" dirty="0"/>
              <a:t>Негибкость:</a:t>
            </a:r>
            <a:r>
              <a:rPr lang="ru-RU" sz="2400" dirty="0"/>
              <a:t> Чтобы заменить вывод в консоль на вывод в файл, нужно переписывать класс </a:t>
            </a:r>
            <a:r>
              <a:rPr lang="ru-RU" sz="2400" dirty="0" err="1"/>
              <a:t>Logger</a:t>
            </a:r>
            <a:r>
              <a:rPr lang="ru-RU" sz="2400" dirty="0"/>
              <a:t>.</a:t>
            </a:r>
          </a:p>
          <a:p>
            <a:pPr marL="457200" indent="-457200">
              <a:lnSpc>
                <a:spcPct val="114000"/>
              </a:lnSpc>
              <a:buFont typeface="+mj-lt"/>
              <a:buAutoNum type="arabicPeriod"/>
            </a:pPr>
            <a:r>
              <a:rPr lang="ru-RU" sz="2400" b="1" dirty="0"/>
              <a:t>Сложность тестирования:</a:t>
            </a:r>
            <a:r>
              <a:rPr lang="ru-RU" sz="2400" dirty="0"/>
              <a:t> Вы не можете протестировать </a:t>
            </a:r>
            <a:r>
              <a:rPr lang="ru-RU" sz="2400" dirty="0" err="1"/>
              <a:t>Logger</a:t>
            </a:r>
            <a:r>
              <a:rPr lang="ru-RU" sz="2400" dirty="0"/>
              <a:t> отдельно от </a:t>
            </a:r>
            <a:r>
              <a:rPr lang="ru-RU" sz="2400" dirty="0" err="1"/>
              <a:t>ConsoleWriter</a:t>
            </a:r>
            <a:r>
              <a:rPr lang="ru-RU" sz="2400" dirty="0"/>
              <a:t>.</a:t>
            </a:r>
          </a:p>
          <a:p>
            <a:pPr marL="457200" indent="-457200">
              <a:lnSpc>
                <a:spcPct val="114000"/>
              </a:lnSpc>
              <a:buFont typeface="+mj-lt"/>
              <a:buAutoNum type="arabicPeriod"/>
            </a:pPr>
            <a:r>
              <a:rPr lang="ru-RU" sz="2400" b="1" dirty="0"/>
              <a:t>Дублирование:</a:t>
            </a:r>
            <a:r>
              <a:rPr lang="ru-RU" sz="2400" dirty="0"/>
              <a:t> Если </a:t>
            </a:r>
            <a:r>
              <a:rPr lang="ru-RU" sz="2400" dirty="0" err="1"/>
              <a:t>ConsoleWriter</a:t>
            </a:r>
            <a:r>
              <a:rPr lang="ru-RU" sz="2400" dirty="0"/>
              <a:t> нужен десяти классам, каждый создаст его заново через </a:t>
            </a:r>
            <a:r>
              <a:rPr lang="ru-RU" sz="2400" dirty="0" err="1"/>
              <a:t>new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5339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IoC</a:t>
            </a:r>
            <a:r>
              <a:rPr lang="ru-RU" sz="2400" dirty="0"/>
              <a:t> — это архитектурный принцип, при котором управление потоком выполнения программы передается от вашего кода внешнему механизму (</a:t>
            </a:r>
            <a:r>
              <a:rPr lang="ru-RU" sz="2400" b="1" dirty="0" err="1"/>
              <a:t>фреймворку</a:t>
            </a:r>
            <a:r>
              <a:rPr lang="ru-RU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Смена ролей: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Раньше (Библиотека):</a:t>
            </a:r>
            <a:r>
              <a:rPr lang="ru-RU" sz="2400" dirty="0"/>
              <a:t> Вы вызываете функции библиотеки, когда вам удобно. </a:t>
            </a:r>
            <a:r>
              <a:rPr lang="ru-RU" sz="2400" b="1" dirty="0"/>
              <a:t>Вы — главный.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Сейчас (Фреймворк):</a:t>
            </a:r>
            <a:r>
              <a:rPr lang="ru-RU" sz="2400" dirty="0"/>
              <a:t> Фреймворк сам решает, когда вызвать ваш код. </a:t>
            </a:r>
            <a:r>
              <a:rPr lang="ru-RU" sz="2400" b="1" dirty="0"/>
              <a:t>Фреймворк — главный</a:t>
            </a:r>
            <a:r>
              <a:rPr lang="ru-RU" sz="2400" b="1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b="1" dirty="0"/>
          </a:p>
          <a:p>
            <a:pPr>
              <a:lnSpc>
                <a:spcPct val="150000"/>
              </a:lnSpc>
            </a:pPr>
            <a:r>
              <a:rPr lang="ru-RU" sz="2400" b="1" dirty="0"/>
              <a:t>Суть:</a:t>
            </a:r>
            <a:r>
              <a:rPr lang="ru-RU" sz="2400" dirty="0"/>
              <a:t> Мы не создаем объекты сами, мы «подключаем» наш код к большой системе, которая берет на себя управление.</a:t>
            </a:r>
          </a:p>
        </p:txBody>
      </p:sp>
    </p:spTree>
    <p:extLst>
      <p:ext uri="{BB962C8B-B14F-4D97-AF65-F5344CB8AC3E}">
        <p14:creationId xmlns:p14="http://schemas.microsoft.com/office/powerpoint/2010/main" val="402621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Лучшая аналогия для понимания </a:t>
            </a:r>
            <a:r>
              <a:rPr lang="ru-RU" sz="2400" dirty="0" err="1"/>
              <a:t>IoC</a:t>
            </a:r>
            <a:r>
              <a:rPr lang="ru-RU" sz="2400" dirty="0"/>
              <a:t> — это правило кастинга в Голливуде</a:t>
            </a:r>
            <a:r>
              <a:rPr lang="ru-RU" sz="2400" dirty="0" smtClean="0"/>
              <a:t>:</a:t>
            </a:r>
          </a:p>
          <a:p>
            <a:pPr algn="ctr">
              <a:lnSpc>
                <a:spcPct val="150000"/>
              </a:lnSpc>
            </a:pPr>
            <a:r>
              <a:rPr lang="ru-RU" sz="2400" b="1" dirty="0"/>
              <a:t>«Не звоните нам, мы сами вам позвоним</a:t>
            </a:r>
            <a:r>
              <a:rPr lang="ru-RU" sz="2400" b="1" dirty="0" smtClean="0"/>
              <a:t>»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/>
              <a:t>Как </a:t>
            </a:r>
            <a:r>
              <a:rPr lang="ru-RU" sz="2400" b="1" dirty="0"/>
              <a:t>это работает в разработке:</a:t>
            </a:r>
            <a:endParaRPr lang="ru-RU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Вы (программист) описываете интерфейсы и правила (актеры оставляют анкеты).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Вы регистрируете свой код в системе.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Система (</a:t>
            </a:r>
            <a:r>
              <a:rPr lang="ru-RU" sz="2400" dirty="0" err="1"/>
              <a:t>фреймворк</a:t>
            </a:r>
            <a:r>
              <a:rPr lang="ru-RU" sz="2400" dirty="0"/>
              <a:t>) сама вызывает нужный метод в нужный момент (продюсер вызывает актера на сцену, когда он нужен по сценарию).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Вы теряете контроль над </a:t>
            </a:r>
            <a:r>
              <a:rPr lang="ru-RU" sz="2400" i="1" dirty="0"/>
              <a:t>временем</a:t>
            </a:r>
            <a:r>
              <a:rPr lang="ru-RU" sz="2400" dirty="0"/>
              <a:t> и </a:t>
            </a:r>
            <a:r>
              <a:rPr lang="ru-RU" sz="2400" i="1" dirty="0"/>
              <a:t>порядком</a:t>
            </a:r>
            <a:r>
              <a:rPr lang="ru-RU" sz="2400" dirty="0"/>
              <a:t> вызова вашего кода, но взамен получаете огромную гибкость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8078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Преимущества перехода на </a:t>
            </a:r>
            <a:r>
              <a:rPr lang="ru-RU" sz="2400" b="1" dirty="0" err="1"/>
              <a:t>IoC</a:t>
            </a:r>
            <a:endParaRPr lang="ru-RU" sz="24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Слабая связанность (</a:t>
            </a:r>
            <a:r>
              <a:rPr lang="ru-RU" sz="2400" b="1" dirty="0" err="1"/>
              <a:t>Loose</a:t>
            </a:r>
            <a:r>
              <a:rPr lang="ru-RU" sz="2400" b="1" dirty="0"/>
              <a:t> </a:t>
            </a:r>
            <a:r>
              <a:rPr lang="ru-RU" sz="2400" b="1" dirty="0" err="1"/>
              <a:t>Coupling</a:t>
            </a:r>
            <a:r>
              <a:rPr lang="ru-RU" sz="2400" b="1" dirty="0"/>
              <a:t>):</a:t>
            </a:r>
            <a:r>
              <a:rPr lang="ru-RU" sz="2400" dirty="0"/>
              <a:t> Компоненты ничего не знают о деталях реализации друг друга. Они общаются через «контракты» (интерфейсы).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Легкое расширение:</a:t>
            </a:r>
            <a:r>
              <a:rPr lang="ru-RU" sz="2400" dirty="0"/>
              <a:t> Вы можете добавить новую функциональность, не меняя существующий код (принцип </a:t>
            </a:r>
            <a:r>
              <a:rPr lang="ru-RU" sz="2400" dirty="0" err="1"/>
              <a:t>Open</a:t>
            </a:r>
            <a:r>
              <a:rPr lang="ru-RU" sz="2400" dirty="0"/>
              <a:t>/</a:t>
            </a:r>
            <a:r>
              <a:rPr lang="ru-RU" sz="2400" dirty="0" err="1"/>
              <a:t>Closed</a:t>
            </a:r>
            <a:r>
              <a:rPr lang="ru-RU" sz="2400" dirty="0"/>
              <a:t>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Масштабируемость:</a:t>
            </a:r>
            <a:r>
              <a:rPr lang="ru-RU" sz="2400" dirty="0"/>
              <a:t> Систему из независимых «кубиков» гораздо проще развивать и поддерживать.</a:t>
            </a:r>
          </a:p>
        </p:txBody>
      </p:sp>
    </p:spTree>
    <p:extLst>
      <p:ext uri="{BB962C8B-B14F-4D97-AF65-F5344CB8AC3E}">
        <p14:creationId xmlns:p14="http://schemas.microsoft.com/office/powerpoint/2010/main" val="251409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Dependency Injection (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Внедрение зависимостей)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556902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/>
              <a:t>Dependency Injection (внедрение зависимостей)</a:t>
            </a:r>
            <a:r>
              <a:rPr lang="ru-RU" sz="2400"/>
              <a:t> — это паттерн, который позволяет реализовывать принцип IoC.</a:t>
            </a:r>
          </a:p>
          <a:p>
            <a:pPr>
              <a:lnSpc>
                <a:spcPct val="150000"/>
              </a:lnSpc>
            </a:pPr>
            <a:r>
              <a:rPr lang="ru-RU" sz="2400" b="1"/>
              <a:t>Зависимость</a:t>
            </a:r>
            <a:r>
              <a:rPr lang="ru-RU" sz="2400"/>
              <a:t> — это объект, который нужен другому объекту для выполнения его работы.</a:t>
            </a:r>
          </a:p>
          <a:p>
            <a:pPr lvl="1">
              <a:lnSpc>
                <a:spcPct val="150000"/>
              </a:lnSpc>
            </a:pPr>
            <a:r>
              <a:rPr lang="ru-RU" sz="2400" i="1"/>
              <a:t>Например: классу Logger нужен сервис ConsoleWriter, чтобы выводить текст.</a:t>
            </a:r>
            <a:endParaRPr lang="ru-RU" sz="2400"/>
          </a:p>
          <a:p>
            <a:pPr>
              <a:lnSpc>
                <a:spcPct val="150000"/>
              </a:lnSpc>
            </a:pPr>
            <a:r>
              <a:rPr lang="ru-RU" sz="2400" b="1"/>
              <a:t>Внедрение</a:t>
            </a:r>
            <a:r>
              <a:rPr lang="ru-RU" sz="2400"/>
              <a:t> — это процесс передачи зависимости в объект извне, вместо того чтобы объект создавал её сам.</a:t>
            </a:r>
          </a:p>
          <a:p>
            <a:pPr>
              <a:lnSpc>
                <a:spcPct val="150000"/>
              </a:lnSpc>
            </a:pPr>
            <a:r>
              <a:rPr lang="ru-RU" sz="2400" b="1"/>
              <a:t>Главное правило DI:</a:t>
            </a:r>
            <a:r>
              <a:rPr lang="ru-RU" sz="2400"/>
              <a:t> Классы должны запрашивать свои зависимости через </a:t>
            </a:r>
            <a:r>
              <a:rPr lang="ru-RU" sz="2400" b="1"/>
              <a:t>интерфейсы</a:t>
            </a:r>
            <a:r>
              <a:rPr lang="ru-RU" sz="2400"/>
              <a:t> в конструкторе.</a:t>
            </a:r>
          </a:p>
        </p:txBody>
      </p:sp>
    </p:spTree>
    <p:extLst>
      <p:ext uri="{BB962C8B-B14F-4D97-AF65-F5344CB8AC3E}">
        <p14:creationId xmlns:p14="http://schemas.microsoft.com/office/powerpoint/2010/main" val="34023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44791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Проблема: Жесткая связь (</a:t>
            </a:r>
            <a:r>
              <a:rPr lang="ru-RU" sz="2400" b="1" dirty="0" err="1"/>
              <a:t>Coupling</a:t>
            </a:r>
            <a:r>
              <a:rPr lang="ru-RU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Если мы создаем объект внутри класса через </a:t>
            </a:r>
            <a:r>
              <a:rPr lang="ru-RU" sz="2400" dirty="0" err="1"/>
              <a:t>new</a:t>
            </a:r>
            <a:r>
              <a:rPr lang="ru-RU" sz="2400" dirty="0"/>
              <a:t>, мы становимся его заложниками</a:t>
            </a:r>
            <a:r>
              <a:rPr lang="ru-RU" sz="2400" dirty="0" smtClean="0"/>
              <a:t>.</a:t>
            </a:r>
            <a:endParaRPr lang="ru-RU" sz="2400" dirty="0" smtClean="0"/>
          </a:p>
          <a:p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endParaRPr lang="en-US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ru-RU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ru-RU" sz="23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ЖЕСТКАЯ СВЯЗЬ: </a:t>
            </a:r>
            <a:r>
              <a:rPr lang="ru-RU" sz="23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теперь навсегда привязан к консоли.</a:t>
            </a:r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SimpleLogService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logService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SimpleLogService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msg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logService.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3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msg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Почему это плохо?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dirty="0"/>
              <a:t>Если мы захотим </a:t>
            </a:r>
            <a:r>
              <a:rPr lang="ru-RU" sz="2400" dirty="0" err="1"/>
              <a:t>логировать</a:t>
            </a:r>
            <a:r>
              <a:rPr lang="ru-RU" sz="2400" dirty="0"/>
              <a:t> в файл, нам придется лезть в код класса </a:t>
            </a:r>
            <a:r>
              <a:rPr lang="ru-RU" sz="2400" dirty="0" err="1"/>
              <a:t>Logger</a:t>
            </a:r>
            <a:r>
              <a:rPr lang="ru-RU" sz="2400" dirty="0"/>
              <a:t> и менять его.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Мы не можем подсунуть «</a:t>
            </a:r>
            <a:r>
              <a:rPr lang="ru-RU" sz="2400" dirty="0" err="1"/>
              <a:t>фейковый</a:t>
            </a:r>
            <a:r>
              <a:rPr lang="ru-RU" sz="2400" dirty="0"/>
              <a:t>» логгер для тестов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918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69414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200" b="1" dirty="0"/>
              <a:t>Решение: Внедрение через конструктор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Мы создаем «контракт» (интерфейс) и просим систему выдать нам любого, кто умеет его выполнять</a:t>
            </a:r>
            <a:r>
              <a:rPr lang="ru-RU" sz="2200" dirty="0" smtClean="0"/>
              <a:t>.</a:t>
            </a:r>
          </a:p>
          <a:p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Создаем интерфейс (контракт)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ILogService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</a:t>
            </a:r>
            <a:r>
              <a:rPr lang="ru-RU" sz="2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больше не создает объекты! Он просто просит сервис.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ILogService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logService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ВНЕДРЕНИЕ: сервис приходит снаружи через конструктор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ILogService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logService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_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logService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logService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logService.</a:t>
            </a:r>
            <a:r>
              <a:rPr lang="en-US" sz="2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50424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/>
              <a:t>Теперь </a:t>
            </a:r>
            <a:r>
              <a:rPr lang="ru-RU" sz="2400" dirty="0"/>
              <a:t>мы можем менять поведение всей программы, не меняя ни строчки в классе </a:t>
            </a:r>
            <a:r>
              <a:rPr lang="ru-RU" sz="2400" dirty="0" err="1"/>
              <a:t>Logger</a:t>
            </a:r>
            <a:r>
              <a:rPr lang="ru-RU" sz="2400" dirty="0" smtClean="0"/>
              <a:t>.</a:t>
            </a: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Реализация 1: Обычный текст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SimpleLogService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ILogService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...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Реализация 2: Зеленый текст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GreenLogService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ILogService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...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ИСПОЛЬЗОВАНИЕ: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SimpleLogService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Будет писать обычно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logger2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GreenLogService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Будет писать зеленым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logger2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0" y="5096142"/>
            <a:ext cx="5811927" cy="144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9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Итоги: В чем профит?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Взаимозаменяемость:</a:t>
            </a:r>
            <a:r>
              <a:rPr lang="ru-RU" sz="2400" dirty="0"/>
              <a:t> Можно легко подменить реализацию (например, заменить SQL-базу на </a:t>
            </a:r>
            <a:r>
              <a:rPr lang="ru-RU" sz="2400" dirty="0" err="1"/>
              <a:t>MongoDB</a:t>
            </a:r>
            <a:r>
              <a:rPr lang="ru-RU" sz="2400" dirty="0"/>
              <a:t>), изменив код только в одном месте при запуске программы.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Тестируемость:</a:t>
            </a:r>
            <a:r>
              <a:rPr lang="ru-RU" sz="2400" dirty="0"/>
              <a:t> В юнит-тестах можно передавать «заглушки» (</a:t>
            </a:r>
            <a:r>
              <a:rPr lang="ru-RU" sz="2400" dirty="0" err="1"/>
              <a:t>Mock</a:t>
            </a:r>
            <a:r>
              <a:rPr lang="ru-RU" sz="2400" dirty="0"/>
              <a:t>-объекты) вместо реальных сервисов.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Чистый код:</a:t>
            </a:r>
            <a:r>
              <a:rPr lang="ru-RU" sz="2400" dirty="0"/>
              <a:t> Классы отвечают только за свою логику и не заботятся о том, как создавать и настраивать своих «помощников».</a:t>
            </a:r>
          </a:p>
        </p:txBody>
      </p:sp>
    </p:spTree>
    <p:extLst>
      <p:ext uri="{BB962C8B-B14F-4D97-AF65-F5344CB8AC3E}">
        <p14:creationId xmlns:p14="http://schemas.microsoft.com/office/powerpoint/2010/main" val="422790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DI-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контейнер (Провайдер сервисов)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580973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dirty="0"/>
              <a:t>Чтобы система могла автоматически подставлять зависимости в конструкторы, ей нужно место, где хранятся правила их создания. Это место называется </a:t>
            </a:r>
            <a:r>
              <a:rPr lang="ru-RU" sz="2400" b="1" dirty="0"/>
              <a:t>DI-контейнером</a:t>
            </a:r>
            <a:r>
              <a:rPr lang="ru-RU" sz="2400" dirty="0"/>
              <a:t> (или </a:t>
            </a:r>
            <a:r>
              <a:rPr lang="ru-RU" sz="2400" dirty="0" err="1"/>
              <a:t>IoC</a:t>
            </a:r>
            <a:r>
              <a:rPr lang="ru-RU" sz="2400" dirty="0"/>
              <a:t>-контейнером).</a:t>
            </a:r>
          </a:p>
          <a:p>
            <a:pPr>
              <a:lnSpc>
                <a:spcPct val="130000"/>
              </a:lnSpc>
            </a:pPr>
            <a:r>
              <a:rPr lang="ru-RU" sz="2400" dirty="0"/>
              <a:t>В .NET это работает в два этапа: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Регистрация (</a:t>
            </a:r>
            <a:r>
              <a:rPr lang="ru-RU" sz="2400" b="1" dirty="0" err="1"/>
              <a:t>IServiceCollection</a:t>
            </a:r>
            <a:r>
              <a:rPr lang="ru-RU" sz="2400" b="1" dirty="0"/>
              <a:t>):</a:t>
            </a:r>
            <a:r>
              <a:rPr lang="ru-RU" sz="2400" dirty="0"/>
              <a:t> Мы составляем «меню» или список рецептов. Говорим системе: </a:t>
            </a:r>
            <a:r>
              <a:rPr lang="ru-RU" sz="2400" i="1" dirty="0"/>
              <a:t>«Если кто-то попросит этот интерфейс — создай для него вот этот класс»</a:t>
            </a:r>
            <a:r>
              <a:rPr lang="ru-RU" sz="2400" dirty="0"/>
              <a:t>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Получение (</a:t>
            </a:r>
            <a:r>
              <a:rPr lang="ru-RU" sz="2400" b="1" dirty="0" err="1"/>
              <a:t>IServiceProvider</a:t>
            </a:r>
            <a:r>
              <a:rPr lang="ru-RU" sz="2400" b="1" dirty="0"/>
              <a:t>):</a:t>
            </a:r>
            <a:r>
              <a:rPr lang="ru-RU" sz="2400" dirty="0"/>
              <a:t> Когда приложению нужен объект, оно обращается к «провайдеру», и тот сам создает всю цепочку объектов</a:t>
            </a:r>
            <a:r>
              <a:rPr lang="ru-RU" sz="2400" dirty="0" smtClean="0"/>
              <a:t>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Главный плюс:</a:t>
            </a:r>
            <a:r>
              <a:rPr lang="ru-RU" sz="2400" dirty="0"/>
              <a:t> Вам больше не нужно писать </a:t>
            </a:r>
            <a:r>
              <a:rPr lang="ru-RU" sz="2400" dirty="0" err="1"/>
              <a:t>new</a:t>
            </a:r>
            <a:r>
              <a:rPr lang="ru-RU" sz="2400" dirty="0"/>
              <a:t> вручную для сложных систем. Контейнер сам проанализирует конструкторы и соберет «</a:t>
            </a:r>
            <a:r>
              <a:rPr lang="ru-RU" sz="2400" dirty="0" err="1"/>
              <a:t>пазл</a:t>
            </a:r>
            <a:r>
              <a:rPr lang="ru-RU" sz="2400" dirty="0"/>
              <a:t>» из зависимостей за вас.</a:t>
            </a:r>
          </a:p>
        </p:txBody>
      </p:sp>
    </p:spTree>
    <p:extLst>
      <p:ext uri="{BB962C8B-B14F-4D97-AF65-F5344CB8AC3E}">
        <p14:creationId xmlns:p14="http://schemas.microsoft.com/office/powerpoint/2010/main" val="218426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В современных ASP.NET </a:t>
            </a:r>
            <a:r>
              <a:rPr lang="ru-RU" sz="2400" dirty="0" err="1"/>
              <a:t>Core</a:t>
            </a:r>
            <a:r>
              <a:rPr lang="ru-RU" sz="2400" dirty="0"/>
              <a:t> приложениях регистрация происходит в файле </a:t>
            </a:r>
            <a:r>
              <a:rPr lang="ru-RU" sz="2400" b="1" dirty="0" err="1"/>
              <a:t>Program.cs</a:t>
            </a:r>
            <a:r>
              <a:rPr lang="ru-RU" sz="2400" dirty="0"/>
              <a:t> через свойство </a:t>
            </a:r>
            <a:r>
              <a:rPr lang="ru-RU" sz="2400" dirty="0" err="1"/>
              <a:t>builder.Services</a:t>
            </a:r>
            <a:r>
              <a:rPr lang="ru-RU" sz="2400" dirty="0" smtClean="0"/>
              <a:t>.</a:t>
            </a:r>
            <a:endParaRPr lang="en-US" sz="2400" dirty="0"/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РЕГИСТРАЦИЯ: связываем интерфейс и конкретную реализацию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.Services.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AddTransient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SimpleLogService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ru-RU" sz="2400" b="1" dirty="0" smtClean="0"/>
              <a:t>Разбор </a:t>
            </a:r>
            <a:r>
              <a:rPr lang="ru-RU" sz="2400" b="1" dirty="0"/>
              <a:t>синтаксиса: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/>
              <a:t>ILogService</a:t>
            </a:r>
            <a:r>
              <a:rPr lang="ru-RU" sz="2400" dirty="0"/>
              <a:t>: Что будут просить (абстракция).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/>
              <a:t>SimpleLogService</a:t>
            </a:r>
            <a:r>
              <a:rPr lang="ru-RU" sz="2400" dirty="0"/>
              <a:t>: Что система даст на самом деле (реализация).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/>
              <a:t>AddTransient</a:t>
            </a:r>
            <a:r>
              <a:rPr lang="ru-RU" sz="2400" dirty="0"/>
              <a:t>: Метод, определяющий, как часто нужно создавать новый объект (разберем далее</a:t>
            </a:r>
            <a:r>
              <a:rPr lang="ru-RU" sz="2400" dirty="0" smtClean="0"/>
              <a:t>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0366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52531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5000"/>
              </a:lnSpc>
            </a:pPr>
            <a:r>
              <a:rPr lang="ru-RU" sz="2400" dirty="0"/>
              <a:t>Представьте сложную структуру: </a:t>
            </a:r>
            <a:r>
              <a:rPr lang="ru-RU" sz="2400" dirty="0" err="1"/>
              <a:t>Controller</a:t>
            </a:r>
            <a:r>
              <a:rPr lang="ru-RU" sz="2400" dirty="0"/>
              <a:t> зависит от </a:t>
            </a:r>
            <a:r>
              <a:rPr lang="ru-RU" sz="2400" dirty="0" err="1"/>
              <a:t>Service</a:t>
            </a:r>
            <a:r>
              <a:rPr lang="ru-RU" sz="2400" dirty="0"/>
              <a:t>, а </a:t>
            </a:r>
            <a:r>
              <a:rPr lang="ru-RU" sz="2400" dirty="0" err="1"/>
              <a:t>Service</a:t>
            </a:r>
            <a:r>
              <a:rPr lang="ru-RU" sz="2400" dirty="0"/>
              <a:t> зависит от </a:t>
            </a:r>
            <a:r>
              <a:rPr lang="ru-RU" sz="2400" dirty="0" err="1"/>
              <a:t>Repository</a:t>
            </a:r>
            <a:r>
              <a:rPr lang="ru-RU" sz="2400" dirty="0"/>
              <a:t>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Без DI: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err="1"/>
              <a:t>var</a:t>
            </a:r>
            <a:r>
              <a:rPr lang="ru-RU" sz="2400" dirty="0"/>
              <a:t> </a:t>
            </a:r>
            <a:r>
              <a:rPr lang="ru-RU" sz="2400" dirty="0" err="1"/>
              <a:t>repo</a:t>
            </a:r>
            <a:r>
              <a:rPr lang="ru-RU" sz="2400" dirty="0"/>
              <a:t> = </a:t>
            </a:r>
            <a:r>
              <a:rPr lang="ru-RU" sz="2400" dirty="0" err="1"/>
              <a:t>new</a:t>
            </a:r>
            <a:r>
              <a:rPr lang="ru-RU" sz="2400" dirty="0"/>
              <a:t> </a:t>
            </a:r>
            <a:r>
              <a:rPr lang="ru-RU" sz="2400" dirty="0" err="1"/>
              <a:t>Repo</a:t>
            </a:r>
            <a:r>
              <a:rPr lang="ru-RU" sz="2400" dirty="0" smtClean="0"/>
              <a:t>();</a:t>
            </a:r>
            <a:endParaRPr lang="en-US" sz="2400" dirty="0" smtClean="0"/>
          </a:p>
          <a:p>
            <a:pPr>
              <a:lnSpc>
                <a:spcPct val="135000"/>
              </a:lnSpc>
            </a:pPr>
            <a:r>
              <a:rPr lang="ru-RU" sz="2400" dirty="0" err="1" smtClean="0"/>
              <a:t>var</a:t>
            </a:r>
            <a:r>
              <a:rPr lang="ru-RU" sz="2400" dirty="0" smtClean="0"/>
              <a:t> </a:t>
            </a:r>
            <a:r>
              <a:rPr lang="ru-RU" sz="2400" dirty="0" err="1"/>
              <a:t>serv</a:t>
            </a:r>
            <a:r>
              <a:rPr lang="ru-RU" sz="2400" dirty="0"/>
              <a:t> = </a:t>
            </a:r>
            <a:r>
              <a:rPr lang="ru-RU" sz="2400" dirty="0" err="1"/>
              <a:t>new</a:t>
            </a:r>
            <a:r>
              <a:rPr lang="ru-RU" sz="2400" dirty="0"/>
              <a:t> </a:t>
            </a:r>
            <a:r>
              <a:rPr lang="ru-RU" sz="2400" dirty="0" err="1"/>
              <a:t>Service</a:t>
            </a:r>
            <a:r>
              <a:rPr lang="ru-RU" sz="2400" dirty="0"/>
              <a:t>(</a:t>
            </a:r>
            <a:r>
              <a:rPr lang="ru-RU" sz="2400" dirty="0" err="1"/>
              <a:t>repo</a:t>
            </a:r>
            <a:r>
              <a:rPr lang="ru-RU" sz="2400" dirty="0" smtClean="0"/>
              <a:t>);</a:t>
            </a:r>
            <a:endParaRPr lang="en-US" sz="2400" dirty="0" smtClean="0"/>
          </a:p>
          <a:p>
            <a:pPr>
              <a:lnSpc>
                <a:spcPct val="135000"/>
              </a:lnSpc>
            </a:pPr>
            <a:r>
              <a:rPr lang="ru-RU" sz="2400" dirty="0" err="1" smtClean="0"/>
              <a:t>var</a:t>
            </a:r>
            <a:r>
              <a:rPr lang="ru-RU" sz="2400" dirty="0" smtClean="0"/>
              <a:t> </a:t>
            </a:r>
            <a:r>
              <a:rPr lang="ru-RU" sz="2400" dirty="0" err="1"/>
              <a:t>ctrl</a:t>
            </a:r>
            <a:r>
              <a:rPr lang="ru-RU" sz="2400" dirty="0"/>
              <a:t> = </a:t>
            </a:r>
            <a:r>
              <a:rPr lang="ru-RU" sz="2400" dirty="0" err="1"/>
              <a:t>new</a:t>
            </a:r>
            <a:r>
              <a:rPr lang="ru-RU" sz="2400" dirty="0"/>
              <a:t> </a:t>
            </a:r>
            <a:r>
              <a:rPr lang="ru-RU" sz="2400" dirty="0" err="1"/>
              <a:t>Controller</a:t>
            </a:r>
            <a:r>
              <a:rPr lang="ru-RU" sz="2400" dirty="0"/>
              <a:t>(</a:t>
            </a:r>
            <a:r>
              <a:rPr lang="ru-RU" sz="2400" dirty="0" err="1"/>
              <a:t>serv</a:t>
            </a:r>
            <a:r>
              <a:rPr lang="ru-RU" sz="2400" dirty="0"/>
              <a:t>); — </a:t>
            </a:r>
            <a:r>
              <a:rPr lang="ru-RU" sz="2400" i="1" dirty="0"/>
              <a:t>громоздко и трудно менять.</a:t>
            </a:r>
            <a:endParaRPr lang="ru-RU" sz="2400" dirty="0"/>
          </a:p>
          <a:p>
            <a:pPr>
              <a:lnSpc>
                <a:spcPct val="135000"/>
              </a:lnSpc>
            </a:pPr>
            <a:r>
              <a:rPr lang="ru-RU" sz="2400" b="1" dirty="0"/>
              <a:t>С DI-контейнером: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Вы один раз регистрируете все три класса. Когда приходит запрос, контейнер видит, что контроллеру нужен сервис, лезет в свой «каталог», видит, что сервису нужен </a:t>
            </a:r>
            <a:r>
              <a:rPr lang="ru-RU" sz="2400" dirty="0" err="1"/>
              <a:t>репозиторий</a:t>
            </a:r>
            <a:r>
              <a:rPr lang="ru-RU" sz="2400" dirty="0"/>
              <a:t>, создает </a:t>
            </a:r>
            <a:r>
              <a:rPr lang="ru-RU" sz="2400" dirty="0" err="1"/>
              <a:t>репозиторий</a:t>
            </a:r>
            <a:r>
              <a:rPr lang="ru-RU" sz="2400" dirty="0"/>
              <a:t>, вставляет его в сервис, а сервис — в контроллер.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Результат:</a:t>
            </a:r>
            <a:r>
              <a:rPr lang="ru-RU" sz="2400" dirty="0"/>
              <a:t> Вы просто пишете конструктор, а объект появляется там «сам собой».</a:t>
            </a:r>
          </a:p>
        </p:txBody>
      </p:sp>
    </p:spTree>
    <p:extLst>
      <p:ext uri="{BB962C8B-B14F-4D97-AF65-F5344CB8AC3E}">
        <p14:creationId xmlns:p14="http://schemas.microsoft.com/office/powerpoint/2010/main" val="108827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Жизненный цикл зависимостей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Когда мы регистрируем сервис в DI-контейнере, мы должны указать, как долго этот объект будет «жить» в памяти и когда его нужно создать заново.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В .NET существует три основных типа жизненного цикла: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 err="1"/>
              <a:t>Transient</a:t>
            </a:r>
            <a:r>
              <a:rPr lang="ru-RU" sz="2400" b="1" dirty="0"/>
              <a:t> (Временный):</a:t>
            </a:r>
            <a:r>
              <a:rPr lang="ru-RU" sz="2400" dirty="0"/>
              <a:t> Создается новый экземпляр при каждом запросе сервиса.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 err="1"/>
              <a:t>Scoped</a:t>
            </a:r>
            <a:r>
              <a:rPr lang="ru-RU" sz="2400" b="1" dirty="0"/>
              <a:t> (В рамках области):</a:t>
            </a:r>
            <a:r>
              <a:rPr lang="ru-RU" sz="2400" dirty="0"/>
              <a:t> Создается один экземпляр на каждый HTTP-запрос (область видимости).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 err="1"/>
              <a:t>Singleton</a:t>
            </a:r>
            <a:r>
              <a:rPr lang="ru-RU" sz="2400" b="1" dirty="0"/>
              <a:t> (Одиночка):</a:t>
            </a:r>
            <a:r>
              <a:rPr lang="ru-RU" sz="2400" dirty="0"/>
              <a:t> Один единственный экземпляр на всё время жизни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07119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Transient</a:t>
            </a:r>
            <a:r>
              <a:rPr lang="ru-RU" sz="2400" b="1" dirty="0"/>
              <a:t> — Каждый раз новый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Регистрация:</a:t>
            </a:r>
            <a:r>
              <a:rPr lang="ru-RU" sz="2400" dirty="0"/>
              <a:t> </a:t>
            </a:r>
            <a:r>
              <a:rPr lang="ru-RU" sz="2400" dirty="0" err="1"/>
              <a:t>builder.Services.AddTransient</a:t>
            </a:r>
            <a:r>
              <a:rPr lang="ru-RU" sz="2400" dirty="0"/>
              <a:t>&lt;</a:t>
            </a:r>
            <a:r>
              <a:rPr lang="ru-RU" sz="2400" dirty="0" err="1"/>
              <a:t>ICounter</a:t>
            </a:r>
            <a:r>
              <a:rPr lang="ru-RU" sz="2400" dirty="0"/>
              <a:t>, </a:t>
            </a:r>
            <a:r>
              <a:rPr lang="ru-RU" sz="2400" dirty="0" err="1"/>
              <a:t>RandomCounter</a:t>
            </a:r>
            <a:r>
              <a:rPr lang="ru-RU" sz="2400" dirty="0"/>
              <a:t>&gt;();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Как это работает:</a:t>
            </a:r>
            <a:r>
              <a:rPr lang="ru-RU" sz="2400" dirty="0"/>
              <a:t> Каждый раз, когда системе требуется </a:t>
            </a:r>
            <a:r>
              <a:rPr lang="ru-RU" sz="2400" dirty="0" err="1"/>
              <a:t>ICounter</a:t>
            </a:r>
            <a:r>
              <a:rPr lang="ru-RU" sz="2400" dirty="0"/>
              <a:t> (в конструкторе или через код), контейнер вызывает </a:t>
            </a:r>
            <a:r>
              <a:rPr lang="ru-RU" sz="2400" dirty="0" err="1"/>
              <a:t>new</a:t>
            </a:r>
            <a:r>
              <a:rPr lang="ru-RU" sz="2400" dirty="0"/>
              <a:t> </a:t>
            </a:r>
            <a:r>
              <a:rPr lang="ru-RU" sz="2400" dirty="0" err="1"/>
              <a:t>RandomCounter</a:t>
            </a:r>
            <a:r>
              <a:rPr lang="ru-RU" sz="2400" dirty="0"/>
              <a:t>().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Результат:</a:t>
            </a:r>
            <a:r>
              <a:rPr lang="ru-RU" sz="2400" dirty="0"/>
              <a:t> Если внутри одного метода вы попросите сервис дважды — вы получите </a:t>
            </a:r>
            <a:r>
              <a:rPr lang="ru-RU" sz="2400" b="1" dirty="0"/>
              <a:t>два разных объекта</a:t>
            </a:r>
            <a:r>
              <a:rPr lang="ru-RU" sz="2400" dirty="0"/>
              <a:t> с разными данными.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Применяется для:</a:t>
            </a:r>
            <a:r>
              <a:rPr lang="ru-RU" sz="2400" dirty="0"/>
              <a:t> Легковесных сервисов без состояния (например, калькуляторы, конвертеры).</a:t>
            </a:r>
          </a:p>
        </p:txBody>
      </p:sp>
    </p:spTree>
    <p:extLst>
      <p:ext uri="{BB962C8B-B14F-4D97-AF65-F5344CB8AC3E}">
        <p14:creationId xmlns:p14="http://schemas.microsoft.com/office/powerpoint/2010/main" val="288443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Scoped</a:t>
            </a:r>
            <a:r>
              <a:rPr lang="ru-RU" sz="2400" b="1" dirty="0"/>
              <a:t> — Один на запрос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Регистрация:</a:t>
            </a:r>
            <a:r>
              <a:rPr lang="ru-RU" sz="2400" dirty="0"/>
              <a:t> </a:t>
            </a:r>
            <a:r>
              <a:rPr lang="ru-RU" sz="2400" dirty="0" err="1"/>
              <a:t>builder.Services.AddScoped</a:t>
            </a:r>
            <a:r>
              <a:rPr lang="ru-RU" sz="2400" dirty="0"/>
              <a:t>&lt;</a:t>
            </a:r>
            <a:r>
              <a:rPr lang="ru-RU" sz="2400" dirty="0" err="1"/>
              <a:t>ICounter</a:t>
            </a:r>
            <a:r>
              <a:rPr lang="ru-RU" sz="2400" dirty="0"/>
              <a:t>, </a:t>
            </a:r>
            <a:r>
              <a:rPr lang="ru-RU" sz="2400" dirty="0" err="1"/>
              <a:t>RandomCounter</a:t>
            </a:r>
            <a:r>
              <a:rPr lang="ru-RU" sz="2400" dirty="0"/>
              <a:t>&gt;();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Как это работает:</a:t>
            </a:r>
            <a:r>
              <a:rPr lang="ru-RU" sz="2400" dirty="0"/>
              <a:t> Объект создается один раз в рамках одного HTTP-запроса. Все компоненты, участвующие в обработке этого запроса, получат </a:t>
            </a:r>
            <a:r>
              <a:rPr lang="ru-RU" sz="2400" b="1" dirty="0"/>
              <a:t>один и тот же экземпляр</a:t>
            </a:r>
            <a:r>
              <a:rPr lang="ru-RU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Результат:</a:t>
            </a:r>
            <a:r>
              <a:rPr lang="ru-RU" sz="2400" dirty="0"/>
              <a:t> Внутри одного запроса данные общие, но для другого пользователя (в другом запросе) создастся свой, новый объект.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Идеально для:</a:t>
            </a:r>
            <a:r>
              <a:rPr lang="ru-RU" sz="2400" dirty="0"/>
              <a:t> </a:t>
            </a:r>
            <a:r>
              <a:rPr lang="ru-RU" sz="2400" b="1" dirty="0" err="1"/>
              <a:t>DbContext</a:t>
            </a:r>
            <a:r>
              <a:rPr lang="ru-RU" sz="2400" b="1" dirty="0"/>
              <a:t> (базы данных)</a:t>
            </a:r>
            <a:r>
              <a:rPr lang="ru-RU" sz="2400" dirty="0"/>
              <a:t>, корзины покупок, данных о текущем пользователе.</a:t>
            </a:r>
          </a:p>
        </p:txBody>
      </p:sp>
    </p:spTree>
    <p:extLst>
      <p:ext uri="{BB962C8B-B14F-4D97-AF65-F5344CB8AC3E}">
        <p14:creationId xmlns:p14="http://schemas.microsoft.com/office/powerpoint/2010/main" val="171336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Singleton</a:t>
            </a:r>
            <a:r>
              <a:rPr lang="ru-RU" sz="2400" b="1" dirty="0"/>
              <a:t> — Один на всех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Регистрация:</a:t>
            </a:r>
            <a:r>
              <a:rPr lang="ru-RU" sz="2400" dirty="0"/>
              <a:t> </a:t>
            </a:r>
            <a:r>
              <a:rPr lang="ru-RU" sz="2400" dirty="0" err="1"/>
              <a:t>builder.Services.AddSingleton</a:t>
            </a:r>
            <a:r>
              <a:rPr lang="ru-RU" sz="2400" dirty="0"/>
              <a:t>&lt;</a:t>
            </a:r>
            <a:r>
              <a:rPr lang="ru-RU" sz="2400" dirty="0" err="1"/>
              <a:t>ICounter</a:t>
            </a:r>
            <a:r>
              <a:rPr lang="ru-RU" sz="2400" dirty="0"/>
              <a:t>, </a:t>
            </a:r>
            <a:r>
              <a:rPr lang="ru-RU" sz="2400" dirty="0" err="1"/>
              <a:t>RandomCounter</a:t>
            </a:r>
            <a:r>
              <a:rPr lang="ru-RU" sz="2400" dirty="0"/>
              <a:t>&gt;();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Как это работает:</a:t>
            </a:r>
            <a:r>
              <a:rPr lang="ru-RU" sz="2400" dirty="0"/>
              <a:t> Объект создается один раз при первом обращении и живет до тех пор, пока сервер не будет выключен.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Результат:</a:t>
            </a:r>
            <a:r>
              <a:rPr lang="ru-RU" sz="2400" dirty="0"/>
              <a:t> Все пользователи и все запросы используют </a:t>
            </a:r>
            <a:r>
              <a:rPr lang="ru-RU" sz="2400" b="1" dirty="0"/>
              <a:t>один и тот же экземпляр</a:t>
            </a:r>
            <a:r>
              <a:rPr lang="ru-RU" sz="2400" dirty="0"/>
              <a:t> объекта.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Используется для:</a:t>
            </a:r>
            <a:r>
              <a:rPr lang="ru-RU" sz="2400" dirty="0"/>
              <a:t> Кэширования, настроек приложения, общих счетчиков.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Осторожно:</a:t>
            </a:r>
            <a:r>
              <a:rPr lang="ru-RU" sz="2400" dirty="0"/>
              <a:t> Нужно следить за </a:t>
            </a:r>
            <a:r>
              <a:rPr lang="ru-RU" sz="2400" dirty="0" err="1"/>
              <a:t>многопоточностью</a:t>
            </a:r>
            <a:r>
              <a:rPr lang="ru-RU" sz="2400" dirty="0"/>
              <a:t>, так как разные пользователи могут менять данные одновременно.</a:t>
            </a:r>
          </a:p>
        </p:txBody>
      </p:sp>
    </p:spTree>
    <p:extLst>
      <p:ext uri="{BB962C8B-B14F-4D97-AF65-F5344CB8AC3E}">
        <p14:creationId xmlns:p14="http://schemas.microsoft.com/office/powerpoint/2010/main" val="215355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Наглядный эксперимент: </a:t>
            </a:r>
            <a:r>
              <a:rPr lang="ru-RU" sz="2400" b="1" dirty="0" err="1"/>
              <a:t>ICounter</a:t>
            </a:r>
            <a:endParaRPr lang="ru-RU" sz="2400" b="1" dirty="0"/>
          </a:p>
          <a:p>
            <a:pPr>
              <a:lnSpc>
                <a:spcPct val="150000"/>
              </a:lnSpc>
            </a:pPr>
            <a:r>
              <a:rPr lang="ru-RU" sz="2400" i="1" dirty="0"/>
              <a:t>Чтобы понять разницу, создадим сервис, который при рождении получает случайное число</a:t>
            </a:r>
            <a:r>
              <a:rPr lang="ru-RU" sz="2400" i="1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i="1" dirty="0" smtClean="0"/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Value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RandomCounter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ICounter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_value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RandomCounter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Random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.Shared.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(1, 1000000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Value =&gt; _value;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1989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60098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counter1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GetService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 smtClean="0">
                <a:solidFill>
                  <a:srgbClr val="267F99"/>
                </a:solidFill>
                <a:latin typeface="Consolas" panose="020B0609020204030204" pitchFamily="49" charset="0"/>
              </a:rPr>
              <a:t>ICounter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counter2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GetService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 smtClean="0">
                <a:solidFill>
                  <a:srgbClr val="267F99"/>
                </a:solidFill>
                <a:latin typeface="Consolas" panose="020B0609020204030204" pitchFamily="49" charset="0"/>
              </a:rPr>
              <a:t>ICounter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ru-RU" sz="2400" dirty="0" smtClean="0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endParaRPr lang="ru-RU" sz="2400" dirty="0" smtClean="0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222222"/>
                </a:solidFill>
                <a:latin typeface="Consolas" panose="020B0609020204030204" pitchFamily="49" charset="0"/>
              </a:rPr>
              <a:t>	</a:t>
            </a:r>
            <a:r>
              <a:rPr lang="ru-RU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$"Counter1: 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counter1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; Counter2: 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counter2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02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AddTransient</a:t>
            </a: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services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ServiceCollection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AddTransient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RandomCounter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											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services.BuildServiceProvider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642" y="4705748"/>
            <a:ext cx="8252735" cy="141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6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5189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AddSingleton</a:t>
            </a:r>
            <a:endParaRPr lang="ru-RU" sz="2400" b="1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сервисов, которые добавляются с помощью метода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AddSingleton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()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создается один объект для всех последующих обращений. 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Microsoft.Extensions.DependencyInjection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IServiceCollection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services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ServiceCollection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AddSingleton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RandomCounter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services.BuildServiceProvider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989" y="5162551"/>
            <a:ext cx="7741938" cy="143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7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AddScoped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IServiceCollection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services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ServiceCollection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AddScoped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RandomCounter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											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services.BuildServiceProvider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PrintCounters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IServiceScope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scope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CreateScope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counter1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scope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GetService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counter2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scope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ServiceProvider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GetService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ICounter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$"Counter1: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counter1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; Counter2: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counter2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065" y="2528868"/>
            <a:ext cx="7889862" cy="14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7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DI в контроллерах ASP.NET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Core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DI в контроллерах — Связующее звено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В ASP.NET </a:t>
            </a:r>
            <a:r>
              <a:rPr lang="ru-RU" sz="2400" dirty="0" err="1"/>
              <a:t>Core</a:t>
            </a:r>
            <a:r>
              <a:rPr lang="ru-RU" sz="2400" dirty="0"/>
              <a:t> контроллеры — это не просто классы, это компоненты, которыми полностью управляет </a:t>
            </a:r>
            <a:r>
              <a:rPr lang="ru-RU" sz="2400" dirty="0" err="1"/>
              <a:t>фреймворк</a:t>
            </a:r>
            <a:r>
              <a:rPr lang="ru-RU" sz="2400" dirty="0"/>
              <a:t>. Поскольку контроллер создается самой системой, она может автоматически «впрыснуть» в него любые нужные сервисы.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Два основных способа получения зависимостей:</a:t>
            </a:r>
            <a:endParaRPr lang="ru-RU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Через конструктор (</a:t>
            </a:r>
            <a:r>
              <a:rPr lang="ru-RU" sz="2400" b="1" dirty="0" err="1"/>
              <a:t>Constructor</a:t>
            </a:r>
            <a:r>
              <a:rPr lang="ru-RU" sz="2400" b="1" dirty="0"/>
              <a:t> </a:t>
            </a:r>
            <a:r>
              <a:rPr lang="ru-RU" sz="2400" b="1" dirty="0" err="1"/>
              <a:t>Injection</a:t>
            </a:r>
            <a:r>
              <a:rPr lang="ru-RU" sz="2400" b="1" dirty="0"/>
              <a:t>):</a:t>
            </a:r>
            <a:r>
              <a:rPr lang="ru-RU" sz="2400" dirty="0"/>
              <a:t> Рекомендуемый и самый частый способ. Сервис доступен всем методам контроллера.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Через метод ([</a:t>
            </a:r>
            <a:r>
              <a:rPr lang="ru-RU" sz="2400" b="1" dirty="0" err="1"/>
              <a:t>FromServices</a:t>
            </a:r>
            <a:r>
              <a:rPr lang="ru-RU" sz="2400" b="1" dirty="0"/>
              <a:t>]):</a:t>
            </a:r>
            <a:r>
              <a:rPr lang="ru-RU" sz="2400" dirty="0"/>
              <a:t> Полезно, когда сервис нужен только в одном конкретном действии (</a:t>
            </a:r>
            <a:r>
              <a:rPr lang="ru-RU" sz="2400" dirty="0" err="1"/>
              <a:t>Action</a:t>
            </a:r>
            <a:r>
              <a:rPr lang="ru-RU" sz="2400" dirty="0"/>
              <a:t>), чтобы не перегружать конструктор.</a:t>
            </a:r>
          </a:p>
        </p:txBody>
      </p:sp>
    </p:spTree>
    <p:extLst>
      <p:ext uri="{BB962C8B-B14F-4D97-AF65-F5344CB8AC3E}">
        <p14:creationId xmlns:p14="http://schemas.microsoft.com/office/powerpoint/2010/main" val="373791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Когда пользователь вводит URL в браузере, происходит «магия» сборки объектов: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Запрос пришел:</a:t>
            </a:r>
            <a:r>
              <a:rPr lang="ru-RU" sz="2400" dirty="0"/>
              <a:t> Сервер понимает, что нужен </a:t>
            </a:r>
            <a:r>
              <a:rPr lang="ru-RU" sz="2400" dirty="0" err="1"/>
              <a:t>HomeController</a:t>
            </a:r>
            <a:r>
              <a:rPr lang="ru-RU" sz="24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Анализ:</a:t>
            </a:r>
            <a:r>
              <a:rPr lang="ru-RU" sz="2400" dirty="0"/>
              <a:t> DI-провайдер смотрит на конструктор </a:t>
            </a:r>
            <a:r>
              <a:rPr lang="ru-RU" sz="2400" dirty="0" err="1"/>
              <a:t>HomeController</a:t>
            </a:r>
            <a:r>
              <a:rPr lang="ru-RU" sz="2400" dirty="0"/>
              <a:t>. Видит, что тот просит </a:t>
            </a:r>
            <a:r>
              <a:rPr lang="ru-RU" sz="2400" dirty="0" err="1"/>
              <a:t>ITimeService</a:t>
            </a:r>
            <a:r>
              <a:rPr lang="ru-RU" sz="24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Поиск рецепта:</a:t>
            </a:r>
            <a:r>
              <a:rPr lang="ru-RU" sz="2400" dirty="0"/>
              <a:t> Провайдер идет в «каталог» (который мы настроили в </a:t>
            </a:r>
            <a:r>
              <a:rPr lang="ru-RU" sz="2400" dirty="0" err="1"/>
              <a:t>Program.cs</a:t>
            </a:r>
            <a:r>
              <a:rPr lang="ru-RU" sz="2400" dirty="0"/>
              <a:t>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Сборка:</a:t>
            </a:r>
            <a:r>
              <a:rPr lang="ru-RU" sz="2400" dirty="0"/>
              <a:t> Провайдер создает </a:t>
            </a:r>
            <a:r>
              <a:rPr lang="ru-RU" sz="2400" dirty="0" err="1"/>
              <a:t>SimpleTimeService</a:t>
            </a:r>
            <a:r>
              <a:rPr lang="ru-RU" sz="2400" dirty="0"/>
              <a:t> (согласно его </a:t>
            </a:r>
            <a:r>
              <a:rPr lang="ru-RU" sz="2400" dirty="0" err="1"/>
              <a:t>Lifetime</a:t>
            </a:r>
            <a:r>
              <a:rPr lang="ru-RU" sz="2400" dirty="0"/>
              <a:t>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Внедрение:</a:t>
            </a:r>
            <a:r>
              <a:rPr lang="ru-RU" sz="2400" dirty="0"/>
              <a:t> Провайдер создает </a:t>
            </a:r>
            <a:r>
              <a:rPr lang="ru-RU" sz="2400" dirty="0" err="1"/>
              <a:t>HomeController</a:t>
            </a:r>
            <a:r>
              <a:rPr lang="ru-RU" sz="2400" dirty="0"/>
              <a:t>, передавая ему готовый сервис в конструктор.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Выполнение:</a:t>
            </a:r>
            <a:r>
              <a:rPr lang="ru-RU" sz="2400" dirty="0"/>
              <a:t> Контроллер готов к работе и выполняет метод </a:t>
            </a:r>
            <a:r>
              <a:rPr lang="ru-RU" sz="2400" dirty="0" err="1"/>
              <a:t>Action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544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69331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Полный пример: Регистрация и </a:t>
            </a:r>
            <a:r>
              <a:rPr lang="ru-RU" sz="2400" b="1" dirty="0" smtClean="0"/>
              <a:t>Сервис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b="1" dirty="0" smtClean="0"/>
              <a:t>Сервис </a:t>
            </a:r>
            <a:r>
              <a:rPr lang="ru-RU" sz="2400" b="1" dirty="0"/>
              <a:t>(Интерфейс и реализация</a:t>
            </a:r>
            <a:r>
              <a:rPr lang="ru-RU" sz="2400" b="1" dirty="0" smtClean="0"/>
              <a:t>):</a:t>
            </a:r>
            <a:endParaRPr lang="en-US" sz="2400" b="1" dirty="0" smtClean="0"/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ITimeService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GetTime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}</a:t>
            </a:r>
          </a:p>
          <a:p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SimpleTimeService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ITimeService</a:t>
            </a:r>
            <a:endParaRPr lang="en-US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GetTime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en-US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 </a:t>
            </a:r>
            <a:r>
              <a:rPr lang="en-US" sz="23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3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.Now.</a:t>
            </a:r>
            <a:r>
              <a:rPr lang="en-US" sz="2300" dirty="0" err="1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HH:mm:ss</a:t>
            </a:r>
            <a:r>
              <a:rPr lang="en-US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397577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2. Регистрация в </a:t>
            </a:r>
            <a:r>
              <a:rPr lang="en-US" sz="2400" b="1" dirty="0" err="1"/>
              <a:t>Program.cs</a:t>
            </a:r>
            <a:r>
              <a:rPr lang="en-US" sz="2400" b="1" dirty="0" smtClean="0"/>
              <a:t>: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.Services.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AddControllers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ГОВОРИМ СИСТЕМЕ О НАШЕМ СЕРВИСЕ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.Services.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AddTransient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ITimeService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								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SimpleTimeService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397449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864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Теперь контроллер просто «пользуется плодами» настройки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HomeController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endParaRPr lang="en-US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ITimeService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timeService</a:t>
            </a:r>
            <a:r>
              <a:rPr lang="en-US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1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Внедрение через конструктор: контроллер НЕ знает, как создавать сервис</a:t>
            </a:r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HomeController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ITimeService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timeService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_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timeService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1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timeService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1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Текущее время на сервере: </a:t>
            </a:r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{_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timeService.</a:t>
            </a:r>
            <a:r>
              <a:rPr lang="en-US" sz="21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GetTime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()}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Внедрение только в метод (если нужно сэкономить ресурсы)</a:t>
            </a:r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QuickCheck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FromServices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ITimeService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fastService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1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Проверка: </a:t>
            </a:r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1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fastService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1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GetTime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()}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83179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16605</TotalTime>
  <Words>775</Words>
  <Application>Microsoft Office PowerPoint</Application>
  <PresentationFormat>Широкоэкранный</PresentationFormat>
  <Paragraphs>276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4" baseType="lpstr">
      <vt:lpstr>Arial</vt:lpstr>
      <vt:lpstr>Bookman Old Style</vt:lpstr>
      <vt:lpstr>Calibri</vt:lpstr>
      <vt:lpstr>Cascadia Mono</vt:lpstr>
      <vt:lpstr>Consolas</vt:lpstr>
      <vt:lpstr>Times New Roman</vt:lpstr>
      <vt:lpstr>Тема Office</vt:lpstr>
      <vt:lpstr>6 семестр Лекция 7.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m10</cp:lastModifiedBy>
  <cp:revision>1033</cp:revision>
  <dcterms:modified xsi:type="dcterms:W3CDTF">2026-02-17T12:37:01Z</dcterms:modified>
</cp:coreProperties>
</file>