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0"/>
  </p:notesMasterIdLst>
  <p:sldIdLst>
    <p:sldId id="273" r:id="rId2"/>
    <p:sldId id="1147" r:id="rId3"/>
    <p:sldId id="1148" r:id="rId4"/>
    <p:sldId id="1149" r:id="rId5"/>
    <p:sldId id="1150" r:id="rId6"/>
    <p:sldId id="1152" r:id="rId7"/>
    <p:sldId id="1155" r:id="rId8"/>
    <p:sldId id="1159" r:id="rId9"/>
    <p:sldId id="1160" r:id="rId10"/>
    <p:sldId id="1153" r:id="rId11"/>
    <p:sldId id="1154" r:id="rId12"/>
    <p:sldId id="1182" r:id="rId13"/>
    <p:sldId id="1161" r:id="rId14"/>
    <p:sldId id="1171" r:id="rId15"/>
    <p:sldId id="1172" r:id="rId16"/>
    <p:sldId id="1173" r:id="rId17"/>
    <p:sldId id="1174" r:id="rId18"/>
    <p:sldId id="1175" r:id="rId19"/>
    <p:sldId id="1179" r:id="rId20"/>
    <p:sldId id="1180" r:id="rId21"/>
    <p:sldId id="1181" r:id="rId22"/>
    <p:sldId id="1183" r:id="rId23"/>
    <p:sldId id="1184" r:id="rId24"/>
    <p:sldId id="1185" r:id="rId25"/>
    <p:sldId id="1186" r:id="rId26"/>
    <p:sldId id="1187" r:id="rId27"/>
    <p:sldId id="1188" r:id="rId28"/>
    <p:sldId id="1189" r:id="rId29"/>
    <p:sldId id="1190" r:id="rId30"/>
    <p:sldId id="1191" r:id="rId31"/>
    <p:sldId id="1193" r:id="rId32"/>
    <p:sldId id="1194" r:id="rId33"/>
    <p:sldId id="1195" r:id="rId34"/>
    <p:sldId id="1196" r:id="rId35"/>
    <p:sldId id="1197" r:id="rId36"/>
    <p:sldId id="1199" r:id="rId37"/>
    <p:sldId id="1200" r:id="rId38"/>
    <p:sldId id="120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82509" autoAdjust="0"/>
  </p:normalViewPr>
  <p:slideViewPr>
    <p:cSldViewPr snapToGrid="0">
      <p:cViewPr varScale="1">
        <p:scale>
          <a:sx n="131" d="100"/>
          <a:sy n="131" d="100"/>
        </p:scale>
        <p:origin x="1266" y="132"/>
      </p:cViewPr>
      <p:guideLst>
        <p:guide orient="horz" pos="213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506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81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95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7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69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82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87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84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2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63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24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59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7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41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7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088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2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717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461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54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165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941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2448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82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195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630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679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111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760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9994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333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4273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676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526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070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218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2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 smtClean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1569658"/>
            <a:ext cx="10670534" cy="1653046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6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5. 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лекции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</a:t>
            </a:r>
            <a:r>
              <a:rPr lang="ru-RU" sz="1800" b="1" dirty="0" smtClean="0">
                <a:solidFill>
                  <a:srgbClr val="292929"/>
                </a:solidFill>
                <a:latin typeface="Bookman Old Style" pitchFamily="18" charset="0"/>
              </a:rPr>
              <a:t>ст. преподаватель каф</a:t>
            </a:r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. </a:t>
            </a:r>
            <a:r>
              <a:rPr lang="ru-RU" sz="1800" b="1" dirty="0" err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sz="1800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3222704"/>
            <a:ext cx="1104134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Введение в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ASP.NET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Протокол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Паттерн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MVC (Model-View-Controller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Маршрутизация (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Routing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Контроллеры и передача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Представления (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Views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Введение в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ASP.NET Core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ASP.NET </a:t>
            </a:r>
            <a:r>
              <a:rPr lang="ru-RU" sz="2400" b="1" dirty="0" err="1">
                <a:latin typeface="Bookman Old Style" panose="02050604050505020204" pitchFamily="18" charset="0"/>
              </a:rPr>
              <a:t>Core</a:t>
            </a:r>
            <a:r>
              <a:rPr lang="ru-RU" sz="2400" dirty="0">
                <a:latin typeface="Bookman Old Style" panose="02050604050505020204" pitchFamily="18" charset="0"/>
              </a:rPr>
              <a:t> — это современный кроссплатформенный </a:t>
            </a:r>
            <a:r>
              <a:rPr lang="ru-RU" sz="2400" dirty="0" err="1">
                <a:latin typeface="Bookman Old Style" panose="02050604050505020204" pitchFamily="18" charset="0"/>
              </a:rPr>
              <a:t>фреймворк</a:t>
            </a:r>
            <a:r>
              <a:rPr lang="ru-RU" sz="2400" dirty="0">
                <a:latin typeface="Bookman Old Style" panose="02050604050505020204" pitchFamily="18" charset="0"/>
              </a:rPr>
              <a:t> с открытым исходным кодом от </a:t>
            </a:r>
            <a:r>
              <a:rPr lang="ru-RU" sz="2400" dirty="0" err="1">
                <a:latin typeface="Bookman Old Style" panose="02050604050505020204" pitchFamily="18" charset="0"/>
              </a:rPr>
              <a:t>Microsoft</a:t>
            </a:r>
            <a:r>
              <a:rPr lang="ru-RU" sz="2400" dirty="0">
                <a:latin typeface="Bookman Old Style" panose="02050604050505020204" pitchFamily="18" charset="0"/>
              </a:rPr>
              <a:t>, предназначенный для создания облачных веб-приложений и сервисов.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Ключевая концепция: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Мы пишем логику на языке </a:t>
            </a:r>
            <a:r>
              <a:rPr lang="ru-RU" sz="2400" b="1" dirty="0">
                <a:latin typeface="Bookman Old Style" panose="02050604050505020204" pitchFamily="18" charset="0"/>
              </a:rPr>
              <a:t>C#</a:t>
            </a:r>
            <a:r>
              <a:rPr lang="ru-RU" sz="2400" dirty="0">
                <a:latin typeface="Bookman Old Style" panose="02050604050505020204" pitchFamily="18" charset="0"/>
              </a:rPr>
              <a:t>, которая выполняется на </a:t>
            </a:r>
            <a:r>
              <a:rPr lang="ru-RU" sz="2400" b="1" dirty="0">
                <a:latin typeface="Bookman Old Style" panose="02050604050505020204" pitchFamily="18" charset="0"/>
              </a:rPr>
              <a:t>сервере</a:t>
            </a:r>
            <a:r>
              <a:rPr lang="ru-RU" sz="2400" dirty="0">
                <a:latin typeface="Bookman Old Style" panose="02050604050505020204" pitchFamily="18" charset="0"/>
              </a:rPr>
              <a:t>. Наша программа становится «мозгом» веб-ресурса, принимая входящие запросы и отправляя нужные данные обратно пользователю.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Наследие:</a:t>
            </a:r>
            <a:r>
              <a:rPr lang="ru-RU" sz="2400" dirty="0">
                <a:latin typeface="Bookman Old Style" panose="02050604050505020204" pitchFamily="18" charset="0"/>
              </a:rPr>
              <a:t> Переосмысление классического ASP.NET, построенное с нуля для работы в современных реалиях.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Типы приложений:</a:t>
            </a:r>
            <a:r>
              <a:rPr lang="ru-RU" sz="2400" dirty="0">
                <a:latin typeface="Bookman Old Style" panose="02050604050505020204" pitchFamily="18" charset="0"/>
              </a:rPr>
              <a:t> Веб-сайты (MVC/</a:t>
            </a:r>
            <a:r>
              <a:rPr lang="ru-RU" sz="2400" dirty="0" err="1">
                <a:latin typeface="Bookman Old Style" panose="02050604050505020204" pitchFamily="18" charset="0"/>
              </a:rPr>
              <a:t>Razor</a:t>
            </a:r>
            <a:r>
              <a:rPr lang="ru-RU" sz="2400" dirty="0">
                <a:latin typeface="Bookman Old Style" panose="02050604050505020204" pitchFamily="18" charset="0"/>
              </a:rPr>
              <a:t>), API для мобильных приложений, </a:t>
            </a:r>
            <a:r>
              <a:rPr lang="ru-RU" sz="2400" dirty="0" err="1">
                <a:latin typeface="Bookman Old Style" panose="02050604050505020204" pitchFamily="18" charset="0"/>
              </a:rPr>
              <a:t>микросервисы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latin typeface="Bookman Old Style" panose="02050604050505020204" pitchFamily="18" charset="0"/>
              </a:rPr>
              <a:t>Real-time</a:t>
            </a:r>
            <a:r>
              <a:rPr lang="ru-RU" sz="2400" dirty="0">
                <a:latin typeface="Bookman Old Style" panose="02050604050505020204" pitchFamily="18" charset="0"/>
              </a:rPr>
              <a:t>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45869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52531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5000"/>
              </a:lnSpc>
            </a:pPr>
            <a:r>
              <a:rPr lang="ru-RU" sz="2400" b="1" dirty="0"/>
              <a:t>Почему ASP.NET </a:t>
            </a:r>
            <a:r>
              <a:rPr lang="ru-RU" sz="2400" b="1" dirty="0" err="1"/>
              <a:t>Core</a:t>
            </a:r>
            <a:r>
              <a:rPr lang="ru-RU" sz="2400" b="1" dirty="0"/>
              <a:t> — это стандарт индустрии?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Кроссплатформенность:</a:t>
            </a:r>
            <a:r>
              <a:rPr lang="ru-RU" sz="2400" dirty="0"/>
              <a:t> Код одинаково успешно запускается на </a:t>
            </a:r>
            <a:r>
              <a:rPr lang="ru-RU" sz="2400" b="1" dirty="0" err="1"/>
              <a:t>Windows</a:t>
            </a:r>
            <a:r>
              <a:rPr lang="ru-RU" sz="2400" b="1" dirty="0"/>
              <a:t>, </a:t>
            </a:r>
            <a:r>
              <a:rPr lang="ru-RU" sz="2400" b="1" dirty="0" err="1"/>
              <a:t>Linux</a:t>
            </a:r>
            <a:r>
              <a:rPr lang="ru-RU" sz="2400" b="1" dirty="0"/>
              <a:t> и </a:t>
            </a:r>
            <a:r>
              <a:rPr lang="ru-RU" sz="2400" b="1" dirty="0" err="1"/>
              <a:t>macOS</a:t>
            </a:r>
            <a:r>
              <a:rPr lang="ru-RU" sz="2400" dirty="0"/>
              <a:t>. Вы можете разрабатывать на </a:t>
            </a:r>
            <a:r>
              <a:rPr lang="ru-RU" sz="2400" dirty="0" err="1"/>
              <a:t>Mac</a:t>
            </a:r>
            <a:r>
              <a:rPr lang="ru-RU" sz="2400" dirty="0"/>
              <a:t>, а </a:t>
            </a:r>
            <a:r>
              <a:rPr lang="ru-RU" sz="2400" dirty="0" err="1"/>
              <a:t>деплоить</a:t>
            </a:r>
            <a:r>
              <a:rPr lang="ru-RU" sz="2400" dirty="0"/>
              <a:t> в облако на </a:t>
            </a:r>
            <a:r>
              <a:rPr lang="ru-RU" sz="2400" dirty="0" err="1"/>
              <a:t>Linux</a:t>
            </a:r>
            <a:r>
              <a:rPr lang="ru-RU" sz="2400" dirty="0"/>
              <a:t>-серверы.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Высокая производительность:</a:t>
            </a:r>
            <a:r>
              <a:rPr lang="ru-RU" sz="2400" dirty="0"/>
              <a:t> Один из самых быстрых веб-</a:t>
            </a:r>
            <a:r>
              <a:rPr lang="ru-RU" sz="2400" dirty="0" err="1"/>
              <a:t>фреймворков</a:t>
            </a:r>
            <a:r>
              <a:rPr lang="ru-RU" sz="2400" dirty="0"/>
              <a:t> в мире (согласно </a:t>
            </a:r>
            <a:r>
              <a:rPr lang="ru-RU" sz="2400" dirty="0" err="1"/>
              <a:t>бенчмаркам</a:t>
            </a:r>
            <a:r>
              <a:rPr lang="ru-RU" sz="2400" dirty="0"/>
              <a:t> </a:t>
            </a:r>
            <a:r>
              <a:rPr lang="ru-RU" sz="2400" dirty="0" err="1"/>
              <a:t>TechEmpower</a:t>
            </a:r>
            <a:r>
              <a:rPr lang="ru-RU" sz="2400" dirty="0"/>
              <a:t>). Способен обрабатывать миллионы запросов в секунду.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Модульность:</a:t>
            </a:r>
            <a:r>
              <a:rPr lang="ru-RU" sz="2400" dirty="0"/>
              <a:t> Вы подключаете только те компоненты (</a:t>
            </a:r>
            <a:r>
              <a:rPr lang="ru-RU" sz="2400" dirty="0" err="1"/>
              <a:t>NuGet</a:t>
            </a:r>
            <a:r>
              <a:rPr lang="ru-RU" sz="2400" dirty="0"/>
              <a:t>-пакеты), которые реально нужны вашему приложению. Это делает систему легкой и безопасной.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Встроенный </a:t>
            </a:r>
            <a:r>
              <a:rPr lang="ru-RU" sz="2400" b="1" dirty="0" err="1"/>
              <a:t>Dependency</a:t>
            </a:r>
            <a:r>
              <a:rPr lang="ru-RU" sz="2400" b="1" dirty="0"/>
              <a:t> </a:t>
            </a:r>
            <a:r>
              <a:rPr lang="ru-RU" sz="2400" b="1" dirty="0" err="1"/>
              <a:t>Injection</a:t>
            </a:r>
            <a:r>
              <a:rPr lang="ru-RU" sz="2400" b="1" dirty="0"/>
              <a:t>:</a:t>
            </a:r>
            <a:r>
              <a:rPr lang="ru-RU" sz="2400" dirty="0"/>
              <a:t> Механизмы управления зависимостями уже «вшиты» в ядро </a:t>
            </a:r>
            <a:r>
              <a:rPr lang="ru-RU" sz="2400" dirty="0" err="1"/>
              <a:t>фреймворка</a:t>
            </a:r>
            <a:r>
              <a:rPr lang="ru-RU" sz="2400" dirty="0"/>
              <a:t>, что заставляет писать качественный и тестируемый код.</a:t>
            </a:r>
          </a:p>
        </p:txBody>
      </p:sp>
    </p:spTree>
    <p:extLst>
      <p:ext uri="{BB962C8B-B14F-4D97-AF65-F5344CB8AC3E}">
        <p14:creationId xmlns:p14="http://schemas.microsoft.com/office/powerpoint/2010/main" val="183264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56966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Чтобы понять, как работает ASP.NET </a:t>
            </a:r>
            <a:r>
              <a:rPr lang="ru-RU" sz="2400" dirty="0" err="1"/>
              <a:t>Core</a:t>
            </a:r>
            <a:r>
              <a:rPr lang="ru-RU" sz="2400" dirty="0"/>
              <a:t>, нужно вспомнить базу: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Клиент (Браузер / Мобильное приложение):</a:t>
            </a:r>
            <a:r>
              <a:rPr lang="ru-RU" sz="2400" dirty="0"/>
              <a:t> Отправляет </a:t>
            </a:r>
            <a:r>
              <a:rPr lang="ru-RU" sz="2400" b="1" dirty="0"/>
              <a:t>HTTP-запрос</a:t>
            </a:r>
            <a:r>
              <a:rPr lang="ru-RU" sz="2400" dirty="0"/>
              <a:t> (например: «Дай мне список товаров»).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Сервер (Наше приложение):</a:t>
            </a:r>
            <a:endParaRPr lang="ru-RU" sz="2400" dirty="0"/>
          </a:p>
          <a:p>
            <a:pPr lvl="1">
              <a:lnSpc>
                <a:spcPct val="150000"/>
              </a:lnSpc>
            </a:pPr>
            <a:r>
              <a:rPr lang="ru-RU" sz="2400" dirty="0"/>
              <a:t>Принимает запрос.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Обращается к базе данных.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Выполняет бизнес-логику.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Формирует ответ.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Результат:</a:t>
            </a:r>
            <a:r>
              <a:rPr lang="ru-RU" sz="2400" dirty="0"/>
              <a:t> Сервер возвращает </a:t>
            </a:r>
            <a:r>
              <a:rPr lang="ru-RU" sz="2400" b="1" dirty="0"/>
              <a:t>HTTP-ответ</a:t>
            </a:r>
            <a:r>
              <a:rPr lang="ru-RU" sz="2400" dirty="0"/>
              <a:t> (HTML-страницу для браузера или JSON-данные для мобильного приложения).</a:t>
            </a:r>
          </a:p>
        </p:txBody>
      </p:sp>
    </p:spTree>
    <p:extLst>
      <p:ext uri="{BB962C8B-B14F-4D97-AF65-F5344CB8AC3E}">
        <p14:creationId xmlns:p14="http://schemas.microsoft.com/office/powerpoint/2010/main" val="46674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27996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Экосистема .NET сегодня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C#</a:t>
            </a:r>
            <a:r>
              <a:rPr lang="ru-RU" sz="2400" dirty="0"/>
              <a:t> — основной язык разработки.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Entity</a:t>
            </a:r>
            <a:r>
              <a:rPr lang="ru-RU" sz="2400" b="1" dirty="0"/>
              <a:t> </a:t>
            </a:r>
            <a:r>
              <a:rPr lang="ru-RU" sz="2400" b="1" dirty="0" err="1"/>
              <a:t>Framework</a:t>
            </a:r>
            <a:r>
              <a:rPr lang="ru-RU" sz="2400" b="1" dirty="0"/>
              <a:t> </a:t>
            </a:r>
            <a:r>
              <a:rPr lang="ru-RU" sz="2400" b="1" dirty="0" err="1"/>
              <a:t>Core</a:t>
            </a:r>
            <a:r>
              <a:rPr lang="ru-RU" sz="2400" dirty="0"/>
              <a:t> — для удобной работы с базами данных (ORM).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Azure</a:t>
            </a:r>
            <a:r>
              <a:rPr lang="ru-RU" sz="2400" b="1" dirty="0"/>
              <a:t> / AWS / </a:t>
            </a:r>
            <a:r>
              <a:rPr lang="ru-RU" sz="2400" b="1" dirty="0" err="1"/>
              <a:t>Docker</a:t>
            </a:r>
            <a:r>
              <a:rPr lang="ru-RU" sz="2400" dirty="0"/>
              <a:t> — основные среды для размещения (хостинга) приложений.</a:t>
            </a:r>
          </a:p>
        </p:txBody>
      </p:sp>
    </p:spTree>
    <p:extLst>
      <p:ext uri="{BB962C8B-B14F-4D97-AF65-F5344CB8AC3E}">
        <p14:creationId xmlns:p14="http://schemas.microsoft.com/office/powerpoint/2010/main" val="2940248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654356"/>
            <a:ext cx="12192000" cy="624369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5000"/>
              </a:lnSpc>
            </a:pPr>
            <a:r>
              <a:rPr lang="ru-RU" sz="2400" b="1" dirty="0"/>
              <a:t>HTTP (</a:t>
            </a:r>
            <a:r>
              <a:rPr lang="ru-RU" sz="2400" b="1" dirty="0" err="1"/>
              <a:t>Hypertext</a:t>
            </a:r>
            <a:r>
              <a:rPr lang="ru-RU" sz="2400" b="1" dirty="0"/>
              <a:t> </a:t>
            </a:r>
            <a:r>
              <a:rPr lang="ru-RU" sz="2400" b="1" dirty="0" err="1"/>
              <a:t>Transfer</a:t>
            </a:r>
            <a:r>
              <a:rPr lang="ru-RU" sz="2400" b="1" dirty="0"/>
              <a:t> </a:t>
            </a:r>
            <a:r>
              <a:rPr lang="ru-RU" sz="2400" b="1" dirty="0" err="1"/>
              <a:t>Protocol</a:t>
            </a:r>
            <a:r>
              <a:rPr lang="ru-RU" sz="2400" b="1" dirty="0"/>
              <a:t>)</a:t>
            </a:r>
            <a:r>
              <a:rPr lang="ru-RU" sz="2400" dirty="0"/>
              <a:t> — это стандарт, по которому клиент (браузер) и сервер обмениваются данными. Вся работа ASP.NET </a:t>
            </a:r>
            <a:r>
              <a:rPr lang="ru-RU" sz="2400" dirty="0" err="1"/>
              <a:t>Core</a:t>
            </a:r>
            <a:r>
              <a:rPr lang="ru-RU" sz="2400" dirty="0"/>
              <a:t> строится на обработке этих сообщений.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Анатомия HTTP-запроса: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Стартовая строка:</a:t>
            </a:r>
            <a:endParaRPr lang="ru-RU" sz="2400" dirty="0"/>
          </a:p>
          <a:p>
            <a:pPr lvl="1">
              <a:lnSpc>
                <a:spcPct val="135000"/>
              </a:lnSpc>
            </a:pPr>
            <a:r>
              <a:rPr lang="ru-RU" sz="2400" b="1" dirty="0"/>
              <a:t>Метод</a:t>
            </a:r>
            <a:r>
              <a:rPr lang="ru-RU" sz="2400" dirty="0"/>
              <a:t> (ЧТО делаем?) — например, GET.</a:t>
            </a:r>
          </a:p>
          <a:p>
            <a:pPr lvl="1">
              <a:lnSpc>
                <a:spcPct val="135000"/>
              </a:lnSpc>
            </a:pPr>
            <a:r>
              <a:rPr lang="ru-RU" sz="2400" b="1" dirty="0"/>
              <a:t>URL</a:t>
            </a:r>
            <a:r>
              <a:rPr lang="ru-RU" sz="2400" dirty="0"/>
              <a:t> (ГДЕ делаем?) — например, /</a:t>
            </a:r>
            <a:r>
              <a:rPr lang="ru-RU" sz="2400" dirty="0" err="1"/>
              <a:t>api</a:t>
            </a:r>
            <a:r>
              <a:rPr lang="ru-RU" sz="2400" dirty="0"/>
              <a:t>/</a:t>
            </a:r>
            <a:r>
              <a:rPr lang="ru-RU" sz="2400" dirty="0" err="1"/>
              <a:t>users</a:t>
            </a:r>
            <a:r>
              <a:rPr lang="ru-RU" sz="2400" dirty="0"/>
              <a:t>/1.</a:t>
            </a:r>
          </a:p>
          <a:p>
            <a:pPr lvl="1">
              <a:lnSpc>
                <a:spcPct val="135000"/>
              </a:lnSpc>
            </a:pPr>
            <a:r>
              <a:rPr lang="ru-RU" sz="2400" b="1" dirty="0"/>
              <a:t>Версия</a:t>
            </a:r>
            <a:r>
              <a:rPr lang="ru-RU" sz="2400" dirty="0"/>
              <a:t> — обычно HTTP/1.1 или HTTP/2.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Заголовки (</a:t>
            </a:r>
            <a:r>
              <a:rPr lang="ru-RU" sz="2400" b="1" dirty="0" err="1"/>
              <a:t>Headers</a:t>
            </a:r>
            <a:r>
              <a:rPr lang="ru-RU" sz="2400" b="1" dirty="0"/>
              <a:t>):</a:t>
            </a:r>
            <a:r>
              <a:rPr lang="ru-RU" sz="2400" dirty="0"/>
              <a:t> Служебная информация (мета-данные). Тип данных (</a:t>
            </a:r>
            <a:r>
              <a:rPr lang="ru-RU" sz="2400" dirty="0" err="1"/>
              <a:t>Content-Type</a:t>
            </a:r>
            <a:r>
              <a:rPr lang="ru-RU" sz="2400" dirty="0"/>
              <a:t>), </a:t>
            </a:r>
            <a:r>
              <a:rPr lang="ru-RU" sz="2400" dirty="0" err="1"/>
              <a:t>токены</a:t>
            </a:r>
            <a:r>
              <a:rPr lang="ru-RU" sz="2400" dirty="0"/>
              <a:t> безопасности, настройки кэша.</a:t>
            </a:r>
          </a:p>
          <a:p>
            <a:pPr>
              <a:lnSpc>
                <a:spcPct val="135000"/>
              </a:lnSpc>
            </a:pPr>
            <a:r>
              <a:rPr lang="ru-RU" sz="2400" b="1" dirty="0"/>
              <a:t>Тело (</a:t>
            </a:r>
            <a:r>
              <a:rPr lang="ru-RU" sz="2400" b="1" dirty="0" err="1"/>
              <a:t>Body</a:t>
            </a:r>
            <a:r>
              <a:rPr lang="ru-RU" sz="2400" b="1" dirty="0"/>
              <a:t>):</a:t>
            </a:r>
            <a:r>
              <a:rPr lang="ru-RU" sz="2400" dirty="0"/>
              <a:t> Сами данные. Обычно передаются в формате </a:t>
            </a:r>
            <a:r>
              <a:rPr lang="ru-RU" sz="2400" b="1" dirty="0"/>
              <a:t>JSON</a:t>
            </a:r>
            <a:r>
              <a:rPr lang="ru-RU" sz="2400" dirty="0"/>
              <a:t> при создании или обновлении ресурсов.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Протокол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273255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Метод определяет характер действия над ресурсом. В REST-архитектуре они соответствуют операциям </a:t>
            </a:r>
            <a:r>
              <a:rPr lang="ru-RU" sz="2400" b="1" dirty="0"/>
              <a:t>CRUD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GET</a:t>
            </a:r>
            <a:r>
              <a:rPr lang="ru-RU" sz="2400" dirty="0"/>
              <a:t> — </a:t>
            </a:r>
            <a:r>
              <a:rPr lang="ru-RU" sz="2400" b="1" dirty="0"/>
              <a:t>Чтение.</a:t>
            </a:r>
            <a:r>
              <a:rPr lang="ru-RU" sz="2400" dirty="0"/>
              <a:t> Запрос данных с сервера</a:t>
            </a:r>
            <a:r>
              <a:rPr lang="ru-RU" sz="2400" dirty="0" smtClean="0"/>
              <a:t>.</a:t>
            </a:r>
            <a:endParaRPr lang="ru-RU" sz="2400" i="1" dirty="0"/>
          </a:p>
          <a:p>
            <a:pPr>
              <a:lnSpc>
                <a:spcPct val="150000"/>
              </a:lnSpc>
            </a:pPr>
            <a:r>
              <a:rPr lang="ru-RU" sz="2400" b="1" dirty="0"/>
              <a:t>POST</a:t>
            </a:r>
            <a:r>
              <a:rPr lang="ru-RU" sz="2400" dirty="0"/>
              <a:t> — </a:t>
            </a:r>
            <a:r>
              <a:rPr lang="ru-RU" sz="2400" b="1" dirty="0"/>
              <a:t>Создание.</a:t>
            </a:r>
            <a:r>
              <a:rPr lang="ru-RU" sz="2400" dirty="0"/>
              <a:t> Отправка данных на сервер для создания новой записи.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PUT</a:t>
            </a:r>
            <a:r>
              <a:rPr lang="ru-RU" sz="2400" dirty="0"/>
              <a:t> — </a:t>
            </a:r>
            <a:r>
              <a:rPr lang="ru-RU" sz="2400" b="1" dirty="0"/>
              <a:t>Полное обновление.</a:t>
            </a:r>
            <a:r>
              <a:rPr lang="ru-RU" sz="2400" dirty="0"/>
              <a:t> Заменяет весь ресурс новыми данными.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PATCH</a:t>
            </a:r>
            <a:r>
              <a:rPr lang="ru-RU" sz="2400" dirty="0"/>
              <a:t> — </a:t>
            </a:r>
            <a:r>
              <a:rPr lang="ru-RU" sz="2400" b="1" dirty="0"/>
              <a:t>Частичное обновление.</a:t>
            </a:r>
            <a:r>
              <a:rPr lang="ru-RU" sz="2400" dirty="0"/>
              <a:t> Изменяет только отдельные поля ресурса.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DELETE</a:t>
            </a:r>
            <a:r>
              <a:rPr lang="ru-RU" sz="2400" dirty="0"/>
              <a:t> — </a:t>
            </a:r>
            <a:r>
              <a:rPr lang="ru-RU" sz="2400" b="1" dirty="0"/>
              <a:t>Удаление.</a:t>
            </a:r>
            <a:r>
              <a:rPr lang="ru-RU" sz="2400" dirty="0"/>
              <a:t> Удаляет указанный ресурс</a:t>
            </a:r>
            <a:r>
              <a:rPr lang="ru-RU" sz="2400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Важно:</a:t>
            </a:r>
            <a:r>
              <a:rPr lang="ru-RU" sz="2400" dirty="0"/>
              <a:t> GET-запросы </a:t>
            </a:r>
            <a:r>
              <a:rPr lang="ru-RU" sz="2400" dirty="0" err="1"/>
              <a:t>кешируются</a:t>
            </a:r>
            <a:r>
              <a:rPr lang="ru-RU" sz="2400" dirty="0"/>
              <a:t> и видны в истории браузера, поэтому через них никогда нельзя передавать пароли или секретные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51326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Трехзначное число в ответе сервера, которое говорит о результате обработки запроса.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2xx — Успех (</a:t>
            </a:r>
            <a:r>
              <a:rPr lang="ru-RU" sz="2400" b="1" dirty="0" err="1"/>
              <a:t>Success</a:t>
            </a:r>
            <a:r>
              <a:rPr lang="ru-RU" sz="2400" b="1" dirty="0"/>
              <a:t>):</a:t>
            </a:r>
            <a:endParaRPr lang="ru-RU" sz="2400" dirty="0"/>
          </a:p>
          <a:p>
            <a:pPr lvl="1">
              <a:lnSpc>
                <a:spcPct val="150000"/>
              </a:lnSpc>
            </a:pPr>
            <a:r>
              <a:rPr lang="ru-RU" sz="2400" dirty="0"/>
              <a:t>200 OK — всё прошло успешно.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201 </a:t>
            </a:r>
            <a:r>
              <a:rPr lang="ru-RU" sz="2400" dirty="0" err="1"/>
              <a:t>Created</a:t>
            </a:r>
            <a:r>
              <a:rPr lang="ru-RU" sz="2400" dirty="0"/>
              <a:t> — ресурс успешно создан (ответ на POST).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3xx — Перенаправление (</a:t>
            </a:r>
            <a:r>
              <a:rPr lang="ru-RU" sz="2400" b="1" dirty="0" err="1"/>
              <a:t>Redirection</a:t>
            </a:r>
            <a:r>
              <a:rPr lang="ru-RU" sz="2400" b="1" dirty="0"/>
              <a:t>):</a:t>
            </a:r>
            <a:r>
              <a:rPr lang="ru-RU" sz="2400" dirty="0"/>
              <a:t> Ресурс перемещен.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4xx — Ошибка клиента (</a:t>
            </a:r>
            <a:r>
              <a:rPr lang="ru-RU" sz="2400" b="1" dirty="0" err="1"/>
              <a:t>Client</a:t>
            </a:r>
            <a:r>
              <a:rPr lang="ru-RU" sz="2400" b="1" dirty="0"/>
              <a:t> </a:t>
            </a:r>
            <a:r>
              <a:rPr lang="ru-RU" sz="2400" b="1" dirty="0" err="1"/>
              <a:t>Error</a:t>
            </a:r>
            <a:r>
              <a:rPr lang="ru-RU" sz="2400" b="1" dirty="0"/>
              <a:t>):</a:t>
            </a:r>
            <a:r>
              <a:rPr lang="ru-RU" sz="2400" dirty="0"/>
              <a:t> «Ты прислал что-то не то».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400 </a:t>
            </a:r>
            <a:r>
              <a:rPr lang="ru-RU" sz="2400" dirty="0" err="1"/>
              <a:t>Bad</a:t>
            </a:r>
            <a:r>
              <a:rPr lang="ru-RU" sz="2400" dirty="0"/>
              <a:t> </a:t>
            </a:r>
            <a:r>
              <a:rPr lang="ru-RU" sz="2400" dirty="0" err="1"/>
              <a:t>Request</a:t>
            </a:r>
            <a:r>
              <a:rPr lang="ru-RU" sz="2400" dirty="0"/>
              <a:t> — неверный формат данных.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401 </a:t>
            </a:r>
            <a:r>
              <a:rPr lang="ru-RU" sz="2400" dirty="0" err="1"/>
              <a:t>Unauthorized</a:t>
            </a:r>
            <a:r>
              <a:rPr lang="ru-RU" sz="2400" dirty="0"/>
              <a:t> / 403 </a:t>
            </a:r>
            <a:r>
              <a:rPr lang="ru-RU" sz="2400" dirty="0" err="1"/>
              <a:t>Forbidden</a:t>
            </a:r>
            <a:r>
              <a:rPr lang="ru-RU" sz="2400" dirty="0"/>
              <a:t> — проблемы с доступом.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404 </a:t>
            </a:r>
            <a:r>
              <a:rPr lang="ru-RU" sz="2400" dirty="0" err="1"/>
              <a:t>Not</a:t>
            </a:r>
            <a:r>
              <a:rPr lang="ru-RU" sz="2400" dirty="0"/>
              <a:t> </a:t>
            </a:r>
            <a:r>
              <a:rPr lang="ru-RU" sz="2400" dirty="0" err="1"/>
              <a:t>Found</a:t>
            </a:r>
            <a:r>
              <a:rPr lang="ru-RU" sz="2400" dirty="0"/>
              <a:t> — адрес не существует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Статус коды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84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27996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/>
              <a:t>5xx </a:t>
            </a:r>
            <a:r>
              <a:rPr lang="ru-RU" sz="2400" b="1" dirty="0"/>
              <a:t>— Ошибка сервера (</a:t>
            </a:r>
            <a:r>
              <a:rPr lang="ru-RU" sz="2400" b="1" dirty="0" err="1"/>
              <a:t>Server</a:t>
            </a:r>
            <a:r>
              <a:rPr lang="ru-RU" sz="2400" b="1" dirty="0"/>
              <a:t> </a:t>
            </a:r>
            <a:r>
              <a:rPr lang="ru-RU" sz="2400" b="1" dirty="0" err="1"/>
              <a:t>Error</a:t>
            </a:r>
            <a:r>
              <a:rPr lang="ru-RU" sz="2400" b="1" dirty="0"/>
              <a:t>):</a:t>
            </a:r>
            <a:r>
              <a:rPr lang="ru-RU" sz="2400" dirty="0"/>
              <a:t> «Я сломался».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500 </a:t>
            </a:r>
            <a:r>
              <a:rPr lang="ru-RU" sz="2400" dirty="0" err="1"/>
              <a:t>Internal</a:t>
            </a:r>
            <a:r>
              <a:rPr lang="ru-RU" sz="2400" dirty="0"/>
              <a:t> </a:t>
            </a:r>
            <a:r>
              <a:rPr lang="ru-RU" sz="2400" dirty="0" err="1"/>
              <a:t>Server</a:t>
            </a:r>
            <a:r>
              <a:rPr lang="ru-RU" sz="2400" dirty="0"/>
              <a:t> </a:t>
            </a:r>
            <a:r>
              <a:rPr lang="ru-RU" sz="2400" dirty="0" err="1"/>
              <a:t>Error</a:t>
            </a:r>
            <a:r>
              <a:rPr lang="ru-RU" sz="2400" dirty="0"/>
              <a:t> — необработанное исключение (баг в C#-коде).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503 </a:t>
            </a:r>
            <a:r>
              <a:rPr lang="ru-RU" sz="2400" dirty="0" err="1"/>
              <a:t>Service</a:t>
            </a:r>
            <a:r>
              <a:rPr lang="ru-RU" sz="2400" dirty="0"/>
              <a:t> </a:t>
            </a:r>
            <a:r>
              <a:rPr lang="ru-RU" sz="2400" dirty="0" err="1"/>
              <a:t>Unavailable</a:t>
            </a:r>
            <a:r>
              <a:rPr lang="ru-RU" sz="2400" dirty="0"/>
              <a:t> — сервер перегружен или на тех-обслуживании.</a:t>
            </a:r>
          </a:p>
        </p:txBody>
      </p:sp>
    </p:spTree>
    <p:extLst>
      <p:ext uri="{BB962C8B-B14F-4D97-AF65-F5344CB8AC3E}">
        <p14:creationId xmlns:p14="http://schemas.microsoft.com/office/powerpoint/2010/main" val="405239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516"/>
            <a:ext cx="12192000" cy="629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2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65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3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/>
              <a:t>Не всегда для сайта нужен сложный паттерн MVC. В современных версиях .NET можно запустить сервер буквально в несколько строк кода прямо в файле </a:t>
            </a:r>
            <a:r>
              <a:rPr lang="ru-RU" sz="2400" b="1" dirty="0" err="1"/>
              <a:t>Program.cs</a:t>
            </a:r>
            <a:r>
              <a:rPr lang="ru-RU" sz="2400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dirty="0" smtClean="0"/>
          </a:p>
          <a:p>
            <a:pPr>
              <a:lnSpc>
                <a:spcPct val="150000"/>
              </a:lnSpc>
            </a:pPr>
            <a:endParaRPr lang="ru-RU" sz="2400" dirty="0" smtClean="0"/>
          </a:p>
          <a:p>
            <a:pPr>
              <a:lnSpc>
                <a:spcPct val="150000"/>
              </a:lnSpc>
            </a:pPr>
            <a:r>
              <a:rPr lang="ru-RU" sz="2400" dirty="0"/>
              <a:t/>
            </a:r>
            <a:br>
              <a:rPr lang="ru-RU" sz="2400" dirty="0"/>
            </a:br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Маршрут 1: Главная страница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MapGet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() =&gt;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"Добро пожаловать на мой сервер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!"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Маршрут 2: Динамический ответ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MapGet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"/time"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() =&gt;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Текущее время: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ru-RU" sz="2400" dirty="0"/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Простейшее веб-приложение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Minimal API)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1514592"/>
            <a:ext cx="4989713" cy="203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MVC (</a:t>
            </a:r>
            <a:r>
              <a:rPr lang="ru-RU" sz="2400" b="1" dirty="0" err="1"/>
              <a:t>Model-View-Controller</a:t>
            </a:r>
            <a:r>
              <a:rPr lang="ru-RU" sz="2400" b="1" dirty="0"/>
              <a:t>)</a:t>
            </a:r>
            <a:r>
              <a:rPr lang="ru-RU" sz="2400" dirty="0"/>
              <a:t> — это архитектурный паттерн, разделяющий приложение на три независимых модуля. Это позволяет дизайнерам работать над интерфейсом, а программистам — над логикой, не мешая друг другу.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Краткая история: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dirty="0"/>
              <a:t>Концепция предложена в </a:t>
            </a:r>
            <a:r>
              <a:rPr lang="ru-RU" sz="2400" b="1" dirty="0"/>
              <a:t>1970-х</a:t>
            </a:r>
            <a:r>
              <a:rPr lang="ru-RU" sz="2400" dirty="0"/>
              <a:t> годах </a:t>
            </a:r>
            <a:r>
              <a:rPr lang="ru-RU" sz="2400" dirty="0" err="1"/>
              <a:t>Трюгве</a:t>
            </a:r>
            <a:r>
              <a:rPr lang="ru-RU" sz="2400" dirty="0"/>
              <a:t> </a:t>
            </a:r>
            <a:r>
              <a:rPr lang="ru-RU" sz="2400" dirty="0" err="1" smtClean="0"/>
              <a:t>Реекскаугом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dirty="0" smtClean="0"/>
              <a:t>(</a:t>
            </a:r>
            <a:r>
              <a:rPr lang="ru-RU" sz="2400" dirty="0" err="1" smtClean="0"/>
              <a:t>Xerox</a:t>
            </a:r>
            <a:r>
              <a:rPr lang="ru-RU" sz="2400" dirty="0" smtClean="0"/>
              <a:t> PARC).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dirty="0"/>
              <a:t>Стала мировым стандартом с приходом современных веб-</a:t>
            </a:r>
            <a:r>
              <a:rPr lang="ru-RU" sz="2400" dirty="0" err="1"/>
              <a:t>фреймворков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Главный принцип:</a:t>
            </a:r>
            <a:r>
              <a:rPr lang="ru-RU" sz="2400" dirty="0"/>
              <a:t> </a:t>
            </a:r>
            <a:r>
              <a:rPr lang="ru-RU" sz="2400" b="1" dirty="0" err="1"/>
              <a:t>Separation</a:t>
            </a:r>
            <a:r>
              <a:rPr lang="ru-RU" sz="2400" b="1" dirty="0"/>
              <a:t> </a:t>
            </a:r>
            <a:r>
              <a:rPr lang="ru-RU" sz="2400" b="1" dirty="0" err="1"/>
              <a:t>of</a:t>
            </a:r>
            <a:r>
              <a:rPr lang="ru-RU" sz="2400" b="1" dirty="0"/>
              <a:t> </a:t>
            </a:r>
            <a:r>
              <a:rPr lang="ru-RU" sz="2400" b="1" dirty="0" err="1"/>
              <a:t>Concerns</a:t>
            </a:r>
            <a:r>
              <a:rPr lang="ru-RU" sz="2400" dirty="0"/>
              <a:t> (Разделение ответственности). Каждый компонент отвечает только за свою часть работы.</a:t>
            </a: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MVC (Model-View-Controller)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7925" y="2385384"/>
            <a:ext cx="1743075" cy="227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00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53657"/>
            <a:ext cx="12192000" cy="667766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Model</a:t>
            </a:r>
            <a:r>
              <a:rPr lang="ru-RU" sz="2400" b="1" dirty="0"/>
              <a:t> (Модель):</a:t>
            </a:r>
            <a:r>
              <a:rPr lang="ru-RU" sz="2400" dirty="0"/>
              <a:t> «Мозг» и данные.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Хранит состояние приложения и бизнес-логику.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Работает с базой данных.</a:t>
            </a:r>
          </a:p>
          <a:p>
            <a:pPr lvl="1">
              <a:lnSpc>
                <a:spcPct val="150000"/>
              </a:lnSpc>
            </a:pPr>
            <a:r>
              <a:rPr lang="ru-RU" sz="2400" i="1" dirty="0"/>
              <a:t>Пример:</a:t>
            </a:r>
            <a:r>
              <a:rPr lang="ru-RU" sz="2400" dirty="0"/>
              <a:t> класс </a:t>
            </a:r>
            <a:r>
              <a:rPr lang="ru-RU" sz="2400" dirty="0" err="1"/>
              <a:t>Product</a:t>
            </a:r>
            <a:r>
              <a:rPr lang="ru-RU" sz="2400" dirty="0"/>
              <a:t> со свойствами </a:t>
            </a:r>
            <a:r>
              <a:rPr lang="ru-RU" sz="2400" dirty="0" err="1"/>
              <a:t>Name</a:t>
            </a:r>
            <a:r>
              <a:rPr lang="ru-RU" sz="2400" dirty="0"/>
              <a:t> и </a:t>
            </a:r>
            <a:r>
              <a:rPr lang="ru-RU" sz="2400" dirty="0" err="1"/>
              <a:t>Price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View</a:t>
            </a:r>
            <a:r>
              <a:rPr lang="ru-RU" sz="2400" b="1" dirty="0"/>
              <a:t> (Представление):</a:t>
            </a:r>
            <a:r>
              <a:rPr lang="ru-RU" sz="2400" dirty="0"/>
              <a:t> «Лицо» системы.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Отвечает за визуализацию данных. В вебе это обычно </a:t>
            </a:r>
            <a:r>
              <a:rPr lang="ru-RU" sz="2400" b="1" dirty="0"/>
              <a:t>HTML-страница</a:t>
            </a:r>
            <a:r>
              <a:rPr lang="ru-RU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Содержит минимум логики (только для отображения).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Controller</a:t>
            </a:r>
            <a:r>
              <a:rPr lang="ru-RU" sz="2400" b="1" dirty="0"/>
              <a:t> (Контроллер):</a:t>
            </a:r>
            <a:r>
              <a:rPr lang="ru-RU" sz="2400" dirty="0"/>
              <a:t> «Посредник» и диспетчер.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Принимает HTTP-запрос от пользователя.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Дает команды Модели (например, «сохрани этот товар»).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Выбирает, какое Представление показать пользователю в ответ.</a:t>
            </a:r>
          </a:p>
        </p:txBody>
      </p:sp>
    </p:spTree>
    <p:extLst>
      <p:ext uri="{BB962C8B-B14F-4D97-AF65-F5344CB8AC3E}">
        <p14:creationId xmlns:p14="http://schemas.microsoft.com/office/powerpoint/2010/main" val="305862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3579"/>
            <a:ext cx="12192000" cy="696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6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Жизненный цикл запроса в MVC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В отличие от </a:t>
            </a:r>
            <a:r>
              <a:rPr lang="ru-RU" sz="2400" dirty="0" err="1"/>
              <a:t>десктопных</a:t>
            </a:r>
            <a:r>
              <a:rPr lang="ru-RU" sz="2400" dirty="0"/>
              <a:t> приложений, здесь всё работает по циклу </a:t>
            </a:r>
            <a:r>
              <a:rPr lang="ru-RU" sz="2400" b="1" dirty="0" err="1"/>
              <a:t>Request</a:t>
            </a:r>
            <a:r>
              <a:rPr lang="ru-RU" sz="2400" b="1" dirty="0"/>
              <a:t> -&gt; </a:t>
            </a:r>
            <a:r>
              <a:rPr lang="ru-RU" sz="2400" b="1" dirty="0" err="1"/>
              <a:t>Response</a:t>
            </a:r>
            <a:r>
              <a:rPr lang="ru-RU" sz="2400" dirty="0"/>
              <a:t>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Пользователь</a:t>
            </a:r>
            <a:r>
              <a:rPr lang="ru-RU" sz="2400" dirty="0"/>
              <a:t> вводит URL или жмет кнопку (отправляет запрос).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Контроллер</a:t>
            </a:r>
            <a:r>
              <a:rPr lang="ru-RU" sz="2400" dirty="0"/>
              <a:t> ловит запрос и понимает, что нужно сделать.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Контроллер</a:t>
            </a:r>
            <a:r>
              <a:rPr lang="ru-RU" sz="2400" dirty="0"/>
              <a:t> обращается к </a:t>
            </a:r>
            <a:r>
              <a:rPr lang="ru-RU" sz="2400" b="1" dirty="0"/>
              <a:t>Модели</a:t>
            </a:r>
            <a:r>
              <a:rPr lang="ru-RU" sz="2400" dirty="0"/>
              <a:t>, чтобы получить или изменить данные.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Модель</a:t>
            </a:r>
            <a:r>
              <a:rPr lang="ru-RU" sz="2400" dirty="0"/>
              <a:t> возвращает результат.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Контроллер</a:t>
            </a:r>
            <a:r>
              <a:rPr lang="ru-RU" sz="2400" dirty="0"/>
              <a:t> передает эти данные в </a:t>
            </a:r>
            <a:r>
              <a:rPr lang="ru-RU" sz="2400" b="1" dirty="0"/>
              <a:t>Представление</a:t>
            </a:r>
            <a:r>
              <a:rPr lang="ru-RU" sz="24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Представление</a:t>
            </a:r>
            <a:r>
              <a:rPr lang="ru-RU" sz="2400" dirty="0"/>
              <a:t> генерирует HTML-код и отправляет его обратно пользователю.</a:t>
            </a:r>
          </a:p>
        </p:txBody>
      </p:sp>
    </p:spTree>
    <p:extLst>
      <p:ext uri="{BB962C8B-B14F-4D97-AF65-F5344CB8AC3E}">
        <p14:creationId xmlns:p14="http://schemas.microsoft.com/office/powerpoint/2010/main" val="3294434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58368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MVC </a:t>
            </a:r>
            <a:r>
              <a:rPr lang="ru-RU" sz="2400" b="1" dirty="0" err="1"/>
              <a:t>vs</a:t>
            </a:r>
            <a:r>
              <a:rPr lang="ru-RU" sz="2400" b="1" dirty="0"/>
              <a:t> MVVM — В чем разница?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483094"/>
              </p:ext>
            </p:extLst>
          </p:nvPr>
        </p:nvGraphicFramePr>
        <p:xfrm>
          <a:off x="838200" y="710686"/>
          <a:ext cx="10515600" cy="5943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400" b="1" dirty="0">
                          <a:effectLst/>
                          <a:latin typeface="+mn-lt"/>
                        </a:rPr>
                        <a:t>Характеристика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+mn-lt"/>
                        </a:rPr>
                        <a:t>MVVM (</a:t>
                      </a:r>
                      <a:r>
                        <a:rPr lang="en-US" sz="2400" b="1" dirty="0" err="1">
                          <a:effectLst/>
                          <a:latin typeface="+mn-lt"/>
                        </a:rPr>
                        <a:t>Avalonia</a:t>
                      </a:r>
                      <a:r>
                        <a:rPr lang="en-US" sz="2400" b="1" dirty="0">
                          <a:effectLst/>
                          <a:latin typeface="+mn-lt"/>
                        </a:rPr>
                        <a:t>/WPF)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  <a:latin typeface="+mn-lt"/>
                        </a:rPr>
                        <a:t>MVC (ASP.NET Core)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1">
                          <a:effectLst/>
                          <a:latin typeface="+mn-lt"/>
                        </a:rPr>
                        <a:t>Связь</a:t>
                      </a:r>
                      <a:endParaRPr lang="ru-RU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>
                          <a:effectLst/>
                          <a:latin typeface="+mn-lt"/>
                        </a:rPr>
                        <a:t>Живая (Data Binding)</a:t>
                      </a:r>
                      <a:r>
                        <a:rPr lang="ru-RU" sz="2400" b="0">
                          <a:effectLst/>
                          <a:latin typeface="+mn-lt"/>
                        </a:rPr>
                        <a:t>. Изменили поле в коде — оно само поменялось на экране.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>
                          <a:effectLst/>
                          <a:latin typeface="+mn-lt"/>
                        </a:rPr>
                        <a:t>Статичная (Request-Response)</a:t>
                      </a:r>
                      <a:r>
                        <a:rPr lang="ru-RU" sz="2400" b="0">
                          <a:effectLst/>
                          <a:latin typeface="+mn-lt"/>
                        </a:rPr>
                        <a:t>. Чтобы увидеть изменения, нужно обновить страницу.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1">
                          <a:effectLst/>
                          <a:latin typeface="+mn-lt"/>
                        </a:rPr>
                        <a:t>Состояние</a:t>
                      </a:r>
                      <a:endParaRPr lang="ru-RU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effectLst/>
                          <a:latin typeface="+mn-lt"/>
                        </a:rPr>
                        <a:t>Приложение «живет» в памяти всё время работы.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effectLst/>
                          <a:latin typeface="+mn-lt"/>
                        </a:rPr>
                        <a:t>Приложение «просыпается» на время обработки запроса и «засыпает» после ответа.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1">
                          <a:effectLst/>
                          <a:latin typeface="+mn-lt"/>
                        </a:rPr>
                        <a:t>Посредник</a:t>
                      </a:r>
                      <a:endParaRPr lang="ru-RU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effectLst/>
                          <a:latin typeface="+mn-lt"/>
                        </a:rPr>
                        <a:t>ViewModel (</a:t>
                      </a:r>
                      <a:r>
                        <a:rPr lang="ru-RU" sz="2400" b="0">
                          <a:effectLst/>
                          <a:latin typeface="+mn-lt"/>
                        </a:rPr>
                        <a:t>связывает свойства).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/>
                          <a:latin typeface="+mn-lt"/>
                        </a:rPr>
                        <a:t>Controller (</a:t>
                      </a:r>
                      <a:r>
                        <a:rPr lang="ru-RU" sz="2400" b="0" dirty="0">
                          <a:effectLst/>
                          <a:latin typeface="+mn-lt"/>
                        </a:rPr>
                        <a:t>маршрутизирует запросы).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99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Плюсы использования MVC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Удобство тестирования:</a:t>
            </a:r>
            <a:r>
              <a:rPr lang="ru-RU" sz="2400" dirty="0"/>
              <a:t> Можно протестировать логику (Модель), не запуская браузер.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Гибкость:</a:t>
            </a:r>
            <a:r>
              <a:rPr lang="ru-RU" sz="2400" dirty="0"/>
              <a:t> Можно легко заменить HTML-представление на мобильное приложение (API), не меняя логику Модели.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Чистота:</a:t>
            </a:r>
            <a:r>
              <a:rPr lang="ru-RU" sz="2400" dirty="0"/>
              <a:t> Код становится предсказуемым. Вы всегда знаете, где искать обработку запроса, а где — разметку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2815680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Маршрутизация</a:t>
            </a:r>
            <a:r>
              <a:rPr lang="ru-RU" sz="2400" dirty="0"/>
              <a:t> — это механизм, который сопоставляет входящий HTTP-запрос (URL) с конкретным методом контроллера.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Как это работает: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Когда вы вводите адрес в браузере, ASP.NET </a:t>
            </a:r>
            <a:r>
              <a:rPr lang="ru-RU" sz="2400" dirty="0" err="1"/>
              <a:t>Core</a:t>
            </a:r>
            <a:r>
              <a:rPr lang="ru-RU" sz="2400" dirty="0"/>
              <a:t> разбирает его на части по определенному шаблону, чтобы понять, какой код запустить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ru-RU" sz="2400" b="1" dirty="0"/>
              <a:t>Настройка в </a:t>
            </a:r>
            <a:r>
              <a:rPr lang="ru-RU" sz="2400" b="1" dirty="0" err="1"/>
              <a:t>Program.cs</a:t>
            </a:r>
            <a:r>
              <a:rPr lang="ru-RU" sz="2400" b="1" dirty="0"/>
              <a:t>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Чтобы включить поддержку контроллеров и задать правила их поиска, используется метод </a:t>
            </a:r>
            <a:r>
              <a:rPr lang="ru-RU" sz="2400" dirty="0" err="1"/>
              <a:t>MapControllerRoute</a:t>
            </a:r>
            <a:r>
              <a:rPr lang="ru-RU" sz="2400" dirty="0"/>
              <a:t>: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MapControllerRoute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"default"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pattern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2400" dirty="0" smtClean="0">
                <a:solidFill>
                  <a:srgbClr val="FF00C1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en-US" sz="2400" dirty="0" smtClean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Маршрутизация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Routing)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2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Стандартный шаблон состоит из трёх сегментов: 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ru-RU" sz="2400" b="1" dirty="0" smtClean="0"/>
              <a:t>{</a:t>
            </a:r>
            <a:r>
              <a:rPr lang="ru-RU" sz="2400" b="1" dirty="0" err="1"/>
              <a:t>controller</a:t>
            </a:r>
            <a:r>
              <a:rPr lang="ru-RU" sz="2400" b="1" dirty="0"/>
              <a:t>}/{</a:t>
            </a:r>
            <a:r>
              <a:rPr lang="ru-RU" sz="2400" b="1" dirty="0" err="1"/>
              <a:t>action</a:t>
            </a:r>
            <a:r>
              <a:rPr lang="ru-RU" sz="2400" b="1" dirty="0"/>
              <a:t>}/{</a:t>
            </a:r>
            <a:r>
              <a:rPr lang="ru-RU" sz="2400" b="1" dirty="0" err="1"/>
              <a:t>id</a:t>
            </a:r>
            <a:r>
              <a:rPr lang="ru-RU" sz="2400" b="1" dirty="0" smtClean="0"/>
              <a:t>}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{</a:t>
            </a:r>
            <a:r>
              <a:rPr lang="ru-RU" sz="2400" b="1" dirty="0" err="1"/>
              <a:t>controller</a:t>
            </a:r>
            <a:r>
              <a:rPr lang="ru-RU" sz="2400" b="1" dirty="0"/>
              <a:t>=</a:t>
            </a:r>
            <a:r>
              <a:rPr lang="ru-RU" sz="2400" b="1" dirty="0" err="1"/>
              <a:t>Home</a:t>
            </a:r>
            <a:r>
              <a:rPr lang="ru-RU" sz="2400" b="1" dirty="0"/>
              <a:t>}</a:t>
            </a:r>
            <a:r>
              <a:rPr lang="ru-RU" sz="2400" dirty="0"/>
              <a:t>: Имя контроллера.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Если не указано, сервер ищет </a:t>
            </a:r>
            <a:r>
              <a:rPr lang="ru-RU" sz="2400" dirty="0" err="1"/>
              <a:t>HomeController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{</a:t>
            </a:r>
            <a:r>
              <a:rPr lang="ru-RU" sz="2400" b="1" dirty="0" err="1"/>
              <a:t>action</a:t>
            </a:r>
            <a:r>
              <a:rPr lang="ru-RU" sz="2400" b="1" dirty="0"/>
              <a:t>=</a:t>
            </a:r>
            <a:r>
              <a:rPr lang="ru-RU" sz="2400" b="1" dirty="0" err="1"/>
              <a:t>Index</a:t>
            </a:r>
            <a:r>
              <a:rPr lang="ru-RU" sz="2400" b="1" dirty="0"/>
              <a:t>}</a:t>
            </a:r>
            <a:r>
              <a:rPr lang="ru-RU" sz="2400" dirty="0"/>
              <a:t>: Имя метода (действия) внутри этого контроллера.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Если не указано, вызывается метод </a:t>
            </a:r>
            <a:r>
              <a:rPr lang="ru-RU" sz="2400" dirty="0" err="1"/>
              <a:t>Index</a:t>
            </a:r>
            <a:r>
              <a:rPr lang="ru-RU" sz="2400" dirty="0"/>
              <a:t>().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{</a:t>
            </a:r>
            <a:r>
              <a:rPr lang="ru-RU" sz="2400" b="1" dirty="0" err="1"/>
              <a:t>id</a:t>
            </a:r>
            <a:r>
              <a:rPr lang="ru-RU" sz="2400" b="1" dirty="0"/>
              <a:t>?}</a:t>
            </a:r>
            <a:r>
              <a:rPr lang="ru-RU" sz="2400" dirty="0"/>
              <a:t>: Необязательный параметр.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Знак вопроса означает, что запрос может быть и без ID (например, просто список товаров).</a:t>
            </a:r>
          </a:p>
        </p:txBody>
      </p:sp>
    </p:spTree>
    <p:extLst>
      <p:ext uri="{BB962C8B-B14F-4D97-AF65-F5344CB8AC3E}">
        <p14:creationId xmlns:p14="http://schemas.microsoft.com/office/powerpoint/2010/main" val="315228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Стандартный шаблон состоит из трёх сегментов</a:t>
            </a:r>
            <a:r>
              <a:rPr lang="ru-RU" sz="2400" dirty="0" smtClean="0"/>
              <a:t>:</a:t>
            </a:r>
            <a:endParaRPr lang="en-US" sz="2400" dirty="0" smtClean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 smtClean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 smtClean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 smtClean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Важное правило именования: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Если в шаблоне указано имя контроллера </a:t>
            </a:r>
            <a:r>
              <a:rPr lang="ru-RU" sz="2400" dirty="0" err="1"/>
              <a:t>Home</a:t>
            </a:r>
            <a:r>
              <a:rPr lang="ru-RU" sz="2400" dirty="0"/>
              <a:t>, сервер будет искать файл с именем </a:t>
            </a:r>
            <a:r>
              <a:rPr lang="ru-RU" sz="2400" dirty="0" err="1"/>
              <a:t>HomeController.cs</a:t>
            </a:r>
            <a:r>
              <a:rPr lang="ru-RU" sz="2400" dirty="0"/>
              <a:t>. Суффикс </a:t>
            </a:r>
            <a:r>
              <a:rPr lang="ru-RU" sz="2400" b="1" dirty="0" err="1"/>
              <a:t>Controller</a:t>
            </a:r>
            <a:r>
              <a:rPr lang="ru-RU" sz="2400" dirty="0"/>
              <a:t> в коде обязателен, но в URL он не пишется. </a:t>
            </a:r>
            <a:endParaRPr lang="en-US" sz="2400" dirty="0" smtClean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659064"/>
              </p:ext>
            </p:extLst>
          </p:nvPr>
        </p:nvGraphicFramePr>
        <p:xfrm>
          <a:off x="330199" y="869474"/>
          <a:ext cx="11531601" cy="3383280"/>
        </p:xfrm>
        <a:graphic>
          <a:graphicData uri="http://schemas.openxmlformats.org/drawingml/2006/table">
            <a:tbl>
              <a:tblPr/>
              <a:tblGrid>
                <a:gridCol w="3644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2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3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+mn-lt"/>
                        </a:rPr>
                        <a:t>URL </a:t>
                      </a:r>
                      <a:r>
                        <a:rPr lang="ru-RU" sz="2400" b="1" dirty="0">
                          <a:effectLst/>
                          <a:latin typeface="+mn-lt"/>
                        </a:rPr>
                        <a:t>в браузере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effectLst/>
                          <a:latin typeface="+mn-lt"/>
                        </a:rPr>
                        <a:t>Какой код сработает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>
                          <a:effectLst/>
                          <a:latin typeface="+mn-lt"/>
                        </a:rPr>
                        <a:t>Что произойдет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mysite.com/</a:t>
                      </a:r>
                      <a:endParaRPr lang="en-US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HomeController.Index</a:t>
                      </a:r>
                      <a:r>
                        <a:rPr lang="en-US" sz="2400" b="0" dirty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b="0" dirty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effectLst/>
                          <a:latin typeface="+mn-lt"/>
                        </a:rPr>
                        <a:t>Откроется главная страница (значения по умолчанию).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mysite.com/Shop/List</a:t>
                      </a:r>
                      <a:endParaRPr lang="en-US" sz="2400" b="0" dirty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ShopController.List()</a:t>
                      </a:r>
                      <a:endParaRPr lang="en-US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>
                          <a:effectLst/>
                          <a:latin typeface="+mn-lt"/>
                        </a:rPr>
                        <a:t>Вызовется метод List в контроллере Shop.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 smtClean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mysite.com/Product/Details/5</a:t>
                      </a:r>
                      <a:endParaRPr lang="en-US" sz="2400" b="0" dirty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ProductController.Details(5)</a:t>
                      </a:r>
                      <a:endParaRPr lang="en-US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dirty="0">
                          <a:effectLst/>
                          <a:latin typeface="+mn-lt"/>
                        </a:rPr>
                        <a:t>Откроются детали товара с ID = 5.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64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654356"/>
            <a:ext cx="12192000" cy="578004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b="1" dirty="0"/>
              <a:t>Контроллер</a:t>
            </a:r>
            <a:r>
              <a:rPr lang="ru-RU" sz="2400" dirty="0"/>
              <a:t> — это обычный C#-класс, который наследуется от базового класса </a:t>
            </a:r>
            <a:r>
              <a:rPr lang="ru-RU" sz="2400" dirty="0" err="1"/>
              <a:t>Controller</a:t>
            </a:r>
            <a:r>
              <a:rPr lang="ru-RU" sz="2400" dirty="0"/>
              <a:t>. Он группирует логику для работы с определенной частью сайта (например, товары или пользователи).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Действие (</a:t>
            </a:r>
            <a:r>
              <a:rPr lang="ru-RU" sz="2400" b="1" dirty="0" err="1"/>
              <a:t>Action</a:t>
            </a:r>
            <a:r>
              <a:rPr lang="ru-RU" sz="2400" b="1" dirty="0"/>
              <a:t>):</a:t>
            </a:r>
            <a:r>
              <a:rPr lang="ru-RU" sz="2400" dirty="0"/>
              <a:t> Публичный метод внутри контроллера. Каждый такой метод может стать точкой входа для HTTP-запроса.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Условность:</a:t>
            </a:r>
            <a:r>
              <a:rPr lang="ru-RU" sz="2400" dirty="0"/>
              <a:t> Контроллеры принято хранить в папке </a:t>
            </a:r>
            <a:r>
              <a:rPr lang="ru-RU" sz="2400" dirty="0" err="1"/>
              <a:t>Controllers</a:t>
            </a:r>
            <a:r>
              <a:rPr lang="ru-RU" sz="2400" dirty="0"/>
              <a:t>, а их имена должны заканчиваться суффиксом </a:t>
            </a:r>
            <a:r>
              <a:rPr lang="ru-RU" sz="2400" dirty="0" err="1"/>
              <a:t>Controller</a:t>
            </a:r>
            <a:r>
              <a:rPr lang="ru-RU" sz="2400" dirty="0"/>
              <a:t> (например, </a:t>
            </a:r>
            <a:r>
              <a:rPr lang="ru-RU" sz="2400" dirty="0" err="1"/>
              <a:t>ProductController</a:t>
            </a:r>
            <a:r>
              <a:rPr lang="ru-RU" sz="2400" dirty="0" smtClean="0"/>
              <a:t>).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HomeController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Это действие будет отвечать на запрос /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"Привет, это главная страница!"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Контроллеры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11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Чтобы передать данные в метод, достаточно добавить параметры в его сигнатуру. ASP.NET </a:t>
            </a:r>
            <a:r>
              <a:rPr lang="ru-RU" sz="2400" dirty="0" err="1"/>
              <a:t>Core</a:t>
            </a:r>
            <a:r>
              <a:rPr lang="ru-RU" sz="2400" dirty="0"/>
              <a:t> автоматически найдет их в строке запроса (</a:t>
            </a:r>
            <a:r>
              <a:rPr lang="ru-RU" sz="2400" b="1" dirty="0" err="1"/>
              <a:t>Query</a:t>
            </a:r>
            <a:r>
              <a:rPr lang="ru-RU" sz="2400" b="1" dirty="0"/>
              <a:t> </a:t>
            </a:r>
            <a:r>
              <a:rPr lang="ru-RU" sz="2400" b="1" dirty="0" err="1"/>
              <a:t>String</a:t>
            </a:r>
            <a:r>
              <a:rPr lang="ru-RU" sz="2400" dirty="0"/>
              <a:t>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Синтаксис URL:</a:t>
            </a:r>
            <a:r>
              <a:rPr lang="ru-RU" sz="2400" dirty="0"/>
              <a:t> Параметры начинаются после знака </a:t>
            </a:r>
            <a:r>
              <a:rPr lang="ru-RU" sz="2400" b="1" dirty="0"/>
              <a:t>?</a:t>
            </a:r>
            <a:r>
              <a:rPr lang="ru-RU" sz="2400" dirty="0"/>
              <a:t> и разделяются символом </a:t>
            </a:r>
            <a:r>
              <a:rPr lang="ru-RU" sz="2400" b="1" dirty="0"/>
              <a:t>&amp;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Пример:</a:t>
            </a:r>
            <a:r>
              <a:rPr lang="ru-RU" sz="2400" dirty="0"/>
              <a:t> </a:t>
            </a:r>
            <a:r>
              <a:rPr lang="ru-RU" sz="2400" dirty="0" smtClean="0"/>
              <a:t>localhost:7000/</a:t>
            </a:r>
            <a:r>
              <a:rPr lang="ru-RU" sz="2400" dirty="0" err="1" smtClean="0"/>
              <a:t>Home</a:t>
            </a:r>
            <a:r>
              <a:rPr lang="ru-RU" sz="2400" dirty="0" smtClean="0"/>
              <a:t>/</a:t>
            </a:r>
            <a:r>
              <a:rPr lang="ru-RU" sz="2400" dirty="0" err="1" smtClean="0"/>
              <a:t>Index?name</a:t>
            </a:r>
            <a:r>
              <a:rPr lang="ru-RU" sz="2400" dirty="0" smtClean="0"/>
              <a:t>=</a:t>
            </a:r>
            <a:r>
              <a:rPr lang="ru-RU" sz="2400" dirty="0" err="1" smtClean="0"/>
              <a:t>Tom&amp;age</a:t>
            </a:r>
            <a:r>
              <a:rPr lang="ru-RU" sz="2400" dirty="0" smtClean="0"/>
              <a:t>=37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Сервер сам найдет '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и '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age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в URL и подставит их сюда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Имя: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Возраст: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2121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Сервер умеет собирать не только строки, но и целые классы (или рекорды). Это называется </a:t>
            </a:r>
            <a:r>
              <a:rPr lang="ru-RU" sz="2400" b="1" dirty="0"/>
              <a:t>автоматическим связыванием моделей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Условие:</a:t>
            </a:r>
            <a:r>
              <a:rPr lang="ru-RU" sz="2400" dirty="0"/>
              <a:t> Имена ключей в URL должны совпадать с именами свойств в классе (регистр не важен).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Запрос:</a:t>
            </a:r>
            <a:r>
              <a:rPr lang="ru-RU" sz="2400" dirty="0"/>
              <a:t> .../</a:t>
            </a:r>
            <a:r>
              <a:rPr lang="ru-RU" sz="2400" dirty="0" err="1" smtClean="0"/>
              <a:t>Home</a:t>
            </a:r>
            <a:r>
              <a:rPr lang="ru-RU" sz="2400" dirty="0" smtClean="0"/>
              <a:t>/</a:t>
            </a:r>
            <a:r>
              <a:rPr lang="ru-RU" sz="2400" dirty="0" err="1" smtClean="0"/>
              <a:t>UserDetails?Name</a:t>
            </a:r>
            <a:r>
              <a:rPr lang="ru-RU" sz="2400" dirty="0" smtClean="0"/>
              <a:t>=</a:t>
            </a:r>
            <a:r>
              <a:rPr lang="ru-RU" sz="2400" dirty="0" err="1" smtClean="0"/>
              <a:t>Alice&amp;Age</a:t>
            </a:r>
            <a:r>
              <a:rPr lang="ru-RU" sz="2400" dirty="0" smtClean="0"/>
              <a:t>=25</a:t>
            </a:r>
          </a:p>
          <a:p>
            <a:pPr>
              <a:lnSpc>
                <a:spcPct val="150000"/>
              </a:lnSpc>
            </a:pPr>
            <a:endParaRPr lang="ru-RU" sz="2400" dirty="0" smtClean="0"/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record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HomeController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Объект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будет создан и заполнен автоматически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UserDetails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$"Пользователь: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Возраст: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4931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Если нам нужно передать несколько объектов сразу, используется индексированный синтаксис в URL.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Пример URL:</a:t>
            </a:r>
            <a:r>
              <a:rPr lang="ru-RU" sz="2400" dirty="0"/>
              <a:t> ...?</a:t>
            </a:r>
            <a:r>
              <a:rPr lang="ru-RU" sz="2400" dirty="0" err="1"/>
              <a:t>people</a:t>
            </a:r>
            <a:r>
              <a:rPr lang="ru-RU" sz="2400" dirty="0"/>
              <a:t>[0].</a:t>
            </a:r>
            <a:r>
              <a:rPr lang="ru-RU" sz="2400" dirty="0" err="1"/>
              <a:t>Name</a:t>
            </a:r>
            <a:r>
              <a:rPr lang="ru-RU" sz="2400" dirty="0"/>
              <a:t>=</a:t>
            </a:r>
            <a:r>
              <a:rPr lang="ru-RU" sz="2400" dirty="0" err="1"/>
              <a:t>Tom&amp;people</a:t>
            </a:r>
            <a:r>
              <a:rPr lang="ru-RU" sz="2400" dirty="0"/>
              <a:t>[1].</a:t>
            </a:r>
            <a:r>
              <a:rPr lang="ru-RU" sz="2400" dirty="0" err="1"/>
              <a:t>Name</a:t>
            </a:r>
            <a:r>
              <a:rPr lang="ru-RU" sz="2400" dirty="0"/>
              <a:t>=</a:t>
            </a:r>
            <a:r>
              <a:rPr lang="ru-RU" sz="2400" dirty="0" err="1"/>
              <a:t>Bob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Упрощенный вариант:</a:t>
            </a:r>
            <a:r>
              <a:rPr lang="ru-RU" sz="2400" dirty="0"/>
              <a:t> ...?[0].</a:t>
            </a:r>
            <a:r>
              <a:rPr lang="ru-RU" sz="2400" dirty="0" err="1"/>
              <a:t>Name</a:t>
            </a:r>
            <a:r>
              <a:rPr lang="ru-RU" sz="2400" dirty="0"/>
              <a:t>=</a:t>
            </a:r>
            <a:r>
              <a:rPr lang="ru-RU" sz="2400" dirty="0" err="1"/>
              <a:t>Tom</a:t>
            </a:r>
            <a:r>
              <a:rPr lang="ru-RU" sz="2400" dirty="0"/>
              <a:t>&amp;[1].</a:t>
            </a:r>
            <a:r>
              <a:rPr lang="ru-RU" sz="2400" dirty="0" err="1"/>
              <a:t>Name</a:t>
            </a:r>
            <a:r>
              <a:rPr lang="ru-RU" sz="2400" dirty="0"/>
              <a:t>=</a:t>
            </a:r>
            <a:r>
              <a:rPr lang="ru-RU" sz="2400" dirty="0" err="1"/>
              <a:t>Bob</a:t>
            </a:r>
            <a:r>
              <a:rPr lang="ru-RU" sz="2400" dirty="0"/>
              <a:t> (индексы позволяют серверу понять, какие свойства к какому объекту относятся</a:t>
            </a:r>
            <a:r>
              <a:rPr lang="ru-RU" sz="2400" dirty="0" smtClean="0"/>
              <a:t>).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people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Список: 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 smtClean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people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US" sz="2400" dirty="0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"; 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940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Настройка сервера (</a:t>
            </a:r>
            <a:r>
              <a:rPr lang="ru-RU" sz="2400" b="1" dirty="0" err="1"/>
              <a:t>Program.cs</a:t>
            </a:r>
            <a:r>
              <a:rPr lang="ru-RU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Этот файл — точка входа. Здесь мы говорим системе, что будем использовать контроллеры и настраиваем правила их поиска в URL</a:t>
            </a:r>
            <a:r>
              <a:rPr lang="ru-RU" sz="2400" dirty="0" smtClean="0"/>
              <a:t>.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Добавляем поддержку контроллеров в контейнер зависимостей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.Services.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AddControllers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Настраиваем маршрутизацию по шаблону: Контроллер/Метод/ID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MapControllerRoute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"default"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pattern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2400" dirty="0">
                <a:solidFill>
                  <a:srgbClr val="FF00C1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ru-RU" sz="2400" dirty="0"/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Пример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50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HomeController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"Добро пожаловать в MVC приложение!"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Hello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Привет,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Тебе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age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лет."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AddContact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Контакт сохранен: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contact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тел: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contact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.Phone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Модель данных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record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Phone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8748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76999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b="1" dirty="0"/>
              <a:t>Связь через имена:</a:t>
            </a:r>
            <a:r>
              <a:rPr lang="ru-RU" sz="2400" dirty="0"/>
              <a:t> В </a:t>
            </a:r>
            <a:r>
              <a:rPr lang="ru-RU" sz="2400" dirty="0" err="1"/>
              <a:t>Program.cs</a:t>
            </a:r>
            <a:r>
              <a:rPr lang="ru-RU" sz="2400" dirty="0"/>
              <a:t> мы указали {</a:t>
            </a:r>
            <a:r>
              <a:rPr lang="ru-RU" sz="2400" dirty="0" err="1"/>
              <a:t>controller</a:t>
            </a:r>
            <a:r>
              <a:rPr lang="ru-RU" sz="2400" dirty="0"/>
              <a:t>=</a:t>
            </a:r>
            <a:r>
              <a:rPr lang="ru-RU" sz="2400" dirty="0" err="1"/>
              <a:t>Home</a:t>
            </a:r>
            <a:r>
              <a:rPr lang="ru-RU" sz="2400" dirty="0"/>
              <a:t>}. Это значит, что если пользователь ничего не ввел в адресе, сервер будет искать класс </a:t>
            </a:r>
            <a:r>
              <a:rPr lang="ru-RU" sz="2400" dirty="0" err="1"/>
              <a:t>HomeController</a:t>
            </a:r>
            <a:r>
              <a:rPr lang="ru-RU" sz="2400" dirty="0"/>
              <a:t>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Типизация:</a:t>
            </a:r>
            <a:r>
              <a:rPr lang="ru-RU" sz="2400" dirty="0"/>
              <a:t> Заметьте, что в методе </a:t>
            </a:r>
            <a:r>
              <a:rPr lang="ru-RU" sz="2400" dirty="0" err="1"/>
              <a:t>Hello</a:t>
            </a:r>
            <a:r>
              <a:rPr lang="ru-RU" sz="2400" dirty="0"/>
              <a:t> параметр </a:t>
            </a:r>
            <a:r>
              <a:rPr lang="ru-RU" sz="2400" dirty="0" err="1"/>
              <a:t>age</a:t>
            </a:r>
            <a:r>
              <a:rPr lang="ru-RU" sz="2400" dirty="0"/>
              <a:t> имеет тип </a:t>
            </a:r>
            <a:r>
              <a:rPr lang="ru-RU" sz="2400" b="1" dirty="0" err="1"/>
              <a:t>int</a:t>
            </a:r>
            <a:r>
              <a:rPr lang="ru-RU" sz="2400" dirty="0"/>
              <a:t>. Если пользователь введет в браузере </a:t>
            </a:r>
            <a:r>
              <a:rPr lang="ru-RU" sz="2400" dirty="0" err="1"/>
              <a:t>age</a:t>
            </a:r>
            <a:r>
              <a:rPr lang="ru-RU" sz="2400" dirty="0"/>
              <a:t>=</a:t>
            </a:r>
            <a:r>
              <a:rPr lang="ru-RU" sz="2400" dirty="0" err="1"/>
              <a:t>abc</a:t>
            </a:r>
            <a:r>
              <a:rPr lang="ru-RU" sz="2400" dirty="0"/>
              <a:t>, сервер не упадет с ошибкой, а подставит значение по умолчанию (0), так как сработал встроенный механизм защиты.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Отсутствие </a:t>
            </a:r>
            <a:r>
              <a:rPr lang="ru-RU" sz="2400" b="1" dirty="0" err="1"/>
              <a:t>View</a:t>
            </a:r>
            <a:r>
              <a:rPr lang="ru-RU" sz="2400" b="1" dirty="0"/>
              <a:t>:</a:t>
            </a:r>
            <a:r>
              <a:rPr lang="ru-RU" sz="2400" dirty="0"/>
              <a:t> Мы возвращаем </a:t>
            </a:r>
            <a:r>
              <a:rPr lang="ru-RU" sz="2400" dirty="0" err="1"/>
              <a:t>string</a:t>
            </a:r>
            <a:r>
              <a:rPr lang="ru-RU" sz="2400" dirty="0"/>
              <a:t>. В реальных проектах методы чаще возвращают </a:t>
            </a:r>
            <a:r>
              <a:rPr lang="ru-RU" sz="2400" dirty="0" err="1"/>
              <a:t>IActionResult</a:t>
            </a:r>
            <a:r>
              <a:rPr lang="ru-RU" sz="2400" dirty="0"/>
              <a:t> (для отображения HTML или JSON), но для понимания основ «запрос-ответ» возврат строки — самый наглядный способ.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Маршрутизация по умолчанию:</a:t>
            </a:r>
            <a:r>
              <a:rPr lang="ru-RU" sz="2400" dirty="0"/>
              <a:t> Благодаря знаку вопроса в {</a:t>
            </a:r>
            <a:r>
              <a:rPr lang="ru-RU" sz="2400" dirty="0" err="1"/>
              <a:t>id</a:t>
            </a:r>
            <a:r>
              <a:rPr lang="ru-RU" sz="2400" dirty="0"/>
              <a:t>?}, наши методы </a:t>
            </a:r>
            <a:r>
              <a:rPr lang="ru-RU" sz="2400" dirty="0" err="1"/>
              <a:t>Index</a:t>
            </a:r>
            <a:r>
              <a:rPr lang="ru-RU" sz="2400" dirty="0"/>
              <a:t> и </a:t>
            </a:r>
            <a:r>
              <a:rPr lang="ru-RU" sz="2400" dirty="0" err="1"/>
              <a:t>Hello</a:t>
            </a:r>
            <a:r>
              <a:rPr lang="ru-RU" sz="2400" dirty="0"/>
              <a:t> работают, даже если мы не передаем никакого ID в конце адреса.</a:t>
            </a:r>
          </a:p>
        </p:txBody>
      </p:sp>
    </p:spTree>
    <p:extLst>
      <p:ext uri="{BB962C8B-B14F-4D97-AF65-F5344CB8AC3E}">
        <p14:creationId xmlns:p14="http://schemas.microsoft.com/office/powerpoint/2010/main" val="384212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Как это протестировать: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Запустите проект и введите в браузере: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https://localhost:XXXX/ — увидите приветствие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605" y="2006473"/>
            <a:ext cx="5340790" cy="238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2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230832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/>
              <a:t>https</a:t>
            </a:r>
            <a:r>
              <a:rPr lang="ru-RU" sz="2400" dirty="0"/>
              <a:t>://localhost:XXXX/Home/Hello?name=Студент&amp;age=21 — увидите именное приветствие.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https://localhost:XXXX/Home/AddContact?Name=Ivan&amp;Phone=123 — увидите подтверждение сохранения контакта.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609" y="2308324"/>
            <a:ext cx="9652781" cy="221509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044" y="4523422"/>
            <a:ext cx="10107909" cy="221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5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View</a:t>
            </a:r>
            <a:r>
              <a:rPr lang="ru-RU" sz="2400" dirty="0"/>
              <a:t> — это компонент, отвечающий за генерацию HTML-кода, который увидит пользователь в браузере.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Файлы .</a:t>
            </a:r>
            <a:r>
              <a:rPr lang="ru-RU" sz="2400" b="1" dirty="0" err="1"/>
              <a:t>cshtml</a:t>
            </a:r>
            <a:r>
              <a:rPr lang="ru-RU" sz="2400" b="1" dirty="0"/>
              <a:t>:</a:t>
            </a:r>
            <a:r>
              <a:rPr lang="ru-RU" sz="2400" dirty="0"/>
              <a:t> Специальный формат, объединяющий стандартную разметку HTML и программную логику C#.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Местоположение:</a:t>
            </a:r>
            <a:r>
              <a:rPr lang="ru-RU" sz="2400" dirty="0"/>
              <a:t> По умолчанию хранятся в папке /</a:t>
            </a:r>
            <a:r>
              <a:rPr lang="ru-RU" sz="2400" dirty="0" err="1"/>
              <a:t>Views</a:t>
            </a:r>
            <a:r>
              <a:rPr lang="ru-RU" sz="2400" dirty="0"/>
              <a:t>/[</a:t>
            </a:r>
            <a:r>
              <a:rPr lang="ru-RU" sz="2400" dirty="0" err="1"/>
              <a:t>ИмяКонтроллера</a:t>
            </a:r>
            <a:r>
              <a:rPr lang="ru-RU" sz="2400" dirty="0"/>
              <a:t>]/.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Роль Контроллера:</a:t>
            </a:r>
            <a:r>
              <a:rPr lang="ru-RU" sz="2400" dirty="0"/>
              <a:t> Он не «рисует» страницу </a:t>
            </a:r>
            <a:r>
              <a:rPr lang="ru-RU" sz="2400" dirty="0" smtClean="0"/>
              <a:t>сам.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ru-RU" sz="2400" dirty="0" smtClean="0"/>
              <a:t>Метод</a:t>
            </a:r>
            <a:r>
              <a:rPr lang="ru-RU" sz="2400" dirty="0"/>
              <a:t> </a:t>
            </a:r>
            <a:r>
              <a:rPr lang="ru-RU" sz="2400" b="1" dirty="0" err="1"/>
              <a:t>return</a:t>
            </a:r>
            <a:r>
              <a:rPr lang="ru-RU" sz="2400" b="1" dirty="0"/>
              <a:t> </a:t>
            </a:r>
            <a:r>
              <a:rPr lang="ru-RU" sz="2400" b="1" dirty="0" err="1"/>
              <a:t>View</a:t>
            </a:r>
            <a:r>
              <a:rPr lang="ru-RU" sz="2400" b="1" dirty="0"/>
              <a:t>();</a:t>
            </a:r>
            <a:r>
              <a:rPr lang="ru-RU" sz="2400" dirty="0"/>
              <a:t> дает команду серверу: «Найди файл с таким же именем, как у метода, и преврати его в HTML».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Представления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Views)</a:t>
            </a:r>
          </a:p>
        </p:txBody>
      </p:sp>
    </p:spTree>
    <p:extLst>
      <p:ext uri="{BB962C8B-B14F-4D97-AF65-F5344CB8AC3E}">
        <p14:creationId xmlns:p14="http://schemas.microsoft.com/office/powerpoint/2010/main" val="202476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Razor</a:t>
            </a:r>
            <a:r>
              <a:rPr lang="ru-RU" sz="2400" dirty="0"/>
              <a:t> — это движок представлений, который позволяет встраивать серверный код прямо в разметку страницы.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Символ @</a:t>
            </a:r>
            <a:r>
              <a:rPr lang="ru-RU" sz="2400" dirty="0"/>
              <a:t>: Магический знак для </a:t>
            </a:r>
            <a:r>
              <a:rPr lang="ru-RU" sz="2400" dirty="0" err="1"/>
              <a:t>Razor</a:t>
            </a:r>
            <a:r>
              <a:rPr lang="ru-RU" sz="2400" dirty="0"/>
              <a:t>. Всё, что идет после него, воспринимается как код на C#.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Динамика:</a:t>
            </a:r>
            <a:r>
              <a:rPr lang="ru-RU" sz="2400" dirty="0"/>
              <a:t> Вы можете использовать переменные, условия и циклы прямо внутри HTML.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Пример</a:t>
            </a:r>
            <a:r>
              <a:rPr lang="ru-RU" sz="2400" b="1" dirty="0" smtClean="0"/>
              <a:t>:</a:t>
            </a:r>
            <a:endParaRPr lang="en-US" sz="2400" b="1" dirty="0" smtClean="0"/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Сегодняшняя дата: @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ToShortDateString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DateTime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.Now.Hour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12)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h1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Доброе утро!</a:t>
            </a:r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h1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3234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Самый надежный и профессиональный способ передать данные из контроллера во </a:t>
            </a:r>
            <a:r>
              <a:rPr lang="ru-RU" sz="2400" dirty="0" err="1"/>
              <a:t>View</a:t>
            </a:r>
            <a:r>
              <a:rPr lang="ru-RU" sz="2400" dirty="0"/>
              <a:t> — это </a:t>
            </a:r>
            <a:r>
              <a:rPr lang="ru-RU" sz="2400" b="1" dirty="0"/>
              <a:t>строгая типизация</a:t>
            </a:r>
            <a:r>
              <a:rPr lang="ru-RU" sz="2400" dirty="0"/>
              <a:t> через директиву @</a:t>
            </a:r>
            <a:r>
              <a:rPr lang="ru-RU" sz="2400" dirty="0" err="1"/>
              <a:t>model</a:t>
            </a:r>
            <a:r>
              <a:rPr lang="ru-RU" sz="2400" dirty="0"/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В контроллере:</a:t>
            </a:r>
            <a:r>
              <a:rPr lang="ru-RU" sz="2400" dirty="0"/>
              <a:t> передаем объект или список в метод </a:t>
            </a:r>
            <a:r>
              <a:rPr lang="ru-RU" sz="2400" dirty="0" err="1"/>
              <a:t>View</a:t>
            </a:r>
            <a:r>
              <a:rPr lang="ru-RU" sz="2400" dirty="0"/>
              <a:t>().</a:t>
            </a:r>
            <a:br>
              <a:rPr lang="ru-RU" sz="2400" dirty="0"/>
            </a:br>
            <a:r>
              <a:rPr lang="ru-RU" sz="2400" dirty="0" err="1"/>
              <a:t>return</a:t>
            </a:r>
            <a:r>
              <a:rPr lang="ru-RU" sz="2400" dirty="0"/>
              <a:t> </a:t>
            </a:r>
            <a:r>
              <a:rPr lang="ru-RU" sz="2400" dirty="0" err="1"/>
              <a:t>View</a:t>
            </a:r>
            <a:r>
              <a:rPr lang="ru-RU" sz="2400" dirty="0"/>
              <a:t>(</a:t>
            </a:r>
            <a:r>
              <a:rPr lang="ru-RU" sz="2400" dirty="0" err="1"/>
              <a:t>usersList</a:t>
            </a:r>
            <a:r>
              <a:rPr lang="ru-RU" sz="2400" dirty="0"/>
              <a:t>);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Во </a:t>
            </a:r>
            <a:r>
              <a:rPr lang="ru-RU" sz="2400" b="1" dirty="0" err="1"/>
              <a:t>View</a:t>
            </a:r>
            <a:r>
              <a:rPr lang="ru-RU" sz="2400" b="1" dirty="0"/>
              <a:t>:</a:t>
            </a:r>
            <a:r>
              <a:rPr lang="ru-RU" sz="2400" dirty="0"/>
              <a:t> указываем тип данных в самой первой строчке.</a:t>
            </a:r>
            <a:br>
              <a:rPr lang="ru-RU" sz="2400" dirty="0"/>
            </a:br>
            <a:r>
              <a:rPr lang="ru-RU" sz="2400" dirty="0"/>
              <a:t>@</a:t>
            </a:r>
            <a:r>
              <a:rPr lang="ru-RU" sz="2400" dirty="0" err="1"/>
              <a:t>model</a:t>
            </a:r>
            <a:r>
              <a:rPr lang="ru-RU" sz="2400" dirty="0"/>
              <a:t> </a:t>
            </a:r>
            <a:r>
              <a:rPr lang="ru-RU" sz="2400" dirty="0" err="1"/>
              <a:t>List</a:t>
            </a:r>
            <a:r>
              <a:rPr lang="ru-RU" sz="2400" dirty="0"/>
              <a:t>&lt;</a:t>
            </a:r>
            <a:r>
              <a:rPr lang="ru-RU" sz="2400" dirty="0" err="1"/>
              <a:t>User</a:t>
            </a:r>
            <a:r>
              <a:rPr lang="ru-RU" sz="2400" dirty="0"/>
              <a:t>&gt;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Почему это круто?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 err="1"/>
              <a:t>IntelliSense</a:t>
            </a:r>
            <a:r>
              <a:rPr lang="ru-RU" sz="2400" b="1" dirty="0"/>
              <a:t>:</a:t>
            </a:r>
            <a:r>
              <a:rPr lang="ru-RU" sz="2400" dirty="0"/>
              <a:t> </a:t>
            </a:r>
            <a:r>
              <a:rPr lang="ru-RU" sz="2400" dirty="0" err="1"/>
              <a:t>Visual</a:t>
            </a:r>
            <a:r>
              <a:rPr lang="ru-RU" sz="2400" dirty="0"/>
              <a:t> </a:t>
            </a:r>
            <a:r>
              <a:rPr lang="ru-RU" sz="2400" dirty="0" err="1"/>
              <a:t>Studio</a:t>
            </a:r>
            <a:r>
              <a:rPr lang="ru-RU" sz="2400" dirty="0"/>
              <a:t> будет подсказывать свойства объекта при наборе кода.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Безопасность:</a:t>
            </a:r>
            <a:r>
              <a:rPr lang="ru-RU" sz="2400" dirty="0"/>
              <a:t> Ошибки в именах свойств будут видны еще при сборке проекта, а не в браузере.</a:t>
            </a:r>
          </a:p>
        </p:txBody>
      </p:sp>
    </p:spTree>
    <p:extLst>
      <p:ext uri="{BB962C8B-B14F-4D97-AF65-F5344CB8AC3E}">
        <p14:creationId xmlns:p14="http://schemas.microsoft.com/office/powerpoint/2010/main" val="145787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i="1" dirty="0"/>
              <a:t>Показываем, как за секунду вывести таблицу из базы данных.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Код во </a:t>
            </a:r>
            <a:r>
              <a:rPr lang="ru-RU" sz="2400" b="1" dirty="0" err="1"/>
              <a:t>View</a:t>
            </a:r>
            <a:r>
              <a:rPr lang="ru-RU" sz="2400" b="1" dirty="0"/>
              <a:t> (</a:t>
            </a:r>
            <a:r>
              <a:rPr lang="ru-RU" sz="2400" b="1" dirty="0" err="1"/>
              <a:t>Index.cshtml</a:t>
            </a:r>
            <a:r>
              <a:rPr lang="ru-RU" sz="2400" b="1" dirty="0" smtClean="0"/>
              <a:t>):</a:t>
            </a:r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@model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h3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Список участников (@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Model.Count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):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h3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ul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@</a:t>
            </a:r>
            <a:r>
              <a:rPr lang="en-US" sz="2400" dirty="0" err="1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Model)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Студент: @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li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ul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</a:p>
          <a:p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/>
              <a:t>Результат:</a:t>
            </a:r>
            <a:r>
              <a:rPr lang="ru-RU" sz="2400" dirty="0"/>
              <a:t> </a:t>
            </a:r>
            <a:r>
              <a:rPr lang="ru-RU" sz="2400" dirty="0" err="1"/>
              <a:t>Razor</a:t>
            </a:r>
            <a:r>
              <a:rPr lang="ru-RU" sz="2400" dirty="0"/>
              <a:t> пройдется циклом по списку и сгенерирует столько тегов &lt;</a:t>
            </a:r>
            <a:r>
              <a:rPr lang="ru-RU" sz="2400" dirty="0" err="1"/>
              <a:t>li</a:t>
            </a:r>
            <a:r>
              <a:rPr lang="ru-RU" sz="2400" dirty="0"/>
              <a:t>&gt;, сколько имен в массиве.</a:t>
            </a:r>
          </a:p>
        </p:txBody>
      </p:sp>
    </p:spTree>
    <p:extLst>
      <p:ext uri="{BB962C8B-B14F-4D97-AF65-F5344CB8AC3E}">
        <p14:creationId xmlns:p14="http://schemas.microsoft.com/office/powerpoint/2010/main" val="95306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Работа с формами обычно состоит из двух этапов (двух методов в контроллере):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GET-запрос:</a:t>
            </a:r>
            <a:r>
              <a:rPr lang="ru-RU" sz="2400" dirty="0"/>
              <a:t> Пользователь хочет увидеть страницу. Сервер отдает </a:t>
            </a:r>
            <a:r>
              <a:rPr lang="ru-RU" sz="2400" b="1" dirty="0"/>
              <a:t>пустую форму</a:t>
            </a:r>
            <a:r>
              <a:rPr lang="ru-RU" sz="2400" dirty="0"/>
              <a:t> для заполнения.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POST-запрос:</a:t>
            </a:r>
            <a:r>
              <a:rPr lang="ru-RU" sz="2400" dirty="0"/>
              <a:t> Пользователь нажал кнопку «Отправить». Браузер пакует данные из полей и отправляет их в </a:t>
            </a:r>
            <a:r>
              <a:rPr lang="ru-RU" sz="2400" b="1" dirty="0"/>
              <a:t>тело запроса</a:t>
            </a:r>
            <a:r>
              <a:rPr lang="ru-RU" sz="2400" dirty="0"/>
              <a:t> на сервер для обработки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Важно:</a:t>
            </a:r>
            <a:r>
              <a:rPr lang="ru-RU" sz="2400" dirty="0"/>
              <a:t> Для безопасности ASP.NET </a:t>
            </a:r>
            <a:r>
              <a:rPr lang="ru-RU" sz="2400" dirty="0" err="1"/>
              <a:t>Core</a:t>
            </a:r>
            <a:r>
              <a:rPr lang="ru-RU" sz="2400" dirty="0"/>
              <a:t> автоматически защищает формы от подделки (CSRF-атаки) с помощью специального </a:t>
            </a:r>
            <a:r>
              <a:rPr lang="ru-RU" sz="2400" dirty="0" err="1"/>
              <a:t>токена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757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Вместо сложного написания путей вручную, мы используем </a:t>
            </a:r>
            <a:r>
              <a:rPr lang="ru-RU" sz="2400" b="1" dirty="0" err="1"/>
              <a:t>Tag</a:t>
            </a:r>
            <a:r>
              <a:rPr lang="ru-RU" sz="2400" b="1" dirty="0"/>
              <a:t> </a:t>
            </a:r>
            <a:r>
              <a:rPr lang="ru-RU" sz="2400" b="1" dirty="0" err="1"/>
              <a:t>Helpers</a:t>
            </a:r>
            <a:r>
              <a:rPr lang="ru-RU" sz="2400" dirty="0"/>
              <a:t> — атрибуты, которые начинаются с </a:t>
            </a:r>
            <a:r>
              <a:rPr lang="ru-RU" sz="2400" dirty="0" err="1"/>
              <a:t>asp</a:t>
            </a:r>
            <a:r>
              <a:rPr lang="ru-RU" sz="2400" dirty="0"/>
              <a:t>-.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asp-controller</a:t>
            </a:r>
            <a:r>
              <a:rPr lang="ru-RU" sz="2400" dirty="0"/>
              <a:t>: К какому контроллеру отправить форму.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asp-action</a:t>
            </a:r>
            <a:r>
              <a:rPr lang="ru-RU" sz="2400" dirty="0"/>
              <a:t>: Какой метод вызвать.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asp-for</a:t>
            </a:r>
            <a:r>
              <a:rPr lang="ru-RU" sz="2400" dirty="0"/>
              <a:t>: Связывает поле ввода (</a:t>
            </a:r>
            <a:r>
              <a:rPr lang="ru-RU" sz="2400" dirty="0" err="1"/>
              <a:t>input</a:t>
            </a:r>
            <a:r>
              <a:rPr lang="ru-RU" sz="2400" dirty="0"/>
              <a:t>) со свойством модели.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Пример формы</a:t>
            </a:r>
            <a:r>
              <a:rPr lang="ru-RU" sz="2400" b="1" dirty="0" smtClean="0"/>
              <a:t>: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endParaRPr lang="en-US" sz="2400" b="1" dirty="0" smtClean="0"/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@model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asp-action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="Create"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="post"&gt;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Введите имя:</a:t>
            </a:r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label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input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="text"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asp-for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="submit"&gt;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Сохранить</a:t>
            </a:r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button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2400" b="1" dirty="0">
                <a:solidFill>
                  <a:srgbClr val="800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form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4889500" y="2892336"/>
            <a:ext cx="7150100" cy="15696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Name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5128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Когда форма отправлена (POST), контроллер должен принять эти данные. Благодаря </a:t>
            </a:r>
            <a:r>
              <a:rPr lang="ru-RU" sz="2400" b="1" dirty="0" err="1"/>
              <a:t>Model</a:t>
            </a:r>
            <a:r>
              <a:rPr lang="ru-RU" sz="2400" b="1" dirty="0"/>
              <a:t> </a:t>
            </a:r>
            <a:r>
              <a:rPr lang="ru-RU" sz="2400" b="1" dirty="0" err="1"/>
              <a:t>Binding</a:t>
            </a:r>
            <a:r>
              <a:rPr lang="ru-RU" sz="2400" dirty="0"/>
              <a:t>, сервер сам создаст объект из полей формы</a:t>
            </a:r>
            <a:r>
              <a:rPr lang="ru-RU" sz="2400" dirty="0" smtClean="0"/>
              <a:t>.</a:t>
            </a:r>
            <a:endParaRPr lang="en-US" sz="2400" dirty="0"/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HttpGet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Для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 </a:t>
            </a:r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вызываем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 - </a:t>
            </a:r>
            <a:r>
              <a:rPr lang="en-US" sz="2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Create.cshtml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HttpPost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Указываем, что метод только для POST-запросов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product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Сохраняем продукт в базу данных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Перенаправляем пользователя на список товаров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RedirectToAction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"Index"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2379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 smtClean="0"/>
              <a:t>Не забываем добавить поддержку представлений </a:t>
            </a:r>
            <a:r>
              <a:rPr lang="en-US" sz="2400" b="1" dirty="0" err="1" smtClean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AddControllersWithViews</a:t>
            </a:r>
            <a:r>
              <a:rPr lang="ru-RU" sz="2400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r>
              <a:rPr lang="en-US" sz="24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WebApplication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.Services.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AddControllersWithViews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MapControllerRoute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"default"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pattern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controller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Home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action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2400" dirty="0">
                <a:solidFill>
                  <a:srgbClr val="FF00C1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</a:t>
            </a:r>
            <a:r>
              <a:rPr lang="en-US" sz="2400" dirty="0">
                <a:solidFill>
                  <a:srgbClr val="0073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3557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2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16383</TotalTime>
  <Words>787</Words>
  <Application>Microsoft Office PowerPoint</Application>
  <PresentationFormat>Широкоэкранный</PresentationFormat>
  <Paragraphs>361</Paragraphs>
  <Slides>38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4" baseType="lpstr">
      <vt:lpstr>Arial</vt:lpstr>
      <vt:lpstr>Bookman Old Style</vt:lpstr>
      <vt:lpstr>Calibri</vt:lpstr>
      <vt:lpstr>Cascadia Mono</vt:lpstr>
      <vt:lpstr>Times New Roman</vt:lpstr>
      <vt:lpstr>Тема Office</vt:lpstr>
      <vt:lpstr>6 семестр Лекция 5. 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1015</cp:revision>
  <dcterms:modified xsi:type="dcterms:W3CDTF">2026-02-16T17:57:29Z</dcterms:modified>
</cp:coreProperties>
</file>