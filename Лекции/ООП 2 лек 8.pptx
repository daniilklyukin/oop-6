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1"/>
  </p:notesMasterIdLst>
  <p:sldIdLst>
    <p:sldId id="273" r:id="rId2"/>
    <p:sldId id="1147" r:id="rId3"/>
    <p:sldId id="1238" r:id="rId4"/>
    <p:sldId id="1239" r:id="rId5"/>
    <p:sldId id="1240" r:id="rId6"/>
    <p:sldId id="1241" r:id="rId7"/>
    <p:sldId id="1242" r:id="rId8"/>
    <p:sldId id="1243" r:id="rId9"/>
    <p:sldId id="122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0400"/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82509" autoAdjust="0"/>
  </p:normalViewPr>
  <p:slideViewPr>
    <p:cSldViewPr snapToGrid="0">
      <p:cViewPr>
        <p:scale>
          <a:sx n="75" d="100"/>
          <a:sy n="75" d="100"/>
        </p:scale>
        <p:origin x="936" y="450"/>
      </p:cViewPr>
      <p:guideLst>
        <p:guide orient="horz" pos="2137"/>
        <p:guide pos="386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0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40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41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94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06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47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17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39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=""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=""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=""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26758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 smtClean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=""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1596416"/>
            <a:ext cx="10670534" cy="1696998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6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8. 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лекции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</a:t>
            </a:r>
            <a:r>
              <a:rPr lang="ru-RU" sz="1800" b="1" dirty="0" smtClean="0">
                <a:solidFill>
                  <a:srgbClr val="292929"/>
                </a:solidFill>
                <a:latin typeface="Bookman Old Style" pitchFamily="18" charset="0"/>
              </a:rPr>
              <a:t>ст. преподаватель каф</a:t>
            </a:r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. </a:t>
            </a:r>
            <a:r>
              <a:rPr lang="ru-RU" sz="1800" b="1" dirty="0" err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sz="1800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3293414"/>
            <a:ext cx="1104134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Философия Чистой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архитектуры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Слои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Разделение моделей (Модель </a:t>
            </a:r>
            <a:r>
              <a:rPr lang="ru-RU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vs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Entity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vs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DTO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REST API и принципы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взаимодействия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Swagger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и </a:t>
            </a:r>
            <a:r>
              <a:rPr lang="ru-RU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Postman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 как проверять работу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сервера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Docker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— «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упаковка» приложения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Философия Чистой архитектуры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7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Проблема:</a:t>
            </a:r>
            <a:r>
              <a:rPr lang="ru-RU" sz="2400" dirty="0"/>
              <a:t> В обычных проектах код «перепутан». Если вы меняете структуру таблицы в базе данных, у вас «ломается» кнопка на экране. Это называется </a:t>
            </a:r>
            <a:r>
              <a:rPr lang="ru-RU" sz="2400" b="1" dirty="0"/>
              <a:t>жесткой связанностью</a:t>
            </a:r>
            <a:r>
              <a:rPr lang="ru-RU" sz="2400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161616"/>
                </a:solidFill>
                <a:latin typeface="Bookman Old Style" panose="02050604050505020204" pitchFamily="18" charset="0"/>
              </a:rPr>
              <a:t>"Если вы считаете, что хорошая архитектура дорого, попробуйте плохую архитектуру". - </a:t>
            </a:r>
            <a:r>
              <a:rPr lang="ru-RU" sz="2400" i="1" dirty="0">
                <a:solidFill>
                  <a:srgbClr val="161616"/>
                </a:solidFill>
                <a:latin typeface="Bookman Old Style" panose="02050604050505020204" pitchFamily="18" charset="0"/>
              </a:rPr>
              <a:t>Брайан Колон и Джозеф </a:t>
            </a:r>
            <a:r>
              <a:rPr lang="ru-RU" sz="2400" i="1" dirty="0" err="1" smtClean="0">
                <a:solidFill>
                  <a:srgbClr val="161616"/>
                </a:solidFill>
                <a:latin typeface="Bookman Old Style" panose="02050604050505020204" pitchFamily="18" charset="0"/>
              </a:rPr>
              <a:t>Yoder</a:t>
            </a:r>
            <a:endParaRPr lang="ru-RU" sz="2400" i="1" dirty="0">
              <a:solidFill>
                <a:srgbClr val="161616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69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7818082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endParaRPr lang="ru-RU" sz="2400" b="1" i="1" dirty="0" smtClean="0">
              <a:solidFill>
                <a:srgbClr val="161616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/>
              <a:t>Решение: Чистая архитектура (Роберт Мартин, 2017 г</a:t>
            </a:r>
            <a:r>
              <a:rPr lang="ru-RU" sz="2400" b="1" dirty="0" smtClean="0"/>
              <a:t>.)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/>
              <a:t>Это </a:t>
            </a:r>
            <a:r>
              <a:rPr lang="ru-RU" sz="2400" dirty="0"/>
              <a:t>подход, при котором ядро программы (бизнес-логика) полностью изолировано от внешних инструментов (БД, Веб, Сторонние API</a:t>
            </a:r>
            <a:r>
              <a:rPr lang="ru-RU" sz="2400" dirty="0" smtClean="0"/>
              <a:t>).</a:t>
            </a:r>
            <a:endParaRPr lang="ru-RU" sz="2400" b="1" i="1" dirty="0">
              <a:solidFill>
                <a:srgbClr val="161616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i="1" dirty="0">
              <a:solidFill>
                <a:srgbClr val="161616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/>
              <a:t>Главная мысль:</a:t>
            </a:r>
            <a:r>
              <a:rPr lang="ru-RU" sz="2400" dirty="0"/>
              <a:t> «База данных и Веб — это лишь детали реализации. Они не должны диктовать, как работает ваш бизнес».</a:t>
            </a:r>
            <a:endParaRPr lang="ru-RU" sz="2400" b="1" i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082" y="317158"/>
            <a:ext cx="4373918" cy="610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0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67702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Концепция «Луковицы» (</a:t>
            </a:r>
            <a:r>
              <a:rPr lang="ru-RU" sz="2400" b="1" dirty="0" err="1"/>
              <a:t>Onion</a:t>
            </a:r>
            <a:r>
              <a:rPr lang="ru-RU" sz="2400" b="1" dirty="0"/>
              <a:t> </a:t>
            </a:r>
            <a:r>
              <a:rPr lang="ru-RU" sz="2400" b="1" dirty="0" err="1"/>
              <a:t>Architecture</a:t>
            </a:r>
            <a:r>
              <a:rPr lang="ru-RU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Приложение представляется в виде концентрических колец. Чем ближе слой к центру, тем он «чище» и важнее.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Центр (</a:t>
            </a:r>
            <a:r>
              <a:rPr lang="ru-RU" sz="2400" b="1" dirty="0" err="1"/>
              <a:t>Domain</a:t>
            </a:r>
            <a:r>
              <a:rPr lang="ru-RU" sz="2400" b="1" dirty="0"/>
              <a:t>):</a:t>
            </a:r>
            <a:r>
              <a:rPr lang="ru-RU" sz="2400" dirty="0"/>
              <a:t> Сущности и правила бизнеса. Это то, за что заказчик платит деньги (например, логика расчета скидки).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Слой </a:t>
            </a:r>
            <a:r>
              <a:rPr lang="ru-RU" sz="2400" b="1" dirty="0" err="1"/>
              <a:t>Application</a:t>
            </a:r>
            <a:r>
              <a:rPr lang="ru-RU" sz="2400" b="1" dirty="0"/>
              <a:t>:</a:t>
            </a:r>
            <a:r>
              <a:rPr lang="ru-RU" sz="2400" dirty="0"/>
              <a:t> Сценарии использования (</a:t>
            </a:r>
            <a:r>
              <a:rPr lang="ru-RU" sz="2400" dirty="0" err="1"/>
              <a:t>Use</a:t>
            </a:r>
            <a:r>
              <a:rPr lang="ru-RU" sz="2400" dirty="0"/>
              <a:t> </a:t>
            </a:r>
            <a:r>
              <a:rPr lang="ru-RU" sz="2400" dirty="0" err="1"/>
              <a:t>Cases</a:t>
            </a:r>
            <a:r>
              <a:rPr lang="ru-RU" sz="2400" dirty="0"/>
              <a:t>). Координация данных.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Внешние слои (</a:t>
            </a:r>
            <a:r>
              <a:rPr lang="ru-RU" sz="2400" b="1" dirty="0" err="1"/>
              <a:t>Infrastructure</a:t>
            </a:r>
            <a:r>
              <a:rPr lang="ru-RU" sz="2400" b="1" dirty="0"/>
              <a:t> / UI):</a:t>
            </a:r>
            <a:r>
              <a:rPr lang="ru-RU" sz="2400" dirty="0"/>
              <a:t> Технические детали. SQL-запросы, HTML-страницы, отправка SMS.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В чем секрет:</a:t>
            </a:r>
            <a:r>
              <a:rPr lang="ru-RU" sz="2400" dirty="0"/>
              <a:t> Если завтра вместо SQL вы решите хранить данные в текстовом файле, вы измените только внешнее кольцо. </a:t>
            </a:r>
            <a:r>
              <a:rPr lang="ru-RU" sz="2400" b="1" dirty="0"/>
              <a:t>Ядро программы останется нетронутым.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1532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513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5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Золотое правило зависимостей</a:t>
            </a:r>
          </a:p>
          <a:p>
            <a:pPr>
              <a:lnSpc>
                <a:spcPct val="150000"/>
              </a:lnSpc>
            </a:pPr>
            <a:endParaRPr lang="ru-RU" sz="2400" b="1" dirty="0" smtClean="0"/>
          </a:p>
          <a:p>
            <a:pPr>
              <a:lnSpc>
                <a:spcPct val="150000"/>
              </a:lnSpc>
            </a:pPr>
            <a:r>
              <a:rPr lang="ru-RU" sz="2400" b="1" dirty="0" smtClean="0"/>
              <a:t>Направление </a:t>
            </a:r>
            <a:r>
              <a:rPr lang="ru-RU" sz="2400" b="1" dirty="0"/>
              <a:t>зависимостей:</a:t>
            </a:r>
            <a:r>
              <a:rPr lang="ru-RU" sz="2400" dirty="0"/>
              <a:t> Внешние слои могут знать о внутренних, но внутренние слои </a:t>
            </a:r>
            <a:r>
              <a:rPr lang="ru-RU" sz="2400" b="1" dirty="0"/>
              <a:t>никогда</a:t>
            </a:r>
            <a:r>
              <a:rPr lang="ru-RU" sz="2400" dirty="0"/>
              <a:t> не должны знать ничего о внешних</a:t>
            </a:r>
            <a:r>
              <a:rPr lang="ru-RU" sz="2400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UI знает про </a:t>
            </a:r>
            <a:r>
              <a:rPr lang="ru-RU" sz="2400" b="1" dirty="0" err="1"/>
              <a:t>Domain</a:t>
            </a:r>
            <a:r>
              <a:rPr lang="ru-RU" sz="2400" b="1" dirty="0"/>
              <a:t>:</a:t>
            </a:r>
            <a:r>
              <a:rPr lang="ru-RU" sz="2400" dirty="0"/>
              <a:t> Чтобы отобразить данные.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err="1"/>
              <a:t>Domain</a:t>
            </a:r>
            <a:r>
              <a:rPr lang="ru-RU" sz="2400" b="1" dirty="0"/>
              <a:t> не знает про UI:</a:t>
            </a:r>
            <a:r>
              <a:rPr lang="ru-RU" sz="2400" dirty="0"/>
              <a:t> Ему всё равно, где его вызвали — в браузере, в мобильном приложении или в автоматическом тесте.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Как это работает на практике?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Мы используем интерфейсы в центре, а их реализацию «подсовываем» из внешних слоев через DI-контейнер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0209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Плюсы для </a:t>
            </a:r>
            <a:r>
              <a:rPr lang="ru-RU" sz="2400" b="1" dirty="0" smtClean="0"/>
              <a:t>профи</a:t>
            </a:r>
            <a:endParaRPr lang="ru-RU" sz="24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Тестируемость:</a:t>
            </a:r>
            <a:r>
              <a:rPr lang="ru-RU" sz="2400" dirty="0"/>
              <a:t> Вы можете написать тесты на всю логику программы, даже не создавая базу данных и не запуская сервер.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Независимость от </a:t>
            </a:r>
            <a:r>
              <a:rPr lang="ru-RU" sz="2400" b="1" dirty="0" err="1"/>
              <a:t>фреймворков</a:t>
            </a:r>
            <a:r>
              <a:rPr lang="ru-RU" sz="2400" b="1" dirty="0"/>
              <a:t>:</a:t>
            </a:r>
            <a:r>
              <a:rPr lang="ru-RU" sz="2400" dirty="0"/>
              <a:t> Если завтра ASP.NET </a:t>
            </a:r>
            <a:r>
              <a:rPr lang="ru-RU" sz="2400" dirty="0" err="1"/>
              <a:t>Core</a:t>
            </a:r>
            <a:r>
              <a:rPr lang="ru-RU" sz="2400" dirty="0"/>
              <a:t> устареет, вы сможете перенести свое ядро (</a:t>
            </a:r>
            <a:r>
              <a:rPr lang="ru-RU" sz="2400" dirty="0" err="1"/>
              <a:t>Domain</a:t>
            </a:r>
            <a:r>
              <a:rPr lang="ru-RU" sz="2400" dirty="0"/>
              <a:t>) на любую другую платформу.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Параллельная разработка:</a:t>
            </a:r>
            <a:r>
              <a:rPr lang="ru-RU" sz="2400" dirty="0"/>
              <a:t> Один программист может писать логику в </a:t>
            </a:r>
            <a:r>
              <a:rPr lang="ru-RU" sz="2400" dirty="0" err="1"/>
              <a:t>Domain</a:t>
            </a:r>
            <a:r>
              <a:rPr lang="ru-RU" sz="2400" dirty="0"/>
              <a:t>, а другой — настраивать базу данных в </a:t>
            </a:r>
            <a:r>
              <a:rPr lang="ru-RU" sz="2400" dirty="0" err="1"/>
              <a:t>Infrastructure</a:t>
            </a:r>
            <a:r>
              <a:rPr lang="ru-RU" sz="2400" dirty="0"/>
              <a:t>, не мешая друг другу.</a:t>
            </a:r>
          </a:p>
        </p:txBody>
      </p:sp>
    </p:spTree>
    <p:extLst>
      <p:ext uri="{BB962C8B-B14F-4D97-AF65-F5344CB8AC3E}">
        <p14:creationId xmlns:p14="http://schemas.microsoft.com/office/powerpoint/2010/main" val="373534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Слои приложения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7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Проблема:</a:t>
            </a:r>
            <a:r>
              <a:rPr lang="ru-RU" sz="2400" dirty="0"/>
              <a:t> В обычных проектах код «перепутан». Если вы меняете структуру таблицы в базе данных, у вас «ломается» кнопка на экране. Это называется </a:t>
            </a:r>
            <a:r>
              <a:rPr lang="ru-RU" sz="2400" b="1" dirty="0"/>
              <a:t>жесткой связанностью</a:t>
            </a:r>
            <a:r>
              <a:rPr lang="ru-RU" sz="2400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161616"/>
                </a:solidFill>
                <a:latin typeface="Bookman Old Style" panose="02050604050505020204" pitchFamily="18" charset="0"/>
              </a:rPr>
              <a:t>"Если вы считаете, что хорошая архитектура дорого, попробуйте плохую архитектуру". - </a:t>
            </a:r>
            <a:r>
              <a:rPr lang="ru-RU" sz="2400" i="1" dirty="0">
                <a:solidFill>
                  <a:srgbClr val="161616"/>
                </a:solidFill>
                <a:latin typeface="Bookman Old Style" panose="02050604050505020204" pitchFamily="18" charset="0"/>
              </a:rPr>
              <a:t>Брайан Колон и Джозеф </a:t>
            </a:r>
            <a:r>
              <a:rPr lang="ru-RU" sz="2400" i="1" dirty="0" err="1" smtClean="0">
                <a:solidFill>
                  <a:srgbClr val="161616"/>
                </a:solidFill>
                <a:latin typeface="Bookman Old Style" panose="02050604050505020204" pitchFamily="18" charset="0"/>
              </a:rPr>
              <a:t>Yoder</a:t>
            </a:r>
            <a:endParaRPr lang="ru-RU" sz="2400" i="1" dirty="0">
              <a:solidFill>
                <a:srgbClr val="161616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77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513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4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17865</TotalTime>
  <Words>149</Words>
  <Application>Microsoft Office PowerPoint</Application>
  <PresentationFormat>Широкоэкранный</PresentationFormat>
  <Paragraphs>48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Calibri</vt:lpstr>
      <vt:lpstr>Times New Roman</vt:lpstr>
      <vt:lpstr>Тема Office</vt:lpstr>
      <vt:lpstr>6 семестр Лекция 8. 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m10</cp:lastModifiedBy>
  <cp:revision>1092</cp:revision>
  <dcterms:modified xsi:type="dcterms:W3CDTF">2026-02-17T13:15:58Z</dcterms:modified>
</cp:coreProperties>
</file>