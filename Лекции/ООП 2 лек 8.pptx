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36"/>
  </p:notesMasterIdLst>
  <p:sldIdLst>
    <p:sldId id="273" r:id="rId2"/>
    <p:sldId id="1147" r:id="rId3"/>
    <p:sldId id="1238" r:id="rId4"/>
    <p:sldId id="1239" r:id="rId5"/>
    <p:sldId id="1240" r:id="rId6"/>
    <p:sldId id="1241" r:id="rId7"/>
    <p:sldId id="1242" r:id="rId8"/>
    <p:sldId id="1243" r:id="rId9"/>
    <p:sldId id="1247" r:id="rId10"/>
    <p:sldId id="1248" r:id="rId11"/>
    <p:sldId id="1249" r:id="rId12"/>
    <p:sldId id="1250" r:id="rId13"/>
    <p:sldId id="1251" r:id="rId14"/>
    <p:sldId id="1256" r:id="rId15"/>
    <p:sldId id="1257" r:id="rId16"/>
    <p:sldId id="1258" r:id="rId17"/>
    <p:sldId id="1259" r:id="rId18"/>
    <p:sldId id="1260" r:id="rId19"/>
    <p:sldId id="1261" r:id="rId20"/>
    <p:sldId id="1262" r:id="rId21"/>
    <p:sldId id="1263" r:id="rId22"/>
    <p:sldId id="1264" r:id="rId23"/>
    <p:sldId id="1265" r:id="rId24"/>
    <p:sldId id="1266" r:id="rId25"/>
    <p:sldId id="1267" r:id="rId26"/>
    <p:sldId id="1268" r:id="rId27"/>
    <p:sldId id="1269" r:id="rId28"/>
    <p:sldId id="1270" r:id="rId29"/>
    <p:sldId id="1271" r:id="rId30"/>
    <p:sldId id="1272" r:id="rId31"/>
    <p:sldId id="1273" r:id="rId32"/>
    <p:sldId id="1274" r:id="rId33"/>
    <p:sldId id="1275" r:id="rId34"/>
    <p:sldId id="1225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0400"/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 autoAdjust="0"/>
    <p:restoredTop sz="82509" autoAdjust="0"/>
  </p:normalViewPr>
  <p:slideViewPr>
    <p:cSldViewPr snapToGrid="0">
      <p:cViewPr varScale="1">
        <p:scale>
          <a:sx n="78" d="100"/>
          <a:sy n="78" d="100"/>
        </p:scale>
        <p:origin x="96" y="1278"/>
      </p:cViewPr>
      <p:guideLst>
        <p:guide orient="horz" pos="2137"/>
        <p:guide pos="3863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-654"/>
    </p:cViewPr>
  </p:sorter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5063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6408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4412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5943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4068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2475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3177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8916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5332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8812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9612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6038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1949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9075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548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6451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6433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119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29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45484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1587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0222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0114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1779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2722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7305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82370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27788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45407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7891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6682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84725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399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26758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 smtClean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Объектно-ориентированное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1" y="1596416"/>
            <a:ext cx="10670534" cy="1696998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6 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8. 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лекции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sz="1800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</a:t>
            </a:r>
            <a:r>
              <a:rPr lang="ru-RU" sz="1800" b="1" dirty="0" smtClean="0">
                <a:solidFill>
                  <a:srgbClr val="292929"/>
                </a:solidFill>
                <a:latin typeface="Bookman Old Style" pitchFamily="18" charset="0"/>
              </a:rPr>
              <a:t>ст. преподаватель каф</a:t>
            </a:r>
            <a:r>
              <a:rPr lang="ru-RU" sz="1800" b="1" dirty="0">
                <a:solidFill>
                  <a:srgbClr val="292929"/>
                </a:solidFill>
                <a:latin typeface="Bookman Old Style" pitchFamily="18" charset="0"/>
              </a:rPr>
              <a:t>. </a:t>
            </a:r>
            <a:r>
              <a:rPr lang="ru-RU" sz="1800" b="1" dirty="0" err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sz="1800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877031" y="3293414"/>
            <a:ext cx="1104134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Философия Чистой </a:t>
            </a: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архитектуры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Слои </a:t>
            </a: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приложения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Разделение моделей (Модель </a:t>
            </a:r>
            <a:r>
              <a:rPr lang="ru-RU" sz="2800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vs</a:t>
            </a: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Entity</a:t>
            </a: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vs</a:t>
            </a: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DTO</a:t>
            </a: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REST API и принципы </a:t>
            </a: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взаимодействия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Swagger</a:t>
            </a: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и </a:t>
            </a:r>
            <a:r>
              <a:rPr lang="ru-RU" sz="2800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Postman</a:t>
            </a: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: как проверять работу </a:t>
            </a: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сервера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Docker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— «</a:t>
            </a: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упаковка» приложения</a:t>
            </a:r>
            <a:endParaRPr lang="ru-RU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Философия Чистой архитектуры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0" y="654357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Проблема:</a:t>
            </a:r>
            <a:r>
              <a:rPr lang="ru-RU" sz="2400" dirty="0"/>
              <a:t> В обычных проектах код «перепутан». Если вы меняете структуру таблицы в базе данных, у вас «ломается» кнопка на экране. Это называется </a:t>
            </a:r>
            <a:r>
              <a:rPr lang="ru-RU" sz="2400" b="1" dirty="0"/>
              <a:t>жесткой связанностью</a:t>
            </a:r>
            <a:r>
              <a:rPr lang="ru-RU" sz="2400" dirty="0" smtClean="0"/>
              <a:t>.</a:t>
            </a:r>
          </a:p>
          <a:p>
            <a:pPr>
              <a:lnSpc>
                <a:spcPct val="150000"/>
              </a:lnSpc>
            </a:pP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dirty="0">
                <a:solidFill>
                  <a:srgbClr val="161616"/>
                </a:solidFill>
                <a:latin typeface="Bookman Old Style" panose="02050604050505020204" pitchFamily="18" charset="0"/>
              </a:rPr>
              <a:t>"Если вы считаете, что хорошая архитектура дорого, попробуйте плохую архитектуру". - </a:t>
            </a:r>
            <a:r>
              <a:rPr lang="ru-RU" sz="2400" i="1" dirty="0">
                <a:solidFill>
                  <a:srgbClr val="161616"/>
                </a:solidFill>
                <a:latin typeface="Bookman Old Style" panose="02050604050505020204" pitchFamily="18" charset="0"/>
              </a:rPr>
              <a:t>Брайан Колон и Джозеф </a:t>
            </a:r>
            <a:r>
              <a:rPr lang="ru-RU" sz="2400" i="1" dirty="0" err="1" smtClean="0">
                <a:solidFill>
                  <a:srgbClr val="161616"/>
                </a:solidFill>
                <a:latin typeface="Bookman Old Style" panose="02050604050505020204" pitchFamily="18" charset="0"/>
              </a:rPr>
              <a:t>Yoder</a:t>
            </a:r>
            <a:endParaRPr lang="ru-RU" sz="2400" i="1" dirty="0">
              <a:solidFill>
                <a:srgbClr val="161616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6951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7818082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endParaRPr lang="ru-RU" sz="2400" b="1" i="1" dirty="0" smtClean="0">
              <a:solidFill>
                <a:srgbClr val="161616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/>
              <a:t>Решение: Чистая архитектура (Роберт Мартин, 2017 г</a:t>
            </a:r>
            <a:r>
              <a:rPr lang="ru-RU" sz="2400" b="1" dirty="0" smtClean="0"/>
              <a:t>.)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/>
              <a:t>Это </a:t>
            </a:r>
            <a:r>
              <a:rPr lang="ru-RU" sz="2400" dirty="0"/>
              <a:t>подход, при котором ядро программы (бизнес-логика) полностью изолировано от внешних инструментов (БД, Веб, Сторонние API</a:t>
            </a:r>
            <a:r>
              <a:rPr lang="ru-RU" sz="2400" dirty="0" smtClean="0"/>
              <a:t>).</a:t>
            </a:r>
            <a:endParaRPr lang="ru-RU" sz="2400" b="1" i="1" dirty="0">
              <a:solidFill>
                <a:srgbClr val="161616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i="1" dirty="0">
              <a:solidFill>
                <a:srgbClr val="161616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/>
              <a:t>Главная мысль:</a:t>
            </a:r>
            <a:r>
              <a:rPr lang="ru-RU" sz="2400" dirty="0"/>
              <a:t> «База данных и Веб — это лишь детали реализации. Они не должны диктовать, как работает ваш бизнес».</a:t>
            </a:r>
            <a:endParaRPr lang="ru-RU" sz="2400" b="1" i="1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082" y="317158"/>
            <a:ext cx="4373918" cy="6105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2064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67702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Концепция «Луковицы» (</a:t>
            </a:r>
            <a:r>
              <a:rPr lang="ru-RU" sz="2400" b="1" dirty="0" err="1"/>
              <a:t>Onion</a:t>
            </a:r>
            <a:r>
              <a:rPr lang="ru-RU" sz="2400" b="1" dirty="0"/>
              <a:t> </a:t>
            </a:r>
            <a:r>
              <a:rPr lang="ru-RU" sz="2400" b="1" dirty="0" err="1"/>
              <a:t>Architecture</a:t>
            </a:r>
            <a:r>
              <a:rPr lang="ru-RU" sz="2400" b="1" dirty="0"/>
              <a:t>)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Приложение представляется в виде концентрических колец. Чем ближе слой к центру, тем он «чище» и важнее.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Центр (</a:t>
            </a:r>
            <a:r>
              <a:rPr lang="ru-RU" sz="2400" b="1" dirty="0" err="1"/>
              <a:t>Domain</a:t>
            </a:r>
            <a:r>
              <a:rPr lang="ru-RU" sz="2400" b="1" dirty="0"/>
              <a:t>):</a:t>
            </a:r>
            <a:r>
              <a:rPr lang="ru-RU" sz="2400" dirty="0"/>
              <a:t> Сущности и правила бизнеса. Это то, за что заказчик платит деньги (например, логика расчета скидки).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Слой </a:t>
            </a:r>
            <a:r>
              <a:rPr lang="ru-RU" sz="2400" b="1" dirty="0" err="1"/>
              <a:t>Application</a:t>
            </a:r>
            <a:r>
              <a:rPr lang="ru-RU" sz="2400" b="1" dirty="0"/>
              <a:t>:</a:t>
            </a:r>
            <a:r>
              <a:rPr lang="ru-RU" sz="2400" dirty="0"/>
              <a:t> Сценарии использования (</a:t>
            </a:r>
            <a:r>
              <a:rPr lang="ru-RU" sz="2400" dirty="0" err="1"/>
              <a:t>Use</a:t>
            </a:r>
            <a:r>
              <a:rPr lang="ru-RU" sz="2400" dirty="0"/>
              <a:t> </a:t>
            </a:r>
            <a:r>
              <a:rPr lang="ru-RU" sz="2400" dirty="0" err="1"/>
              <a:t>Cases</a:t>
            </a:r>
            <a:r>
              <a:rPr lang="ru-RU" sz="2400" dirty="0"/>
              <a:t>). Координация данных.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Внешние слои (</a:t>
            </a:r>
            <a:r>
              <a:rPr lang="ru-RU" sz="2400" b="1" dirty="0" err="1"/>
              <a:t>Infrastructure</a:t>
            </a:r>
            <a:r>
              <a:rPr lang="ru-RU" sz="2400" b="1" dirty="0"/>
              <a:t> / UI):</a:t>
            </a:r>
            <a:r>
              <a:rPr lang="ru-RU" sz="2400" dirty="0"/>
              <a:t> Технические детали. SQL-запросы, HTML-страницы, отправка SMS.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В чем секрет:</a:t>
            </a:r>
            <a:r>
              <a:rPr lang="ru-RU" sz="2400" dirty="0"/>
              <a:t> Если завтра вместо SQL вы решите хранить данные в текстовом файле, вы измените только внешнее кольцо. </a:t>
            </a:r>
            <a:r>
              <a:rPr lang="ru-RU" sz="2400" b="1" dirty="0"/>
              <a:t>Ядро программы останется нетронутым.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615325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3513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8535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Золотое правило зависимостей</a:t>
            </a:r>
          </a:p>
          <a:p>
            <a:pPr>
              <a:lnSpc>
                <a:spcPct val="150000"/>
              </a:lnSpc>
            </a:pPr>
            <a:endParaRPr lang="ru-RU" sz="2400" b="1" dirty="0" smtClean="0"/>
          </a:p>
          <a:p>
            <a:pPr>
              <a:lnSpc>
                <a:spcPct val="150000"/>
              </a:lnSpc>
            </a:pPr>
            <a:r>
              <a:rPr lang="ru-RU" sz="2400" b="1" dirty="0" smtClean="0"/>
              <a:t>Направление </a:t>
            </a:r>
            <a:r>
              <a:rPr lang="ru-RU" sz="2400" b="1" dirty="0"/>
              <a:t>зависимостей:</a:t>
            </a:r>
            <a:r>
              <a:rPr lang="ru-RU" sz="2400" dirty="0"/>
              <a:t> Внешние слои могут знать о внутренних, но внутренние слои </a:t>
            </a:r>
            <a:r>
              <a:rPr lang="ru-RU" sz="2400" b="1" dirty="0"/>
              <a:t>никогда</a:t>
            </a:r>
            <a:r>
              <a:rPr lang="ru-RU" sz="2400" dirty="0"/>
              <a:t> не должны знать ничего о внешних</a:t>
            </a:r>
            <a:r>
              <a:rPr lang="ru-RU" sz="2400" dirty="0" smtClean="0"/>
              <a:t>.</a:t>
            </a:r>
          </a:p>
          <a:p>
            <a:pPr>
              <a:lnSpc>
                <a:spcPct val="150000"/>
              </a:lnSpc>
            </a:pPr>
            <a:endParaRPr lang="ru-RU" sz="24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UI знает про </a:t>
            </a:r>
            <a:r>
              <a:rPr lang="ru-RU" sz="2400" b="1" dirty="0" err="1"/>
              <a:t>Domain</a:t>
            </a:r>
            <a:r>
              <a:rPr lang="ru-RU" sz="2400" b="1" dirty="0"/>
              <a:t>:</a:t>
            </a:r>
            <a:r>
              <a:rPr lang="ru-RU" sz="2400" dirty="0"/>
              <a:t> Чтобы отобразить данные.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/>
              <a:t>Domain</a:t>
            </a:r>
            <a:r>
              <a:rPr lang="ru-RU" sz="2400" b="1" dirty="0"/>
              <a:t> не знает про UI:</a:t>
            </a:r>
            <a:r>
              <a:rPr lang="ru-RU" sz="2400" dirty="0"/>
              <a:t> Ему всё равно, где его вызвали — в браузере, в мобильном приложении или в автоматическом тесте.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Как это работает на практике?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/>
              <a:t>Мы используем интерфейсы в центре, а их реализацию «подсовываем» из внешних слоев через DI-контейнер</a:t>
            </a:r>
            <a:r>
              <a:rPr lang="ru-RU" sz="2400" dirty="0" smtClean="0"/>
              <a:t>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8020913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Плюсы для </a:t>
            </a:r>
            <a:r>
              <a:rPr lang="ru-RU" sz="2400" b="1" dirty="0" smtClean="0"/>
              <a:t>профи</a:t>
            </a:r>
            <a:endParaRPr lang="ru-RU" sz="2400" b="1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Тестируемость:</a:t>
            </a:r>
            <a:r>
              <a:rPr lang="ru-RU" sz="2400" dirty="0"/>
              <a:t> Вы можете написать тесты на всю логику программы, даже не создавая базу данных и не запуская сервер.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Независимость от </a:t>
            </a:r>
            <a:r>
              <a:rPr lang="ru-RU" sz="2400" b="1" dirty="0" err="1"/>
              <a:t>фреймворков</a:t>
            </a:r>
            <a:r>
              <a:rPr lang="ru-RU" sz="2400" b="1" dirty="0"/>
              <a:t>:</a:t>
            </a:r>
            <a:r>
              <a:rPr lang="ru-RU" sz="2400" dirty="0"/>
              <a:t> Если завтра ASP.NET </a:t>
            </a:r>
            <a:r>
              <a:rPr lang="ru-RU" sz="2400" dirty="0" err="1"/>
              <a:t>Core</a:t>
            </a:r>
            <a:r>
              <a:rPr lang="ru-RU" sz="2400" dirty="0"/>
              <a:t> устареет, вы сможете перенести свое ядро (</a:t>
            </a:r>
            <a:r>
              <a:rPr lang="ru-RU" sz="2400" dirty="0" err="1"/>
              <a:t>Domain</a:t>
            </a:r>
            <a:r>
              <a:rPr lang="ru-RU" sz="2400" dirty="0"/>
              <a:t>) на любую другую платформу.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Параллельная разработка:</a:t>
            </a:r>
            <a:r>
              <a:rPr lang="ru-RU" sz="2400" dirty="0"/>
              <a:t> Один программист может писать логику в </a:t>
            </a:r>
            <a:r>
              <a:rPr lang="ru-RU" sz="2400" dirty="0" err="1"/>
              <a:t>Domain</a:t>
            </a:r>
            <a:r>
              <a:rPr lang="ru-RU" sz="2400" dirty="0"/>
              <a:t>, а другой — настраивать базу данных в </a:t>
            </a:r>
            <a:r>
              <a:rPr lang="ru-RU" sz="2400" dirty="0" err="1"/>
              <a:t>Infrastructure</a:t>
            </a:r>
            <a:r>
              <a:rPr lang="ru-RU" sz="2400" dirty="0"/>
              <a:t>, не мешая друг другу.</a:t>
            </a:r>
          </a:p>
        </p:txBody>
      </p:sp>
    </p:spTree>
    <p:extLst>
      <p:ext uri="{BB962C8B-B14F-4D97-AF65-F5344CB8AC3E}">
        <p14:creationId xmlns:p14="http://schemas.microsoft.com/office/powerpoint/2010/main" val="3735344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Слои приложения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0" y="654357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В профессиональной разработке приложение разбивается на несколько независимых проектов. Это позволяет физически ограничить зависимости (вы не сможете случайно вызвать базу данных из Ядра</a:t>
            </a:r>
            <a:r>
              <a:rPr lang="ru-RU" sz="2400" dirty="0" smtClean="0"/>
              <a:t>).</a:t>
            </a:r>
          </a:p>
          <a:p>
            <a:pPr>
              <a:lnSpc>
                <a:spcPct val="150000"/>
              </a:lnSpc>
            </a:pP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b="1" dirty="0"/>
              <a:t>Основные проекты:</a:t>
            </a: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b="1" dirty="0" err="1"/>
              <a:t>Core</a:t>
            </a:r>
            <a:r>
              <a:rPr lang="ru-RU" sz="2400" b="1" dirty="0"/>
              <a:t> (Ядро):</a:t>
            </a:r>
            <a:r>
              <a:rPr lang="ru-RU" sz="2400" dirty="0"/>
              <a:t> содержит </a:t>
            </a:r>
            <a:r>
              <a:rPr lang="ru-RU" sz="2400" b="1" dirty="0" err="1"/>
              <a:t>Domain</a:t>
            </a:r>
            <a:r>
              <a:rPr lang="ru-RU" sz="2400" dirty="0"/>
              <a:t> и </a:t>
            </a:r>
            <a:r>
              <a:rPr lang="ru-RU" sz="2400" b="1" dirty="0" err="1"/>
              <a:t>Application</a:t>
            </a:r>
            <a:r>
              <a:rPr lang="ru-RU" sz="2400" dirty="0"/>
              <a:t>. Это сердце системы.</a:t>
            </a:r>
          </a:p>
          <a:p>
            <a:pPr>
              <a:lnSpc>
                <a:spcPct val="150000"/>
              </a:lnSpc>
            </a:pPr>
            <a:r>
              <a:rPr lang="ru-RU" sz="2400" b="1" dirty="0" err="1"/>
              <a:t>Infrastructure</a:t>
            </a:r>
            <a:r>
              <a:rPr lang="ru-RU" sz="2400" b="1" dirty="0"/>
              <a:t>:</a:t>
            </a:r>
            <a:r>
              <a:rPr lang="ru-RU" sz="2400" dirty="0"/>
              <a:t> техническая реализация (БД, сторонние сервисы).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API (</a:t>
            </a:r>
            <a:r>
              <a:rPr lang="ru-RU" sz="2400" b="1" dirty="0" err="1"/>
              <a:t>Web</a:t>
            </a:r>
            <a:r>
              <a:rPr lang="ru-RU" sz="2400" b="1" dirty="0"/>
              <a:t> API):</a:t>
            </a:r>
            <a:r>
              <a:rPr lang="ru-RU" sz="2400" dirty="0"/>
              <a:t> точка входа, которая принимает запросы из интернета.</a:t>
            </a:r>
          </a:p>
        </p:txBody>
      </p:sp>
    </p:spTree>
    <p:extLst>
      <p:ext uri="{BB962C8B-B14F-4D97-AF65-F5344CB8AC3E}">
        <p14:creationId xmlns:p14="http://schemas.microsoft.com/office/powerpoint/2010/main" val="3520771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Слой </a:t>
            </a:r>
            <a:r>
              <a:rPr lang="en-US" sz="2400" b="1" dirty="0"/>
              <a:t>Domain — </a:t>
            </a:r>
            <a:r>
              <a:rPr lang="ru-RU" sz="2400" b="1" dirty="0"/>
              <a:t>Ядро бизнеса</a:t>
            </a:r>
          </a:p>
          <a:p>
            <a:pPr>
              <a:lnSpc>
                <a:spcPct val="150000"/>
              </a:lnSpc>
            </a:pPr>
            <a:r>
              <a:rPr lang="ru-RU" sz="2400" dirty="0" smtClean="0"/>
              <a:t>Самый </a:t>
            </a:r>
            <a:r>
              <a:rPr lang="ru-RU" sz="2400" dirty="0"/>
              <a:t>важный и самый «чистый» слой. Он </a:t>
            </a:r>
            <a:r>
              <a:rPr lang="ru-RU" sz="2400" b="1" dirty="0"/>
              <a:t>ничего не знает</a:t>
            </a:r>
            <a:r>
              <a:rPr lang="ru-RU" sz="2400" dirty="0"/>
              <a:t> об остальном мире.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Что внутри:</a:t>
            </a:r>
            <a:endParaRPr lang="ru-RU" sz="2400" dirty="0"/>
          </a:p>
          <a:p>
            <a:pPr lvl="1">
              <a:lnSpc>
                <a:spcPct val="150000"/>
              </a:lnSpc>
            </a:pPr>
            <a:r>
              <a:rPr lang="ru-RU" sz="2400" b="1" dirty="0" err="1"/>
              <a:t>Entities</a:t>
            </a:r>
            <a:r>
              <a:rPr lang="ru-RU" sz="2400" b="1" dirty="0"/>
              <a:t> (Сущности):</a:t>
            </a:r>
            <a:r>
              <a:rPr lang="ru-RU" sz="2400" dirty="0"/>
              <a:t> Классы с логикой (</a:t>
            </a:r>
            <a:r>
              <a:rPr lang="ru-RU" sz="2400" dirty="0" err="1"/>
              <a:t>Note</a:t>
            </a:r>
            <a:r>
              <a:rPr lang="ru-RU" sz="2400" dirty="0"/>
              <a:t>, </a:t>
            </a:r>
            <a:r>
              <a:rPr lang="ru-RU" sz="2400" dirty="0" err="1"/>
              <a:t>User</a:t>
            </a:r>
            <a:r>
              <a:rPr lang="ru-RU" sz="2400" dirty="0"/>
              <a:t>).</a:t>
            </a:r>
          </a:p>
          <a:p>
            <a:pPr lvl="1">
              <a:lnSpc>
                <a:spcPct val="150000"/>
              </a:lnSpc>
            </a:pPr>
            <a:r>
              <a:rPr lang="ru-RU" sz="2400" b="1" dirty="0" err="1"/>
              <a:t>Abstractions</a:t>
            </a:r>
            <a:r>
              <a:rPr lang="ru-RU" sz="2400" b="1" dirty="0"/>
              <a:t> (Интерфейсы):</a:t>
            </a:r>
            <a:r>
              <a:rPr lang="ru-RU" sz="2400" dirty="0"/>
              <a:t> Контракты для </a:t>
            </a:r>
            <a:r>
              <a:rPr lang="ru-RU" sz="2400" dirty="0" err="1"/>
              <a:t>репозиториев</a:t>
            </a:r>
            <a:r>
              <a:rPr lang="ru-RU" sz="2400" dirty="0"/>
              <a:t> и сервисов.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Главное правило:</a:t>
            </a:r>
            <a:r>
              <a:rPr lang="ru-RU" sz="2400" dirty="0"/>
              <a:t> Здесь нет зависимостей от других проектов. Если вы решите удалить всё приложение и оставить только </a:t>
            </a:r>
            <a:r>
              <a:rPr lang="ru-RU" sz="2400" dirty="0" err="1"/>
              <a:t>Domain</a:t>
            </a:r>
            <a:r>
              <a:rPr lang="ru-RU" sz="2400" dirty="0"/>
              <a:t> — он должен скомпилироваться и работать.</a:t>
            </a:r>
          </a:p>
        </p:txBody>
      </p:sp>
    </p:spTree>
    <p:extLst>
      <p:ext uri="{BB962C8B-B14F-4D97-AF65-F5344CB8AC3E}">
        <p14:creationId xmlns:p14="http://schemas.microsoft.com/office/powerpoint/2010/main" val="1950614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446167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Слой </a:t>
            </a:r>
            <a:r>
              <a:rPr lang="ru-RU" sz="2400" b="1" dirty="0" err="1"/>
              <a:t>Application</a:t>
            </a:r>
            <a:r>
              <a:rPr lang="ru-RU" sz="2400" b="1" dirty="0"/>
              <a:t> — Сценарии (</a:t>
            </a:r>
            <a:r>
              <a:rPr lang="ru-RU" sz="2400" b="1" dirty="0" err="1"/>
              <a:t>Use</a:t>
            </a:r>
            <a:r>
              <a:rPr lang="ru-RU" sz="2400" b="1" dirty="0"/>
              <a:t> </a:t>
            </a:r>
            <a:r>
              <a:rPr lang="ru-RU" sz="2400" b="1" dirty="0" err="1"/>
              <a:t>Cases</a:t>
            </a:r>
            <a:r>
              <a:rPr lang="ru-RU" sz="2400" b="1" dirty="0"/>
              <a:t>)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Этот слой координирует работу сущностей для выполнения конкретных задач пользователя.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Что внутри:</a:t>
            </a:r>
            <a:r>
              <a:rPr lang="ru-RU" sz="2400" dirty="0"/>
              <a:t> Реализация сервисов (например, </a:t>
            </a:r>
            <a:r>
              <a:rPr lang="ru-RU" sz="2400" dirty="0" err="1"/>
              <a:t>NotesService</a:t>
            </a:r>
            <a:r>
              <a:rPr lang="ru-RU" sz="2400" dirty="0"/>
              <a:t>).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Зависимости:</a:t>
            </a:r>
            <a:r>
              <a:rPr lang="ru-RU" sz="2400" dirty="0"/>
              <a:t> Зависит </a:t>
            </a:r>
            <a:r>
              <a:rPr lang="ru-RU" sz="2400" b="1" dirty="0"/>
              <a:t>только от </a:t>
            </a:r>
            <a:r>
              <a:rPr lang="ru-RU" sz="2400" b="1" dirty="0" err="1"/>
              <a:t>Domain</a:t>
            </a:r>
            <a:r>
              <a:rPr lang="ru-RU" sz="2400" dirty="0"/>
              <a:t>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Механика:</a:t>
            </a:r>
            <a:r>
              <a:rPr lang="ru-RU" sz="2400" dirty="0"/>
              <a:t> Здесь мы активно используем </a:t>
            </a:r>
            <a:r>
              <a:rPr lang="ru-RU" sz="2400" b="1" dirty="0" err="1"/>
              <a:t>Dependency</a:t>
            </a:r>
            <a:r>
              <a:rPr lang="ru-RU" sz="2400" b="1" dirty="0"/>
              <a:t> </a:t>
            </a:r>
            <a:r>
              <a:rPr lang="ru-RU" sz="2400" b="1" dirty="0" err="1"/>
              <a:t>Injection</a:t>
            </a:r>
            <a:r>
              <a:rPr lang="ru-RU" sz="2400" dirty="0"/>
              <a:t>. Например, сервис просит </a:t>
            </a:r>
            <a:r>
              <a:rPr lang="ru-RU" sz="2400" dirty="0" err="1"/>
              <a:t>INotesRepository</a:t>
            </a:r>
            <a:r>
              <a:rPr lang="ru-RU" sz="2400" dirty="0"/>
              <a:t> (интерфейс из </a:t>
            </a:r>
            <a:r>
              <a:rPr lang="ru-RU" sz="2400" dirty="0" err="1"/>
              <a:t>Domain</a:t>
            </a:r>
            <a:r>
              <a:rPr lang="ru-RU" sz="2400" dirty="0"/>
              <a:t>), но не знает, какая именно база данных под ним лежит.</a:t>
            </a:r>
          </a:p>
        </p:txBody>
      </p:sp>
    </p:spTree>
    <p:extLst>
      <p:ext uri="{BB962C8B-B14F-4D97-AF65-F5344CB8AC3E}">
        <p14:creationId xmlns:p14="http://schemas.microsoft.com/office/powerpoint/2010/main" val="35176873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12366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Слой </a:t>
            </a:r>
            <a:r>
              <a:rPr lang="ru-RU" sz="2400" b="1" dirty="0" err="1"/>
              <a:t>Infrastructure</a:t>
            </a:r>
            <a:r>
              <a:rPr lang="ru-RU" sz="2400" b="1" dirty="0"/>
              <a:t> — Технические детали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Слой, где «чистая» логика встречается с «грязной» реальностью (дисками, сетями, базами).</a:t>
            </a:r>
          </a:p>
          <a:p>
            <a:pPr>
              <a:lnSpc>
                <a:spcPct val="150000"/>
              </a:lnSpc>
            </a:pPr>
            <a:r>
              <a:rPr lang="ru-RU" sz="2400" b="1" dirty="0" err="1"/>
              <a:t>Persistence</a:t>
            </a:r>
            <a:r>
              <a:rPr lang="ru-RU" sz="2400" b="1" dirty="0"/>
              <a:t> (Постоянство):</a:t>
            </a:r>
            <a:r>
              <a:rPr lang="ru-RU" sz="2400" dirty="0"/>
              <a:t> Подслой для работы с БД через EF </a:t>
            </a:r>
            <a:r>
              <a:rPr lang="ru-RU" sz="2400" dirty="0" err="1"/>
              <a:t>Core</a:t>
            </a:r>
            <a:r>
              <a:rPr lang="ru-RU" sz="2400" dirty="0"/>
              <a:t>. Здесь лежат миграции, контекст данных и реализация </a:t>
            </a:r>
            <a:r>
              <a:rPr lang="ru-RU" sz="2400" dirty="0" err="1"/>
              <a:t>репозиториев</a:t>
            </a:r>
            <a:r>
              <a:rPr lang="ru-RU" sz="2400" dirty="0"/>
              <a:t>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Другие службы:</a:t>
            </a:r>
            <a:r>
              <a:rPr lang="ru-RU" sz="2400" dirty="0"/>
              <a:t> Интеграция с </a:t>
            </a:r>
            <a:r>
              <a:rPr lang="ru-RU" sz="2400" dirty="0" err="1"/>
              <a:t>Redis</a:t>
            </a:r>
            <a:r>
              <a:rPr lang="ru-RU" sz="2400" dirty="0"/>
              <a:t> (кэш), </a:t>
            </a:r>
            <a:r>
              <a:rPr lang="ru-RU" sz="2400" dirty="0" err="1"/>
              <a:t>RabbitMQ</a:t>
            </a:r>
            <a:r>
              <a:rPr lang="ru-RU" sz="2400" dirty="0"/>
              <a:t> (сообщения) или почтовыми сервисами.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Зависимости:</a:t>
            </a:r>
            <a:r>
              <a:rPr lang="ru-RU" sz="2400" dirty="0"/>
              <a:t> Зависит от </a:t>
            </a:r>
            <a:r>
              <a:rPr lang="ru-RU" sz="2400" b="1" dirty="0" err="1"/>
              <a:t>Domain</a:t>
            </a:r>
            <a:r>
              <a:rPr lang="ru-RU" sz="2400" dirty="0"/>
              <a:t> и </a:t>
            </a:r>
            <a:r>
              <a:rPr lang="ru-RU" sz="2400" b="1" dirty="0" err="1"/>
              <a:t>Application</a:t>
            </a:r>
            <a:r>
              <a:rPr lang="ru-RU" sz="2400" dirty="0" smtClean="0"/>
              <a:t>.</a:t>
            </a:r>
          </a:p>
          <a:p>
            <a:pPr>
              <a:lnSpc>
                <a:spcPct val="150000"/>
              </a:lnSpc>
            </a:pP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b="1" dirty="0"/>
              <a:t>Понятие:</a:t>
            </a:r>
            <a:r>
              <a:rPr lang="ru-RU" sz="2400" dirty="0"/>
              <a:t> </a:t>
            </a:r>
            <a:r>
              <a:rPr lang="ru-RU" sz="2400" dirty="0" err="1"/>
              <a:t>Персистентность</a:t>
            </a:r>
            <a:r>
              <a:rPr lang="ru-RU" sz="2400" dirty="0"/>
              <a:t> — это способность данных сохраняться между запусками программы.</a:t>
            </a:r>
          </a:p>
        </p:txBody>
      </p:sp>
    </p:spTree>
    <p:extLst>
      <p:ext uri="{BB962C8B-B14F-4D97-AF65-F5344CB8AC3E}">
        <p14:creationId xmlns:p14="http://schemas.microsoft.com/office/powerpoint/2010/main" val="549352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446167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Слой </a:t>
            </a:r>
            <a:r>
              <a:rPr lang="ru-RU" sz="2400" b="1" dirty="0" err="1"/>
              <a:t>Web</a:t>
            </a:r>
            <a:r>
              <a:rPr lang="ru-RU" sz="2400" b="1" dirty="0"/>
              <a:t> API — Внешний интерфейс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Верхний слой «луковицы», точка контакта с пользователем или </a:t>
            </a:r>
            <a:r>
              <a:rPr lang="ru-RU" sz="2400" dirty="0" err="1"/>
              <a:t>фронтендом</a:t>
            </a:r>
            <a:r>
              <a:rPr lang="ru-RU" sz="2400" dirty="0"/>
              <a:t>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Что внутри:</a:t>
            </a:r>
            <a:r>
              <a:rPr lang="ru-RU" sz="2400" dirty="0"/>
              <a:t> Контроллеры.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Задача:</a:t>
            </a:r>
            <a:r>
              <a:rPr lang="ru-RU" sz="2400" dirty="0"/>
              <a:t> Максимально простая — принять HTTP-запрос, перевести его на язык объектов и отдать в слой </a:t>
            </a:r>
            <a:r>
              <a:rPr lang="ru-RU" sz="2400" b="1" dirty="0" err="1"/>
              <a:t>Application</a:t>
            </a:r>
            <a:r>
              <a:rPr lang="ru-RU" sz="2400" dirty="0"/>
              <a:t>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Тонкие контроллеры:</a:t>
            </a:r>
            <a:r>
              <a:rPr lang="ru-RU" sz="2400" dirty="0"/>
              <a:t> В API не должно быть никакой логики, кроме маршрутизации и возврата статус-кодов (200 OK, 404 </a:t>
            </a:r>
            <a:r>
              <a:rPr lang="ru-RU" sz="2400" dirty="0" err="1"/>
              <a:t>Not</a:t>
            </a:r>
            <a:r>
              <a:rPr lang="ru-RU" sz="2400" dirty="0"/>
              <a:t> </a:t>
            </a:r>
            <a:r>
              <a:rPr lang="ru-RU" sz="2400" dirty="0" err="1"/>
              <a:t>Found</a:t>
            </a:r>
            <a:r>
              <a:rPr lang="ru-RU" sz="24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229732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Разделение моделей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0" y="654357"/>
            <a:ext cx="12192000" cy="501566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В профессиональной разработке запрещено использовать один и тот же класс для базы данных, бизнес-логики и передачи данных по сети. Мы разделяем их на 3 вида:</a:t>
            </a:r>
          </a:p>
          <a:p>
            <a:pPr>
              <a:lnSpc>
                <a:spcPct val="150000"/>
              </a:lnSpc>
            </a:pPr>
            <a:r>
              <a:rPr lang="ru-RU" sz="2400" b="1" dirty="0" err="1"/>
              <a:t>Domain</a:t>
            </a:r>
            <a:r>
              <a:rPr lang="ru-RU" sz="2400" b="1" dirty="0"/>
              <a:t> </a:t>
            </a:r>
            <a:r>
              <a:rPr lang="ru-RU" sz="2400" b="1" dirty="0" err="1"/>
              <a:t>Model</a:t>
            </a:r>
            <a:r>
              <a:rPr lang="ru-RU" sz="2400" b="1" dirty="0"/>
              <a:t> (Доменная модель):</a:t>
            </a:r>
            <a:r>
              <a:rPr lang="ru-RU" sz="2400" dirty="0"/>
              <a:t> Ядро бизнеса.</a:t>
            </a:r>
          </a:p>
          <a:p>
            <a:pPr>
              <a:lnSpc>
                <a:spcPct val="150000"/>
              </a:lnSpc>
            </a:pPr>
            <a:r>
              <a:rPr lang="ru-RU" sz="2400" b="1" dirty="0" err="1"/>
              <a:t>Entity</a:t>
            </a:r>
            <a:r>
              <a:rPr lang="ru-RU" sz="2400" b="1" dirty="0"/>
              <a:t> (Сущность):</a:t>
            </a:r>
            <a:r>
              <a:rPr lang="ru-RU" sz="2400" dirty="0"/>
              <a:t> Отображение на базу данных.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DTO (</a:t>
            </a:r>
            <a:r>
              <a:rPr lang="ru-RU" sz="2400" b="1" dirty="0" err="1"/>
              <a:t>Data</a:t>
            </a:r>
            <a:r>
              <a:rPr lang="ru-RU" sz="2400" b="1" dirty="0"/>
              <a:t> </a:t>
            </a:r>
            <a:r>
              <a:rPr lang="ru-RU" sz="2400" b="1" dirty="0" err="1"/>
              <a:t>Transfer</a:t>
            </a:r>
            <a:r>
              <a:rPr lang="ru-RU" sz="2400" b="1" dirty="0"/>
              <a:t> </a:t>
            </a:r>
            <a:r>
              <a:rPr lang="ru-RU" sz="2400" b="1" dirty="0" err="1"/>
              <a:t>Object</a:t>
            </a:r>
            <a:r>
              <a:rPr lang="ru-RU" sz="2400" b="1" dirty="0"/>
              <a:t>):</a:t>
            </a:r>
            <a:r>
              <a:rPr lang="ru-RU" sz="2400" dirty="0"/>
              <a:t> Объект для передачи данных</a:t>
            </a:r>
            <a:r>
              <a:rPr lang="ru-RU" sz="2400" dirty="0" smtClean="0"/>
              <a:t>.</a:t>
            </a:r>
            <a:endParaRPr lang="en-US" sz="2400" dirty="0" smtClean="0"/>
          </a:p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r>
              <a:rPr lang="ru-RU" sz="2400" b="1" dirty="0"/>
              <a:t>Замечание:</a:t>
            </a:r>
            <a:r>
              <a:rPr lang="ru-RU" sz="2400" dirty="0"/>
              <a:t> В очень маленьких учебных проектах </a:t>
            </a:r>
            <a:r>
              <a:rPr lang="ru-RU" sz="2400" dirty="0" err="1"/>
              <a:t>Domain</a:t>
            </a:r>
            <a:r>
              <a:rPr lang="ru-RU" sz="2400" dirty="0"/>
              <a:t> и </a:t>
            </a:r>
            <a:r>
              <a:rPr lang="ru-RU" sz="2400" dirty="0" err="1"/>
              <a:t>Entity</a:t>
            </a:r>
            <a:r>
              <a:rPr lang="ru-RU" sz="2400" dirty="0"/>
              <a:t> часто объединяют, но на уровне «</a:t>
            </a:r>
            <a:r>
              <a:rPr lang="ru-RU" sz="2400" dirty="0" err="1"/>
              <a:t>Мидла</a:t>
            </a:r>
            <a:r>
              <a:rPr lang="ru-RU" sz="2400" dirty="0"/>
              <a:t>» и выше — это разные сущности.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2383" y="1780777"/>
            <a:ext cx="2869921" cy="186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974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56966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err="1"/>
              <a:t>Domain</a:t>
            </a:r>
            <a:r>
              <a:rPr lang="ru-RU" sz="2400" b="1" dirty="0"/>
              <a:t> </a:t>
            </a:r>
            <a:r>
              <a:rPr lang="ru-RU" sz="2400" b="1" dirty="0" err="1"/>
              <a:t>Model</a:t>
            </a:r>
            <a:r>
              <a:rPr lang="ru-RU" sz="2400" b="1" dirty="0"/>
              <a:t> — Умное ядро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Это «богатая» (</a:t>
            </a:r>
            <a:r>
              <a:rPr lang="ru-RU" sz="2400" dirty="0" err="1"/>
              <a:t>Rich</a:t>
            </a:r>
            <a:r>
              <a:rPr lang="ru-RU" sz="2400" dirty="0"/>
              <a:t>) модель. Она живет в слое </a:t>
            </a:r>
            <a:r>
              <a:rPr lang="ru-RU" sz="2400" b="1" dirty="0" err="1"/>
              <a:t>Domain</a:t>
            </a:r>
            <a:r>
              <a:rPr lang="ru-RU" sz="2400" dirty="0"/>
              <a:t> и содержит главную ценность программы.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Характеристики:</a:t>
            </a:r>
            <a:endParaRPr lang="ru-RU" sz="2400" dirty="0"/>
          </a:p>
          <a:p>
            <a:pPr lvl="1">
              <a:lnSpc>
                <a:spcPct val="150000"/>
              </a:lnSpc>
            </a:pPr>
            <a:r>
              <a:rPr lang="ru-RU" sz="2400" b="1" dirty="0"/>
              <a:t>Логика внутри:</a:t>
            </a:r>
            <a:r>
              <a:rPr lang="ru-RU" sz="2400" dirty="0"/>
              <a:t> содержит методы </a:t>
            </a:r>
            <a:r>
              <a:rPr lang="ru-RU" sz="2400" dirty="0" err="1"/>
              <a:t>валидации</a:t>
            </a:r>
            <a:r>
              <a:rPr lang="ru-RU" sz="2400" dirty="0"/>
              <a:t> и расчетов.</a:t>
            </a:r>
          </a:p>
          <a:p>
            <a:pPr lvl="1">
              <a:lnSpc>
                <a:spcPct val="150000"/>
              </a:lnSpc>
            </a:pPr>
            <a:r>
              <a:rPr lang="ru-RU" sz="2400" b="1" dirty="0"/>
              <a:t>Инкапсуляция:</a:t>
            </a:r>
            <a:r>
              <a:rPr lang="ru-RU" sz="2400" dirty="0"/>
              <a:t> поля часто закрыты (</a:t>
            </a:r>
            <a:r>
              <a:rPr lang="ru-RU" sz="2400" dirty="0" err="1"/>
              <a:t>private</a:t>
            </a:r>
            <a:r>
              <a:rPr lang="ru-RU" sz="2400" dirty="0"/>
              <a:t> </a:t>
            </a:r>
            <a:r>
              <a:rPr lang="ru-RU" sz="2400" dirty="0" err="1"/>
              <a:t>set</a:t>
            </a:r>
            <a:r>
              <a:rPr lang="ru-RU" sz="2400" dirty="0"/>
              <a:t>), данные меняются только через методы.</a:t>
            </a:r>
          </a:p>
          <a:p>
            <a:pPr lvl="1">
              <a:lnSpc>
                <a:spcPct val="150000"/>
              </a:lnSpc>
            </a:pPr>
            <a:r>
              <a:rPr lang="ru-RU" sz="2400" b="1" dirty="0"/>
              <a:t>Чистота:</a:t>
            </a:r>
            <a:r>
              <a:rPr lang="ru-RU" sz="2400" dirty="0"/>
              <a:t> не знает про </a:t>
            </a:r>
            <a:r>
              <a:rPr lang="ru-RU" sz="2400" dirty="0" err="1"/>
              <a:t>Entity</a:t>
            </a:r>
            <a:r>
              <a:rPr lang="ru-RU" sz="2400" dirty="0"/>
              <a:t> </a:t>
            </a:r>
            <a:r>
              <a:rPr lang="ru-RU" sz="2400" dirty="0" err="1"/>
              <a:t>Framework</a:t>
            </a:r>
            <a:r>
              <a:rPr lang="ru-RU" sz="2400" dirty="0"/>
              <a:t>, базу данных или JSON.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Задача:</a:t>
            </a:r>
            <a:r>
              <a:rPr lang="ru-RU" sz="2400" dirty="0"/>
              <a:t> гарантировать, что данные в программе всегда корректны с точки зрения бизнеса.</a:t>
            </a:r>
          </a:p>
        </p:txBody>
      </p:sp>
    </p:spTree>
    <p:extLst>
      <p:ext uri="{BB962C8B-B14F-4D97-AF65-F5344CB8AC3E}">
        <p14:creationId xmlns:p14="http://schemas.microsoft.com/office/powerpoint/2010/main" val="3099934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56902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err="1"/>
              <a:t>Entity</a:t>
            </a:r>
            <a:r>
              <a:rPr lang="ru-RU" sz="2400" b="1" dirty="0"/>
              <a:t> — Слуга базы данных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Класс, «заточенный» под требования ORM (</a:t>
            </a:r>
            <a:r>
              <a:rPr lang="ru-RU" sz="2400" dirty="0" err="1"/>
              <a:t>Entity</a:t>
            </a:r>
            <a:r>
              <a:rPr lang="ru-RU" sz="2400" dirty="0"/>
              <a:t> </a:t>
            </a:r>
            <a:r>
              <a:rPr lang="ru-RU" sz="2400" dirty="0" err="1"/>
              <a:t>Framework</a:t>
            </a:r>
            <a:r>
              <a:rPr lang="ru-RU" sz="2400" dirty="0"/>
              <a:t> </a:t>
            </a:r>
            <a:r>
              <a:rPr lang="ru-RU" sz="2400" dirty="0" err="1"/>
              <a:t>Core</a:t>
            </a:r>
            <a:r>
              <a:rPr lang="ru-RU" sz="2400" dirty="0"/>
              <a:t>). Живет в слое </a:t>
            </a:r>
            <a:r>
              <a:rPr lang="ru-RU" sz="2400" b="1" dirty="0" err="1"/>
              <a:t>Infrastructure</a:t>
            </a:r>
            <a:r>
              <a:rPr lang="ru-RU" sz="2400" dirty="0"/>
              <a:t>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Характеристики:</a:t>
            </a:r>
            <a:endParaRPr lang="ru-RU" sz="2400" dirty="0"/>
          </a:p>
          <a:p>
            <a:pPr lvl="1">
              <a:lnSpc>
                <a:spcPct val="150000"/>
              </a:lnSpc>
            </a:pPr>
            <a:r>
              <a:rPr lang="ru-RU" sz="2400" b="1" dirty="0"/>
              <a:t>Атрибуты:</a:t>
            </a:r>
            <a:r>
              <a:rPr lang="ru-RU" sz="2400" dirty="0"/>
              <a:t> обвешан пометками [</a:t>
            </a:r>
            <a:r>
              <a:rPr lang="ru-RU" sz="2400" dirty="0" err="1"/>
              <a:t>Key</a:t>
            </a:r>
            <a:r>
              <a:rPr lang="ru-RU" sz="2400" dirty="0"/>
              <a:t>], [</a:t>
            </a:r>
            <a:r>
              <a:rPr lang="ru-RU" sz="2400" dirty="0" err="1"/>
              <a:t>Table</a:t>
            </a:r>
            <a:r>
              <a:rPr lang="ru-RU" sz="2400" dirty="0"/>
              <a:t>], [</a:t>
            </a:r>
            <a:r>
              <a:rPr lang="ru-RU" sz="2400" dirty="0" err="1"/>
              <a:t>ForeignKey</a:t>
            </a:r>
            <a:r>
              <a:rPr lang="ru-RU" sz="2400" dirty="0"/>
              <a:t>].</a:t>
            </a:r>
          </a:p>
          <a:p>
            <a:pPr lvl="1">
              <a:lnSpc>
                <a:spcPct val="150000"/>
              </a:lnSpc>
            </a:pPr>
            <a:r>
              <a:rPr lang="ru-RU" sz="2400" b="1" dirty="0"/>
              <a:t>Технические поля:</a:t>
            </a:r>
            <a:r>
              <a:rPr lang="ru-RU" sz="2400" dirty="0"/>
              <a:t> содержит ID, внешние ключи (</a:t>
            </a:r>
            <a:r>
              <a:rPr lang="ru-RU" sz="2400" dirty="0" err="1"/>
              <a:t>UserId</a:t>
            </a:r>
            <a:r>
              <a:rPr lang="ru-RU" sz="2400" dirty="0"/>
              <a:t>) и навигационные свойства (</a:t>
            </a:r>
            <a:r>
              <a:rPr lang="ru-RU" sz="2400" dirty="0" err="1"/>
              <a:t>ICollection</a:t>
            </a:r>
            <a:r>
              <a:rPr lang="ru-RU" sz="2400" dirty="0"/>
              <a:t>&lt;</a:t>
            </a:r>
            <a:r>
              <a:rPr lang="ru-RU" sz="2400" dirty="0" err="1"/>
              <a:t>Grade</a:t>
            </a:r>
            <a:r>
              <a:rPr lang="ru-RU" sz="2400" dirty="0"/>
              <a:t>&gt;).</a:t>
            </a:r>
          </a:p>
          <a:p>
            <a:pPr lvl="1">
              <a:lnSpc>
                <a:spcPct val="150000"/>
              </a:lnSpc>
            </a:pPr>
            <a:r>
              <a:rPr lang="ru-RU" sz="2400" b="1" dirty="0"/>
              <a:t>Открытость:</a:t>
            </a:r>
            <a:r>
              <a:rPr lang="ru-RU" sz="2400" dirty="0"/>
              <a:t> обычно имеет публичные сеттеры, чтобы EF </a:t>
            </a:r>
            <a:r>
              <a:rPr lang="ru-RU" sz="2400" dirty="0" err="1"/>
              <a:t>Core</a:t>
            </a:r>
            <a:r>
              <a:rPr lang="ru-RU" sz="2400" dirty="0"/>
              <a:t> мог легко заполнять объект данными из таблиц.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Задача:</a:t>
            </a:r>
            <a:r>
              <a:rPr lang="ru-RU" sz="2400" dirty="0"/>
              <a:t> максимально точно соответствовать структуре таблиц в БД.</a:t>
            </a:r>
          </a:p>
        </p:txBody>
      </p:sp>
    </p:spTree>
    <p:extLst>
      <p:ext uri="{BB962C8B-B14F-4D97-AF65-F5344CB8AC3E}">
        <p14:creationId xmlns:p14="http://schemas.microsoft.com/office/powerpoint/2010/main" val="42786734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67766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DTO — Посыльный для сети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Плоский класс без логики, предназначенный для передачи данных по HTTP (в формате JSON). Живет в слое </a:t>
            </a:r>
            <a:r>
              <a:rPr lang="ru-RU" sz="2400" b="1" dirty="0"/>
              <a:t>API</a:t>
            </a:r>
            <a:r>
              <a:rPr lang="ru-RU" sz="2400" dirty="0"/>
              <a:t>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Характеристики:</a:t>
            </a:r>
            <a:endParaRPr lang="ru-RU" sz="2400" dirty="0"/>
          </a:p>
          <a:p>
            <a:pPr lvl="1">
              <a:lnSpc>
                <a:spcPct val="150000"/>
              </a:lnSpc>
            </a:pPr>
            <a:r>
              <a:rPr lang="ru-RU" sz="2400" b="1" dirty="0"/>
              <a:t>Плоская структура:</a:t>
            </a:r>
            <a:r>
              <a:rPr lang="ru-RU" sz="2400" dirty="0"/>
              <a:t> в нем нет сложных связей, только простые типы (</a:t>
            </a:r>
            <a:r>
              <a:rPr lang="ru-RU" sz="2400" dirty="0" err="1"/>
              <a:t>string</a:t>
            </a:r>
            <a:r>
              <a:rPr lang="ru-RU" sz="2400" dirty="0"/>
              <a:t>, </a:t>
            </a:r>
            <a:r>
              <a:rPr lang="ru-RU" sz="2400" dirty="0" err="1"/>
              <a:t>int</a:t>
            </a:r>
            <a:r>
              <a:rPr lang="ru-RU" sz="2400" dirty="0"/>
              <a:t>, </a:t>
            </a:r>
            <a:r>
              <a:rPr lang="ru-RU" sz="2400" dirty="0" err="1"/>
              <a:t>Guid</a:t>
            </a:r>
            <a:r>
              <a:rPr lang="ru-RU" sz="2400" dirty="0"/>
              <a:t>).</a:t>
            </a:r>
          </a:p>
          <a:p>
            <a:pPr lvl="1">
              <a:lnSpc>
                <a:spcPct val="150000"/>
              </a:lnSpc>
            </a:pPr>
            <a:r>
              <a:rPr lang="ru-RU" sz="2400" b="1" dirty="0"/>
              <a:t>Безопасность:</a:t>
            </a:r>
            <a:r>
              <a:rPr lang="ru-RU" sz="2400" dirty="0"/>
              <a:t> мы передаем пользователю только то, что ему разрешено видеть (например, DTO скроет поле </a:t>
            </a:r>
            <a:r>
              <a:rPr lang="ru-RU" sz="2400" dirty="0" err="1"/>
              <a:t>PasswordHash</a:t>
            </a:r>
            <a:r>
              <a:rPr lang="ru-RU" sz="2400" dirty="0"/>
              <a:t>).</a:t>
            </a:r>
          </a:p>
          <a:p>
            <a:pPr lvl="1">
              <a:lnSpc>
                <a:spcPct val="150000"/>
              </a:lnSpc>
            </a:pPr>
            <a:r>
              <a:rPr lang="ru-RU" sz="2400" b="1" dirty="0"/>
              <a:t>Оптимизация:</a:t>
            </a:r>
            <a:r>
              <a:rPr lang="ru-RU" sz="2400" dirty="0"/>
              <a:t> содержит только те поля, которые нужны конкретному экрану мобильного приложения или сайта.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Задача:</a:t>
            </a:r>
            <a:r>
              <a:rPr lang="ru-RU" sz="2400" dirty="0"/>
              <a:t> эффективно передать данные «наружу» и принять данные от пользователя.</a:t>
            </a:r>
          </a:p>
        </p:txBody>
      </p:sp>
    </p:spTree>
    <p:extLst>
      <p:ext uri="{BB962C8B-B14F-4D97-AF65-F5344CB8AC3E}">
        <p14:creationId xmlns:p14="http://schemas.microsoft.com/office/powerpoint/2010/main" val="26263963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12366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Студенты часто спрашивают: «Зачем мне писать три класса вместо одного?».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Ответ — Изоляция изменений:</a:t>
            </a: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b="1" dirty="0"/>
              <a:t>Если вы измените БД</a:t>
            </a:r>
            <a:r>
              <a:rPr lang="ru-RU" sz="2400" dirty="0"/>
              <a:t> (переименуете колонку), вы поменяете только </a:t>
            </a:r>
            <a:r>
              <a:rPr lang="ru-RU" sz="2400" b="1" dirty="0" err="1"/>
              <a:t>Entity</a:t>
            </a:r>
            <a:r>
              <a:rPr lang="ru-RU" sz="2400" dirty="0"/>
              <a:t>. Логика в </a:t>
            </a:r>
            <a:r>
              <a:rPr lang="ru-RU" sz="2400" b="1" dirty="0" err="1"/>
              <a:t>Domain</a:t>
            </a:r>
            <a:r>
              <a:rPr lang="ru-RU" sz="2400" dirty="0"/>
              <a:t> и интерфейс пользователя не сломаются.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Если вы измените </a:t>
            </a:r>
            <a:r>
              <a:rPr lang="ru-RU" sz="2400" b="1" dirty="0" err="1"/>
              <a:t>фронтенд</a:t>
            </a:r>
            <a:r>
              <a:rPr lang="ru-RU" sz="2400" dirty="0"/>
              <a:t> (нужно другое поле на экране), вы измените только </a:t>
            </a:r>
            <a:r>
              <a:rPr lang="ru-RU" sz="2400" b="1" dirty="0"/>
              <a:t>DTO</a:t>
            </a:r>
            <a:r>
              <a:rPr lang="ru-RU" sz="2400" dirty="0"/>
              <a:t>. База данных останется прежней.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Безопасность:</a:t>
            </a:r>
            <a:r>
              <a:rPr lang="ru-RU" sz="2400" dirty="0"/>
              <a:t> DTO защищает вас от того, чтобы пользователь случайно не перезаписал системные поля (например, дату регистрации или роль </a:t>
            </a:r>
            <a:r>
              <a:rPr lang="ru-RU" sz="2400" dirty="0" err="1"/>
              <a:t>Admin</a:t>
            </a:r>
            <a:r>
              <a:rPr lang="ru-RU" sz="2400" dirty="0"/>
              <a:t>) при отправке формы.</a:t>
            </a:r>
          </a:p>
        </p:txBody>
      </p:sp>
    </p:spTree>
    <p:extLst>
      <p:ext uri="{BB962C8B-B14F-4D97-AF65-F5344CB8AC3E}">
        <p14:creationId xmlns:p14="http://schemas.microsoft.com/office/powerpoint/2010/main" val="1465645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Что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такое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REST? (Representational State Transfer)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0" y="654357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REST</a:t>
            </a:r>
            <a:r>
              <a:rPr lang="ru-RU" sz="2400" dirty="0"/>
              <a:t> — это архитектурный стиль взаимодействия компонентов распределенного приложения. Это не закон, а набор принципов («золотой стандарт»), по которым строится современный веб.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Автор:</a:t>
            </a:r>
            <a:r>
              <a:rPr lang="ru-RU" sz="2400" dirty="0"/>
              <a:t> Рой Филдинг (2000 г.), один из создателей протокола HTTP.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Главная концепция:</a:t>
            </a:r>
            <a:r>
              <a:rPr lang="ru-RU" sz="2400" dirty="0"/>
              <a:t> Программа общается с </a:t>
            </a:r>
            <a:r>
              <a:rPr lang="ru-RU" sz="2400" b="1" dirty="0"/>
              <a:t>Ресурсами</a:t>
            </a:r>
            <a:r>
              <a:rPr lang="ru-RU" sz="2400" dirty="0"/>
              <a:t> с помощью стандартных </a:t>
            </a:r>
            <a:r>
              <a:rPr lang="ru-RU" sz="2400" b="1" dirty="0"/>
              <a:t>Глаголов</a:t>
            </a:r>
            <a:r>
              <a:rPr lang="ru-RU" sz="2400" dirty="0"/>
              <a:t> (методов).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Метафора:</a:t>
            </a:r>
            <a:endParaRPr lang="ru-RU" sz="24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Ресурс (Существительное):</a:t>
            </a:r>
            <a:r>
              <a:rPr lang="ru-RU" sz="2400" dirty="0"/>
              <a:t> То, над чем делаем действие (например, /</a:t>
            </a:r>
            <a:r>
              <a:rPr lang="ru-RU" sz="2400" dirty="0" err="1"/>
              <a:t>users</a:t>
            </a:r>
            <a:r>
              <a:rPr lang="ru-RU" sz="2400" dirty="0"/>
              <a:t>, /</a:t>
            </a:r>
            <a:r>
              <a:rPr lang="ru-RU" sz="2400" dirty="0" err="1"/>
              <a:t>orders</a:t>
            </a:r>
            <a:r>
              <a:rPr lang="ru-RU" sz="2400" dirty="0"/>
              <a:t>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Метод (Глагол):</a:t>
            </a:r>
            <a:r>
              <a:rPr lang="ru-RU" sz="2400" dirty="0"/>
              <a:t> Само действие (GET, POST, PUT, DELETE).</a:t>
            </a:r>
          </a:p>
        </p:txBody>
      </p:sp>
    </p:spTree>
    <p:extLst>
      <p:ext uri="{BB962C8B-B14F-4D97-AF65-F5344CB8AC3E}">
        <p14:creationId xmlns:p14="http://schemas.microsoft.com/office/powerpoint/2010/main" val="348689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67766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Ресурсный подход (</a:t>
            </a:r>
            <a:r>
              <a:rPr lang="ru-RU" sz="2400" b="1" dirty="0" err="1"/>
              <a:t>The</a:t>
            </a:r>
            <a:r>
              <a:rPr lang="ru-RU" sz="2400" b="1" dirty="0"/>
              <a:t> REST </a:t>
            </a:r>
            <a:r>
              <a:rPr lang="ru-RU" sz="2400" b="1" dirty="0" err="1"/>
              <a:t>Way</a:t>
            </a:r>
            <a:r>
              <a:rPr lang="ru-RU" sz="2400" b="1" dirty="0"/>
              <a:t>)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В REST адрес (URL) должен указывать на </a:t>
            </a:r>
            <a:r>
              <a:rPr lang="ru-RU" sz="2400" b="1" dirty="0"/>
              <a:t>объект</a:t>
            </a:r>
            <a:r>
              <a:rPr lang="ru-RU" sz="2400" dirty="0"/>
              <a:t>, а не на действие. Действие определяется методом HTTP</a:t>
            </a:r>
            <a:r>
              <a:rPr lang="ru-RU" sz="2400" dirty="0" smtClean="0"/>
              <a:t>.</a:t>
            </a:r>
          </a:p>
          <a:p>
            <a:pPr>
              <a:lnSpc>
                <a:spcPct val="150000"/>
              </a:lnSpc>
            </a:pPr>
            <a:endParaRPr lang="ru-RU" sz="2400" dirty="0"/>
          </a:p>
          <a:p>
            <a:pPr>
              <a:lnSpc>
                <a:spcPct val="150000"/>
              </a:lnSpc>
            </a:pPr>
            <a:endParaRPr lang="ru-RU" sz="2400" dirty="0" smtClean="0"/>
          </a:p>
          <a:p>
            <a:pPr>
              <a:lnSpc>
                <a:spcPct val="150000"/>
              </a:lnSpc>
            </a:pPr>
            <a:endParaRPr lang="ru-RU" sz="2400" dirty="0"/>
          </a:p>
          <a:p>
            <a:pPr>
              <a:lnSpc>
                <a:spcPct val="150000"/>
              </a:lnSpc>
            </a:pPr>
            <a:endParaRPr lang="ru-RU" sz="2400" dirty="0" smtClean="0"/>
          </a:p>
          <a:p>
            <a:pPr>
              <a:lnSpc>
                <a:spcPct val="150000"/>
              </a:lnSpc>
            </a:pPr>
            <a:endParaRPr lang="ru-RU" sz="2400" dirty="0"/>
          </a:p>
          <a:p>
            <a:pPr>
              <a:lnSpc>
                <a:spcPct val="150000"/>
              </a:lnSpc>
            </a:pPr>
            <a:endParaRPr lang="ru-RU" sz="2400" dirty="0" smtClean="0"/>
          </a:p>
          <a:p>
            <a:pPr>
              <a:lnSpc>
                <a:spcPct val="150000"/>
              </a:lnSpc>
            </a:pPr>
            <a:r>
              <a:rPr lang="ru-RU" sz="2400" b="1" dirty="0"/>
              <a:t>Почему это удобно:</a:t>
            </a:r>
            <a:r>
              <a:rPr lang="ru-RU" sz="2400" dirty="0"/>
              <a:t> Интерфейс становится предсказуемым. Разработчик </a:t>
            </a:r>
            <a:r>
              <a:rPr lang="ru-RU" sz="2400" dirty="0" err="1"/>
              <a:t>фронтенда</a:t>
            </a:r>
            <a:r>
              <a:rPr lang="ru-RU" sz="2400" dirty="0"/>
              <a:t> точно знает: чтобы получить статью №10, нужно постучаться на </a:t>
            </a:r>
            <a:r>
              <a:rPr lang="ru-RU" sz="2400" dirty="0" err="1"/>
              <a:t>articles</a:t>
            </a:r>
            <a:r>
              <a:rPr lang="ru-RU" sz="2400" dirty="0"/>
              <a:t>/10.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3845511"/>
              </p:ext>
            </p:extLst>
          </p:nvPr>
        </p:nvGraphicFramePr>
        <p:xfrm>
          <a:off x="368643" y="1955801"/>
          <a:ext cx="11454714" cy="2766060"/>
        </p:xfrm>
        <a:graphic>
          <a:graphicData uri="http://schemas.openxmlformats.org/drawingml/2006/table">
            <a:tbl>
              <a:tblPr/>
              <a:tblGrid>
                <a:gridCol w="3818238">
                  <a:extLst>
                    <a:ext uri="{9D8B030D-6E8A-4147-A177-3AD203B41FA5}">
                      <a16:colId xmlns:a16="http://schemas.microsoft.com/office/drawing/2014/main" val="1252402036"/>
                    </a:ext>
                  </a:extLst>
                </a:gridCol>
                <a:gridCol w="3818238">
                  <a:extLst>
                    <a:ext uri="{9D8B030D-6E8A-4147-A177-3AD203B41FA5}">
                      <a16:colId xmlns:a16="http://schemas.microsoft.com/office/drawing/2014/main" val="2962424500"/>
                    </a:ext>
                  </a:extLst>
                </a:gridCol>
                <a:gridCol w="3818238">
                  <a:extLst>
                    <a:ext uri="{9D8B030D-6E8A-4147-A177-3AD203B41FA5}">
                      <a16:colId xmlns:a16="http://schemas.microsoft.com/office/drawing/2014/main" val="29971950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 sz="2400" b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Плохо (</a:t>
                      </a:r>
                      <a:r>
                        <a:rPr lang="en-US" sz="2400" b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Action-based)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Хорошо (</a:t>
                      </a:r>
                      <a:r>
                        <a:rPr lang="en-US" sz="2400" b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REST-way)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Что происходит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95843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GET /</a:t>
                      </a:r>
                      <a:r>
                        <a:rPr lang="en-US" sz="2400" b="0" dirty="0" err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getAllProducts</a:t>
                      </a:r>
                      <a:endParaRPr lang="en-US" sz="2400" b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GET /products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Получить список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959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4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POST /createNewUser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POST /users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Создать запись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7785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4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GET /deleteItem?id=1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DELETE /items/1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Удалить запись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005902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4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GET /updateInfo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PATCH /users/me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Обновить часть данных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7993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08999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Принцип </a:t>
            </a:r>
            <a:r>
              <a:rPr lang="ru-RU" sz="2400" b="1" dirty="0" err="1"/>
              <a:t>Stateless</a:t>
            </a:r>
            <a:r>
              <a:rPr lang="ru-RU" sz="2400" b="1" dirty="0"/>
              <a:t> (Без состояния)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Это важнейшее требование для масштабируемости систем.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Суть:</a:t>
            </a:r>
            <a:r>
              <a:rPr lang="ru-RU" sz="2400" dirty="0"/>
              <a:t> Сервер не должен «помнить» клиента между запросами. Каждый запрос от клиента должен содержать </a:t>
            </a:r>
            <a:r>
              <a:rPr lang="ru-RU" sz="2400" b="1" dirty="0"/>
              <a:t>всю информацию</a:t>
            </a:r>
            <a:r>
              <a:rPr lang="ru-RU" sz="2400" dirty="0"/>
              <a:t>, необходимую для его выполнения (например, </a:t>
            </a:r>
            <a:r>
              <a:rPr lang="ru-RU" sz="2400" dirty="0" err="1"/>
              <a:t>токен</a:t>
            </a:r>
            <a:r>
              <a:rPr lang="ru-RU" sz="2400" dirty="0"/>
              <a:t> авторизации).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Как было раньше:</a:t>
            </a:r>
            <a:r>
              <a:rPr lang="ru-RU" sz="2400" dirty="0"/>
              <a:t> Сервер хранил «Сессию». Если сервер перезагружался, пользователь «вылетал» из системы.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Как в REST:</a:t>
            </a:r>
            <a:r>
              <a:rPr lang="ru-RU" sz="2400" dirty="0"/>
              <a:t> Клиент отправляет </a:t>
            </a:r>
            <a:r>
              <a:rPr lang="ru-RU" sz="2400" dirty="0" err="1"/>
              <a:t>токен</a:t>
            </a:r>
            <a:r>
              <a:rPr lang="ru-RU" sz="2400" dirty="0"/>
              <a:t> в каждом заголовке.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Профит:</a:t>
            </a:r>
            <a:r>
              <a:rPr lang="ru-RU" sz="2400" dirty="0"/>
              <a:t> Если ваше приложение вырастет, вы сможете запустить 10 одинаковых серверов, и запрос пользователя сможет обработать </a:t>
            </a:r>
            <a:r>
              <a:rPr lang="ru-RU" sz="2400" b="1" dirty="0"/>
              <a:t>любой</a:t>
            </a:r>
            <a:r>
              <a:rPr lang="ru-RU" sz="2400" dirty="0"/>
              <a:t> из них.</a:t>
            </a:r>
          </a:p>
        </p:txBody>
      </p:sp>
    </p:spTree>
    <p:extLst>
      <p:ext uri="{BB962C8B-B14F-4D97-AF65-F5344CB8AC3E}">
        <p14:creationId xmlns:p14="http://schemas.microsoft.com/office/powerpoint/2010/main" val="1148015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Ключевые принципы </a:t>
            </a:r>
            <a:r>
              <a:rPr lang="ru-RU" sz="2400" b="1" dirty="0" err="1"/>
              <a:t>RESTful</a:t>
            </a:r>
            <a:r>
              <a:rPr lang="ru-RU" sz="2400" b="1" dirty="0"/>
              <a:t> систем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Отделение клиента от сервера:</a:t>
            </a:r>
            <a:r>
              <a:rPr lang="ru-RU" sz="2400" dirty="0"/>
              <a:t> </a:t>
            </a:r>
            <a:r>
              <a:rPr lang="ru-RU" sz="2400" dirty="0" smtClean="0"/>
              <a:t>Клиент </a:t>
            </a:r>
            <a:r>
              <a:rPr lang="ru-RU" sz="2400" dirty="0"/>
              <a:t>(</a:t>
            </a:r>
            <a:r>
              <a:rPr lang="ru-RU" sz="2400" dirty="0" err="1" smtClean="0"/>
              <a:t>фронтенд</a:t>
            </a:r>
            <a:r>
              <a:rPr lang="ru-RU" sz="2400" dirty="0" smtClean="0"/>
              <a:t>) не знает о базе </a:t>
            </a:r>
            <a:r>
              <a:rPr lang="ru-RU" sz="2400" dirty="0"/>
              <a:t>данных. </a:t>
            </a:r>
            <a:r>
              <a:rPr lang="ru-RU" sz="2400" dirty="0" smtClean="0"/>
              <a:t>Сервер не знает о дизайне кнопок</a:t>
            </a:r>
            <a:r>
              <a:rPr lang="ru-RU" sz="2400" dirty="0"/>
              <a:t>. Они связаны только общим интерфейсом (API).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Единообразие интерфейса:</a:t>
            </a:r>
            <a:r>
              <a:rPr lang="ru-RU" sz="2400" dirty="0"/>
              <a:t> Используются стандартные методы HTTP и стандартные форматы данных (обычно </a:t>
            </a:r>
            <a:r>
              <a:rPr lang="ru-RU" sz="2400" b="1" dirty="0"/>
              <a:t>JSON</a:t>
            </a:r>
            <a:r>
              <a:rPr lang="ru-RU" sz="2400" dirty="0"/>
              <a:t>).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 err="1"/>
              <a:t>Кэшируемость</a:t>
            </a:r>
            <a:r>
              <a:rPr lang="ru-RU" sz="2400" b="1" dirty="0"/>
              <a:t>:</a:t>
            </a:r>
            <a:r>
              <a:rPr lang="ru-RU" sz="2400" dirty="0"/>
              <a:t> Ответы сервера должны помечаться как кэшируемые или нет. Это экономит ресурсы сети.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 err="1"/>
              <a:t>Многоуровневость</a:t>
            </a:r>
            <a:r>
              <a:rPr lang="ru-RU" sz="2400" b="1" dirty="0"/>
              <a:t>:</a:t>
            </a:r>
            <a:r>
              <a:rPr lang="ru-RU" sz="2400" dirty="0"/>
              <a:t> Клиент не должен знать, общается он напрямую с сервером или через промежуточный узел (прокси, </a:t>
            </a:r>
            <a:r>
              <a:rPr lang="ru-RU" sz="2400" dirty="0" err="1"/>
              <a:t>балансировщик</a:t>
            </a:r>
            <a:r>
              <a:rPr lang="ru-RU" sz="24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8966462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Итоги: Почему REST идеален для Чистой Архитектуры?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В нашей «луковице» REST API — это всего лишь </a:t>
            </a:r>
            <a:r>
              <a:rPr lang="ru-RU" sz="2400" b="1" dirty="0"/>
              <a:t>слой UI (внешнее кольцо)</a:t>
            </a:r>
            <a:r>
              <a:rPr lang="ru-RU" sz="240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/>
              <a:t>Контроллеры API принимают REST-запросы.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/>
              <a:t>Переводят их в команды для слоя </a:t>
            </a:r>
            <a:r>
              <a:rPr lang="ru-RU" sz="2400" b="1" dirty="0" err="1"/>
              <a:t>Application</a:t>
            </a:r>
            <a:r>
              <a:rPr lang="ru-RU" sz="240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/>
              <a:t>Возвращают ответ в формате JSON.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Результат:</a:t>
            </a:r>
            <a:r>
              <a:rPr lang="ru-RU" sz="2400" dirty="0"/>
              <a:t> Вы можете полностью переписать внутренности приложения, сменить базу данных или язык программирования ядра, но если ваше </a:t>
            </a:r>
            <a:r>
              <a:rPr lang="ru-RU" sz="2400" b="1" dirty="0"/>
              <a:t>REST API</a:t>
            </a:r>
            <a:r>
              <a:rPr lang="ru-RU" sz="2400" dirty="0"/>
              <a:t> останется прежним — все мобильные приложения и сайты продолжат работать без единой правки кода.</a:t>
            </a:r>
          </a:p>
        </p:txBody>
      </p:sp>
    </p:spTree>
    <p:extLst>
      <p:ext uri="{BB962C8B-B14F-4D97-AF65-F5344CB8AC3E}">
        <p14:creationId xmlns:p14="http://schemas.microsoft.com/office/powerpoint/2010/main" val="19330920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Swagger — 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лицо вашего 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API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0" y="654357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Проблема:</a:t>
            </a:r>
            <a:r>
              <a:rPr lang="ru-RU" sz="2400" dirty="0"/>
              <a:t> </a:t>
            </a:r>
            <a:r>
              <a:rPr lang="ru-RU" sz="2400" dirty="0" err="1"/>
              <a:t>Бэкенд</a:t>
            </a:r>
            <a:r>
              <a:rPr lang="ru-RU" sz="2400" dirty="0"/>
              <a:t>-разработчик написал десятки контроллеров и методов. Как </a:t>
            </a:r>
            <a:r>
              <a:rPr lang="ru-RU" sz="2400" dirty="0" err="1"/>
              <a:t>фронтенд</a:t>
            </a:r>
            <a:r>
              <a:rPr lang="ru-RU" sz="2400" dirty="0"/>
              <a:t>-разработчику или </a:t>
            </a:r>
            <a:r>
              <a:rPr lang="ru-RU" sz="2400" dirty="0" err="1"/>
              <a:t>тестировщику</a:t>
            </a:r>
            <a:r>
              <a:rPr lang="ru-RU" sz="2400" dirty="0"/>
              <a:t> узнать: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/>
              <a:t>Какие адреса существуют?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/>
              <a:t>Какие данные нужно отправить (названия полей, типы)?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/>
              <a:t>Что сервер вернет в ответ?</a:t>
            </a:r>
            <a:br>
              <a:rPr lang="ru-RU" sz="2400" dirty="0"/>
            </a:br>
            <a:r>
              <a:rPr lang="ru-RU" sz="2400" i="1" dirty="0"/>
              <a:t>Чтение чужого C#-кода — это долго и неэффективно.</a:t>
            </a: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b="1" dirty="0"/>
              <a:t>Решение: </a:t>
            </a:r>
            <a:r>
              <a:rPr lang="ru-RU" sz="2400" b="1" dirty="0" err="1"/>
              <a:t>Swagger</a:t>
            </a:r>
            <a:r>
              <a:rPr lang="ru-RU" sz="2400" b="1" dirty="0"/>
              <a:t> (</a:t>
            </a:r>
            <a:r>
              <a:rPr lang="ru-RU" sz="2400" b="1" dirty="0" err="1"/>
              <a:t>OpenAPI</a:t>
            </a:r>
            <a:r>
              <a:rPr lang="ru-RU" sz="2400" b="1" dirty="0"/>
              <a:t>)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/>
              <a:t>Это встроенный в ASP.NET </a:t>
            </a:r>
            <a:r>
              <a:rPr lang="ru-RU" sz="2400" dirty="0" err="1"/>
              <a:t>Core</a:t>
            </a:r>
            <a:r>
              <a:rPr lang="ru-RU" sz="2400" dirty="0"/>
              <a:t> инструмент, который автоматически сканирует ваши контроллеры и генерирует красивую, интерактивную веб-страницу с документацией.</a:t>
            </a:r>
          </a:p>
        </p:txBody>
      </p:sp>
    </p:spTree>
    <p:extLst>
      <p:ext uri="{BB962C8B-B14F-4D97-AF65-F5344CB8AC3E}">
        <p14:creationId xmlns:p14="http://schemas.microsoft.com/office/powerpoint/2010/main" val="16988532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86341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200" dirty="0"/>
              <a:t>Для работы </a:t>
            </a:r>
            <a:r>
              <a:rPr lang="ru-RU" sz="2200" dirty="0" err="1"/>
              <a:t>Swagger</a:t>
            </a:r>
            <a:r>
              <a:rPr lang="ru-RU" sz="2200" dirty="0"/>
              <a:t> нужно добавить два вызова в файл </a:t>
            </a:r>
            <a:r>
              <a:rPr lang="ru-RU" sz="2200" dirty="0" err="1"/>
              <a:t>Program.cs</a:t>
            </a:r>
            <a:r>
              <a:rPr lang="ru-RU" sz="2200" dirty="0"/>
              <a:t>. Один для настройки генератора, второй — для отображения интерфейса (UI</a:t>
            </a:r>
            <a:r>
              <a:rPr lang="ru-RU" sz="2200" dirty="0" smtClean="0"/>
              <a:t>).</a:t>
            </a:r>
            <a:endParaRPr lang="en-US" sz="2200" dirty="0"/>
          </a:p>
          <a:p>
            <a:r>
              <a:rPr lang="en-US" sz="22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WebApplication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2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CreateBuilder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2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2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.Services.</a:t>
            </a:r>
            <a:r>
              <a:rPr lang="en-US" sz="22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AddControllers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1. Добавляем сервис генерации документации</a:t>
            </a:r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.Services.</a:t>
            </a:r>
            <a:r>
              <a:rPr lang="en-US" sz="22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AddSwaggerGen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2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2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2. Включаем отображение </a:t>
            </a:r>
            <a:r>
              <a:rPr lang="ru-RU" sz="22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Swagger</a:t>
            </a:r>
            <a:r>
              <a:rPr lang="ru-RU" sz="2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UI (обычно только для разработчиков)</a:t>
            </a:r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2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.Environment.</a:t>
            </a:r>
            <a:r>
              <a:rPr lang="en-US" sz="22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IsDevelopment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())</a:t>
            </a: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2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UseSwagger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2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UseSwaggerUI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2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2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MapControllers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22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2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Run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1970402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8067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>
                <a:solidFill>
                  <a:srgbClr val="161616"/>
                </a:solidFill>
                <a:latin typeface="Bookman Old Style" panose="02050604050505020204" pitchFamily="18" charset="0"/>
              </a:rPr>
              <a:t>https://localhost:7164/swagger/index.html</a:t>
            </a:r>
            <a:endParaRPr lang="ru-RU" sz="2400" b="1" dirty="0">
              <a:solidFill>
                <a:srgbClr val="161616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t="32565" b="32716"/>
          <a:stretch/>
        </p:blipFill>
        <p:spPr>
          <a:xfrm>
            <a:off x="58888" y="1186248"/>
            <a:ext cx="12074224" cy="5156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2884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51607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2400" b="1" dirty="0"/>
              <a:t>Интерфейс </a:t>
            </a:r>
            <a:r>
              <a:rPr lang="ru-RU" sz="2400" b="1" dirty="0" err="1"/>
              <a:t>Swagger</a:t>
            </a:r>
            <a:r>
              <a:rPr lang="ru-RU" sz="2400" b="1" dirty="0"/>
              <a:t> (Как с ним работать)</a:t>
            </a:r>
          </a:p>
          <a:p>
            <a:pPr>
              <a:lnSpc>
                <a:spcPct val="125000"/>
              </a:lnSpc>
            </a:pPr>
            <a:r>
              <a:rPr lang="ru-RU" sz="2400" dirty="0"/>
              <a:t>Когда вы запускаете проект (по адресу /</a:t>
            </a:r>
            <a:r>
              <a:rPr lang="ru-RU" sz="2400" dirty="0" err="1"/>
              <a:t>swagger</a:t>
            </a:r>
            <a:r>
              <a:rPr lang="ru-RU" sz="2400" dirty="0"/>
              <a:t>), вы видите список всех доступных ресурсов (например, </a:t>
            </a:r>
            <a:r>
              <a:rPr lang="ru-RU" sz="2400" dirty="0" err="1"/>
              <a:t>Notes</a:t>
            </a:r>
            <a:r>
              <a:rPr lang="ru-RU" sz="2400" dirty="0"/>
              <a:t>).</a:t>
            </a:r>
          </a:p>
          <a:p>
            <a:pPr>
              <a:lnSpc>
                <a:spcPct val="125000"/>
              </a:lnSpc>
            </a:pPr>
            <a:r>
              <a:rPr lang="ru-RU" sz="2400" b="1" dirty="0"/>
              <a:t>Процесс тестирования метода:</a:t>
            </a:r>
            <a:endParaRPr lang="ru-RU" sz="2400" dirty="0"/>
          </a:p>
          <a:p>
            <a:pPr marL="457200" indent="-457200">
              <a:lnSpc>
                <a:spcPct val="125000"/>
              </a:lnSpc>
              <a:buFont typeface="+mj-lt"/>
              <a:buAutoNum type="arabicPeriod"/>
            </a:pPr>
            <a:r>
              <a:rPr lang="ru-RU" sz="2400" dirty="0"/>
              <a:t>Открываем нужный метод (например, POST /</a:t>
            </a:r>
            <a:r>
              <a:rPr lang="ru-RU" sz="2400" dirty="0" err="1"/>
              <a:t>Notes</a:t>
            </a:r>
            <a:r>
              <a:rPr lang="ru-RU" sz="2400" dirty="0"/>
              <a:t>/</a:t>
            </a:r>
            <a:r>
              <a:rPr lang="ru-RU" sz="2400" dirty="0" err="1"/>
              <a:t>Create</a:t>
            </a:r>
            <a:r>
              <a:rPr lang="ru-RU" sz="2400" dirty="0"/>
              <a:t>).</a:t>
            </a:r>
          </a:p>
          <a:p>
            <a:pPr marL="457200" indent="-457200">
              <a:lnSpc>
                <a:spcPct val="125000"/>
              </a:lnSpc>
              <a:buFont typeface="+mj-lt"/>
              <a:buAutoNum type="arabicPeriod"/>
            </a:pPr>
            <a:r>
              <a:rPr lang="ru-RU" sz="2400" dirty="0"/>
              <a:t>Нажимаем кнопку </a:t>
            </a:r>
            <a:r>
              <a:rPr lang="ru-RU" sz="2400" b="1" dirty="0"/>
              <a:t>«</a:t>
            </a:r>
            <a:r>
              <a:rPr lang="ru-RU" sz="2400" b="1" dirty="0" err="1"/>
              <a:t>Try</a:t>
            </a:r>
            <a:r>
              <a:rPr lang="ru-RU" sz="2400" b="1" dirty="0"/>
              <a:t> </a:t>
            </a:r>
            <a:r>
              <a:rPr lang="ru-RU" sz="2400" b="1" dirty="0" err="1"/>
              <a:t>it</a:t>
            </a:r>
            <a:r>
              <a:rPr lang="ru-RU" sz="2400" b="1" dirty="0"/>
              <a:t> </a:t>
            </a:r>
            <a:r>
              <a:rPr lang="ru-RU" sz="2400" b="1" dirty="0" err="1"/>
              <a:t>out</a:t>
            </a:r>
            <a:r>
              <a:rPr lang="ru-RU" sz="2400" b="1" dirty="0"/>
              <a:t>»</a:t>
            </a:r>
            <a:r>
              <a:rPr lang="ru-RU" sz="2400" dirty="0"/>
              <a:t> (Попробовать).</a:t>
            </a:r>
          </a:p>
          <a:p>
            <a:pPr marL="457200" indent="-457200">
              <a:lnSpc>
                <a:spcPct val="125000"/>
              </a:lnSpc>
              <a:buFont typeface="+mj-lt"/>
              <a:buAutoNum type="arabicPeriod"/>
            </a:pPr>
            <a:r>
              <a:rPr lang="ru-RU" sz="2400" dirty="0"/>
              <a:t>В поле </a:t>
            </a:r>
            <a:r>
              <a:rPr lang="ru-RU" sz="2400" b="1" dirty="0" err="1"/>
              <a:t>Request</a:t>
            </a:r>
            <a:r>
              <a:rPr lang="ru-RU" sz="2400" b="1" dirty="0"/>
              <a:t> </a:t>
            </a:r>
            <a:r>
              <a:rPr lang="ru-RU" sz="2400" b="1" dirty="0" err="1"/>
              <a:t>body</a:t>
            </a:r>
            <a:r>
              <a:rPr lang="ru-RU" sz="2400" dirty="0"/>
              <a:t> </a:t>
            </a:r>
            <a:r>
              <a:rPr lang="ru-RU" sz="2400" dirty="0" err="1"/>
              <a:t>Swagger</a:t>
            </a:r>
            <a:r>
              <a:rPr lang="ru-RU" sz="2400" dirty="0"/>
              <a:t> уже сгенерировал шаблон JSON на основе вашего DTO</a:t>
            </a:r>
            <a:r>
              <a:rPr lang="ru-RU" sz="2400" dirty="0" smtClean="0"/>
              <a:t>:</a:t>
            </a:r>
            <a:endParaRPr lang="en-US" sz="2400" dirty="0"/>
          </a:p>
          <a:p>
            <a:pPr>
              <a:lnSpc>
                <a:spcPct val="125000"/>
              </a:lnSpc>
            </a:pPr>
            <a:r>
              <a:rPr lang="en-US" sz="2400" dirty="0"/>
              <a:t>{</a:t>
            </a:r>
          </a:p>
          <a:p>
            <a:pPr>
              <a:lnSpc>
                <a:spcPct val="125000"/>
              </a:lnSpc>
            </a:pPr>
            <a:r>
              <a:rPr lang="en-US" sz="2400" dirty="0"/>
              <a:t>  "title": "</a:t>
            </a:r>
            <a:r>
              <a:rPr lang="ru-RU" sz="2400" dirty="0"/>
              <a:t>строка",</a:t>
            </a:r>
          </a:p>
          <a:p>
            <a:pPr>
              <a:lnSpc>
                <a:spcPct val="125000"/>
              </a:lnSpc>
            </a:pPr>
            <a:r>
              <a:rPr lang="ru-RU" sz="2400" dirty="0"/>
              <a:t>  "</a:t>
            </a:r>
            <a:r>
              <a:rPr lang="en-US" sz="2400" dirty="0"/>
              <a:t>description": "</a:t>
            </a:r>
            <a:r>
              <a:rPr lang="ru-RU" sz="2400" dirty="0"/>
              <a:t>строка"</a:t>
            </a:r>
          </a:p>
          <a:p>
            <a:pPr>
              <a:lnSpc>
                <a:spcPct val="125000"/>
              </a:lnSpc>
            </a:pPr>
            <a:r>
              <a:rPr lang="ru-RU" sz="2400" dirty="0" smtClean="0"/>
              <a:t>}</a:t>
            </a:r>
            <a:endParaRPr lang="en-US" sz="2400" dirty="0" smtClean="0"/>
          </a:p>
          <a:p>
            <a:pPr marL="457200" indent="-457200">
              <a:lnSpc>
                <a:spcPct val="125000"/>
              </a:lnSpc>
              <a:buFont typeface="+mj-lt"/>
              <a:buAutoNum type="arabicPeriod" startAt="4"/>
            </a:pPr>
            <a:r>
              <a:rPr lang="ru-RU" sz="2400" dirty="0"/>
              <a:t>Меняем</a:t>
            </a:r>
            <a:r>
              <a:rPr lang="ru-RU" sz="2400" dirty="0"/>
              <a:t> «строка» на свои данные (например, "Заметка 1") и жмем </a:t>
            </a:r>
            <a:r>
              <a:rPr lang="ru-RU" sz="2400" b="1" dirty="0" err="1"/>
              <a:t>Execute</a:t>
            </a:r>
            <a:r>
              <a:rPr lang="ru-RU" sz="2400" dirty="0"/>
              <a:t> (Выполнить).</a:t>
            </a:r>
            <a:endParaRPr 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21694875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2724" y="0"/>
            <a:ext cx="8219276" cy="6756811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917" y="806928"/>
            <a:ext cx="2638880" cy="1219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787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Анализ ответа (</a:t>
            </a:r>
            <a:r>
              <a:rPr lang="ru-RU" sz="2400" b="1" dirty="0" err="1"/>
              <a:t>Response</a:t>
            </a:r>
            <a:r>
              <a:rPr lang="ru-RU" sz="2400" b="1" dirty="0"/>
              <a:t>)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После нажатия «</a:t>
            </a:r>
            <a:r>
              <a:rPr lang="ru-RU" sz="2400" dirty="0" err="1"/>
              <a:t>Execute</a:t>
            </a:r>
            <a:r>
              <a:rPr lang="ru-RU" sz="2400" dirty="0"/>
              <a:t>» </a:t>
            </a:r>
            <a:r>
              <a:rPr lang="ru-RU" sz="2400" dirty="0" err="1"/>
              <a:t>Swagger</a:t>
            </a:r>
            <a:r>
              <a:rPr lang="ru-RU" sz="2400" dirty="0"/>
              <a:t> показывает полную картину того, как сервер отреагировал на запрос.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Что мы видим в ответе:</a:t>
            </a:r>
            <a:endParaRPr lang="ru-RU" sz="24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/>
              <a:t>Curl</a:t>
            </a:r>
            <a:r>
              <a:rPr lang="ru-RU" sz="2400" b="1" dirty="0"/>
              <a:t>:</a:t>
            </a:r>
            <a:r>
              <a:rPr lang="ru-RU" sz="2400" dirty="0"/>
              <a:t> Готовая команда для консоли, если нужно повторить запрос вне браузера.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/>
              <a:t>Response</a:t>
            </a:r>
            <a:r>
              <a:rPr lang="ru-RU" sz="2400" b="1" dirty="0"/>
              <a:t> </a:t>
            </a:r>
            <a:r>
              <a:rPr lang="ru-RU" sz="2400" b="1" dirty="0" err="1"/>
              <a:t>Body</a:t>
            </a:r>
            <a:r>
              <a:rPr lang="ru-RU" sz="2400" b="1" dirty="0"/>
              <a:t> (Тело ответа):</a:t>
            </a:r>
            <a:r>
              <a:rPr lang="ru-RU" sz="2400" dirty="0"/>
              <a:t> Сервер вернул нам созданный объект с присвоенным </a:t>
            </a:r>
            <a:r>
              <a:rPr lang="ru-RU" sz="2400" dirty="0" err="1"/>
              <a:t>id</a:t>
            </a:r>
            <a:r>
              <a:rPr lang="ru-RU" sz="2400" dirty="0"/>
              <a:t> и датой </a:t>
            </a:r>
            <a:r>
              <a:rPr lang="ru-RU" sz="2400" dirty="0" err="1"/>
              <a:t>createdAt</a:t>
            </a:r>
            <a:r>
              <a:rPr lang="ru-RU" sz="2400" dirty="0"/>
              <a:t> в формате JSON.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/>
              <a:t>Response</a:t>
            </a:r>
            <a:r>
              <a:rPr lang="ru-RU" sz="2400" b="1" dirty="0"/>
              <a:t> </a:t>
            </a:r>
            <a:r>
              <a:rPr lang="ru-RU" sz="2400" b="1" dirty="0" err="1"/>
              <a:t>Headers</a:t>
            </a:r>
            <a:r>
              <a:rPr lang="ru-RU" sz="2400" b="1" dirty="0"/>
              <a:t>:</a:t>
            </a:r>
            <a:r>
              <a:rPr lang="ru-RU" sz="2400" dirty="0"/>
              <a:t> Технические заголовки ответа (тип контента, сервер).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/>
              <a:t>Code</a:t>
            </a:r>
            <a:r>
              <a:rPr lang="ru-RU" sz="2400" b="1" dirty="0"/>
              <a:t> (Статус-код):</a:t>
            </a:r>
            <a:r>
              <a:rPr lang="ru-RU" sz="2400" dirty="0"/>
              <a:t> Например, 200 OK (всё прошло успешно) или 400 </a:t>
            </a:r>
            <a:r>
              <a:rPr lang="ru-RU" sz="2400" dirty="0" err="1"/>
              <a:t>Bad</a:t>
            </a:r>
            <a:r>
              <a:rPr lang="ru-RU" sz="2400" dirty="0"/>
              <a:t> </a:t>
            </a:r>
            <a:r>
              <a:rPr lang="ru-RU" sz="2400" dirty="0" err="1"/>
              <a:t>Request</a:t>
            </a:r>
            <a:r>
              <a:rPr lang="ru-RU" sz="2400" dirty="0"/>
              <a:t> (ошибка </a:t>
            </a:r>
            <a:r>
              <a:rPr lang="ru-RU" sz="2400" dirty="0" err="1"/>
              <a:t>валидации</a:t>
            </a:r>
            <a:r>
              <a:rPr lang="ru-RU" sz="24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83189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b="56688"/>
          <a:stretch/>
        </p:blipFill>
        <p:spPr>
          <a:xfrm>
            <a:off x="200022" y="844942"/>
            <a:ext cx="11846834" cy="5301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251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Docker — «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упаковка» приложения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0" y="654357"/>
            <a:ext cx="12192000" cy="580973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30000"/>
              </a:lnSpc>
            </a:pPr>
            <a:r>
              <a:rPr lang="ru-RU" sz="2400" b="1" dirty="0"/>
              <a:t>Проблема «На моем компьютере всё работает</a:t>
            </a:r>
            <a:r>
              <a:rPr lang="ru-RU" sz="2400" b="1" dirty="0" smtClean="0"/>
              <a:t>!»</a:t>
            </a:r>
          </a:p>
          <a:p>
            <a:pPr>
              <a:lnSpc>
                <a:spcPct val="130000"/>
              </a:lnSpc>
            </a:pPr>
            <a:r>
              <a:rPr lang="ru-RU" sz="2400" b="1" dirty="0"/>
              <a:t>Ситуация:</a:t>
            </a:r>
            <a:r>
              <a:rPr lang="ru-RU" sz="2400" dirty="0"/>
              <a:t> Вы написали отличный код, настроили базу данных, всё работает идеально. Вы передаете проект заказчику или коллеге, и у них... ничего не запускается</a:t>
            </a:r>
            <a:r>
              <a:rPr lang="ru-RU" sz="2400" dirty="0" smtClean="0"/>
              <a:t>.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Причины:</a:t>
            </a:r>
            <a:r>
              <a:rPr lang="ru-RU" sz="2400" dirty="0"/>
              <a:t> Другая версия </a:t>
            </a:r>
            <a:r>
              <a:rPr lang="ru-RU" sz="2400" dirty="0" err="1"/>
              <a:t>Windows</a:t>
            </a:r>
            <a:r>
              <a:rPr lang="ru-RU" sz="2400" dirty="0"/>
              <a:t>/</a:t>
            </a:r>
            <a:r>
              <a:rPr lang="ru-RU" sz="2400" dirty="0" err="1"/>
              <a:t>Linux</a:t>
            </a:r>
            <a:r>
              <a:rPr lang="ru-RU" sz="2400" dirty="0"/>
              <a:t>, не установлены библиотеки, заняты порты, не хватает прав доступа.</a:t>
            </a:r>
          </a:p>
          <a:p>
            <a:pPr>
              <a:lnSpc>
                <a:spcPct val="130000"/>
              </a:lnSpc>
            </a:pPr>
            <a:r>
              <a:rPr lang="ru-RU" sz="2400" b="1" dirty="0"/>
              <a:t>Решение: </a:t>
            </a:r>
            <a:r>
              <a:rPr lang="ru-RU" sz="2400" b="1" dirty="0" err="1"/>
              <a:t>Docker</a:t>
            </a:r>
            <a:r>
              <a:rPr lang="ru-RU" sz="2400" b="1" dirty="0"/>
              <a:t> (Контейнеризация)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/>
              <a:t>Это технология, которая позволяет упаковать ваше приложение вместе со всем его окружением (ОС, системные библиотеки, настройки) в один изолированный «ящик» — </a:t>
            </a:r>
            <a:r>
              <a:rPr lang="ru-RU" sz="2400" b="1" dirty="0"/>
              <a:t>контейнер</a:t>
            </a:r>
            <a:r>
              <a:rPr lang="ru-RU" sz="2400" dirty="0" smtClean="0"/>
              <a:t>.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Главная мысль:</a:t>
            </a:r>
            <a:r>
              <a:rPr lang="ru-RU" sz="2400" dirty="0"/>
              <a:t> «Если это запустилось в контейнере у вас — это гарантированно запустится на любом сервере в мире».</a:t>
            </a:r>
          </a:p>
        </p:txBody>
      </p:sp>
    </p:spTree>
    <p:extLst>
      <p:ext uri="{BB962C8B-B14F-4D97-AF65-F5344CB8AC3E}">
        <p14:creationId xmlns:p14="http://schemas.microsoft.com/office/powerpoint/2010/main" val="2920630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56966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Как устроен </a:t>
            </a:r>
            <a:r>
              <a:rPr lang="ru-RU" sz="2400" b="1" dirty="0" err="1"/>
              <a:t>Docker</a:t>
            </a:r>
            <a:r>
              <a:rPr lang="ru-RU" sz="2400" b="1" dirty="0"/>
              <a:t>?</a:t>
            </a:r>
          </a:p>
          <a:p>
            <a:pPr>
              <a:lnSpc>
                <a:spcPct val="150000"/>
              </a:lnSpc>
            </a:pPr>
            <a:r>
              <a:rPr lang="ru-RU" sz="2400" b="1" dirty="0" err="1"/>
              <a:t>Docker</a:t>
            </a:r>
            <a:r>
              <a:rPr lang="ru-RU" sz="2400" b="1" dirty="0"/>
              <a:t> </a:t>
            </a:r>
            <a:r>
              <a:rPr lang="ru-RU" sz="2400" b="1" dirty="0" err="1"/>
              <a:t>Image</a:t>
            </a:r>
            <a:r>
              <a:rPr lang="ru-RU" sz="2400" b="1" dirty="0"/>
              <a:t> (Образ):</a:t>
            </a:r>
            <a:r>
              <a:rPr lang="ru-RU" sz="2400" dirty="0"/>
              <a:t> Это «чертеж» или «слепок» вашей системы. В нем записано: какая ОС нужна, какие </a:t>
            </a:r>
            <a:r>
              <a:rPr lang="ru-RU" sz="2400" dirty="0" err="1"/>
              <a:t>NuGet</a:t>
            </a:r>
            <a:r>
              <a:rPr lang="ru-RU" sz="2400" dirty="0"/>
              <a:t>-пакеты установить и куда положить ваш код.</a:t>
            </a:r>
          </a:p>
          <a:p>
            <a:pPr>
              <a:lnSpc>
                <a:spcPct val="150000"/>
              </a:lnSpc>
            </a:pPr>
            <a:r>
              <a:rPr lang="ru-RU" sz="2400" b="1" dirty="0" err="1"/>
              <a:t>Docker</a:t>
            </a:r>
            <a:r>
              <a:rPr lang="ru-RU" sz="2400" b="1" dirty="0"/>
              <a:t> </a:t>
            </a:r>
            <a:r>
              <a:rPr lang="ru-RU" sz="2400" b="1" dirty="0" err="1"/>
              <a:t>Container</a:t>
            </a:r>
            <a:r>
              <a:rPr lang="ru-RU" sz="2400" b="1" dirty="0"/>
              <a:t> (Контейнер):</a:t>
            </a:r>
            <a:r>
              <a:rPr lang="ru-RU" sz="2400" dirty="0"/>
              <a:t> Это живой, работающий экземпляр образа. Вы можете запустить 10 одинаковых контейнеров из одного образа.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Изоляция:</a:t>
            </a:r>
            <a:r>
              <a:rPr lang="ru-RU" sz="2400" dirty="0"/>
              <a:t> Приложение внутри контейнера думает, что оно одно в системе. Оно не может случайно испортить файлы на вашем реальном диске.</a:t>
            </a:r>
          </a:p>
        </p:txBody>
      </p:sp>
    </p:spTree>
    <p:extLst>
      <p:ext uri="{BB962C8B-B14F-4D97-AF65-F5344CB8AC3E}">
        <p14:creationId xmlns:p14="http://schemas.microsoft.com/office/powerpoint/2010/main" val="146661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01566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err="1"/>
              <a:t>Docker</a:t>
            </a:r>
            <a:r>
              <a:rPr lang="ru-RU" sz="2400" b="1" dirty="0"/>
              <a:t> </a:t>
            </a:r>
            <a:r>
              <a:rPr lang="ru-RU" sz="2400" b="1" dirty="0" err="1"/>
              <a:t>Compose</a:t>
            </a:r>
            <a:r>
              <a:rPr lang="ru-RU" sz="2400" b="1" dirty="0"/>
              <a:t> — Дирижер вашей системы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Профессиональное приложение — это не только один C#-код. Вам нужна база данных (</a:t>
            </a:r>
            <a:r>
              <a:rPr lang="ru-RU" sz="2400" dirty="0" err="1"/>
              <a:t>PostgreSQL</a:t>
            </a:r>
            <a:r>
              <a:rPr lang="ru-RU" sz="2400" dirty="0"/>
              <a:t>), кэш (</a:t>
            </a:r>
            <a:r>
              <a:rPr lang="ru-RU" sz="2400" dirty="0" err="1"/>
              <a:t>Redis</a:t>
            </a:r>
            <a:r>
              <a:rPr lang="ru-RU" sz="2400" dirty="0"/>
              <a:t>) и, возможно, </a:t>
            </a:r>
            <a:r>
              <a:rPr lang="ru-RU" sz="2400" dirty="0" err="1"/>
              <a:t>фронтенд</a:t>
            </a:r>
            <a:r>
              <a:rPr lang="ru-RU" sz="2400" dirty="0"/>
              <a:t> на </a:t>
            </a:r>
            <a:r>
              <a:rPr lang="ru-RU" sz="2400" dirty="0" err="1"/>
              <a:t>React</a:t>
            </a:r>
            <a:r>
              <a:rPr lang="ru-RU" sz="2400" dirty="0"/>
              <a:t>.</a:t>
            </a:r>
          </a:p>
          <a:p>
            <a:pPr>
              <a:lnSpc>
                <a:spcPct val="150000"/>
              </a:lnSpc>
            </a:pPr>
            <a:r>
              <a:rPr lang="ru-RU" sz="2400" b="1" dirty="0" err="1"/>
              <a:t>Docker</a:t>
            </a:r>
            <a:r>
              <a:rPr lang="ru-RU" sz="2400" b="1" dirty="0"/>
              <a:t> </a:t>
            </a:r>
            <a:r>
              <a:rPr lang="ru-RU" sz="2400" b="1" dirty="0" err="1"/>
              <a:t>Compose</a:t>
            </a:r>
            <a:r>
              <a:rPr lang="ru-RU" sz="2400" dirty="0"/>
              <a:t> — это инструмент, который позволяет описать всю вашу инфраструктуру в одном текстовом файле (</a:t>
            </a:r>
            <a:r>
              <a:rPr lang="ru-RU" sz="2400" dirty="0" err="1"/>
              <a:t>docker-compose.yml</a:t>
            </a:r>
            <a:r>
              <a:rPr lang="ru-RU" sz="2400" dirty="0"/>
              <a:t>).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Всего одна команда:</a:t>
            </a:r>
            <a:r>
              <a:rPr lang="ru-RU" sz="2400" dirty="0"/>
              <a:t> </a:t>
            </a:r>
            <a:r>
              <a:rPr lang="ru-RU" sz="2400" dirty="0" err="1"/>
              <a:t>docker-compose</a:t>
            </a:r>
            <a:r>
              <a:rPr lang="ru-RU" sz="2400" dirty="0"/>
              <a:t> </a:t>
            </a:r>
            <a:r>
              <a:rPr lang="ru-RU" sz="2400" dirty="0" err="1"/>
              <a:t>up</a:t>
            </a: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b="1" dirty="0"/>
              <a:t>Результат:</a:t>
            </a:r>
            <a:r>
              <a:rPr lang="ru-RU" sz="2400" dirty="0"/>
              <a:t> </a:t>
            </a:r>
            <a:r>
              <a:rPr lang="ru-RU" sz="2400" dirty="0" err="1"/>
              <a:t>Docker</a:t>
            </a:r>
            <a:r>
              <a:rPr lang="ru-RU" sz="2400" dirty="0"/>
              <a:t> сам скачает базу данных, создаст для неё хранилище, соберет ваше приложение, соединит их в одну сеть и запустит всё одновременно.</a:t>
            </a:r>
          </a:p>
        </p:txBody>
      </p:sp>
    </p:spTree>
    <p:extLst>
      <p:ext uri="{BB962C8B-B14F-4D97-AF65-F5344CB8AC3E}">
        <p14:creationId xmlns:p14="http://schemas.microsoft.com/office/powerpoint/2010/main" val="3762417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8647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Разбор примера (</a:t>
            </a:r>
            <a:r>
              <a:rPr lang="en-US" sz="2400" b="1" dirty="0"/>
              <a:t>PostgreSQL </a:t>
            </a:r>
            <a:r>
              <a:rPr lang="ru-RU" sz="2400" b="1" dirty="0"/>
              <a:t>в </a:t>
            </a:r>
            <a:r>
              <a:rPr lang="en-US" sz="2400" b="1" dirty="0"/>
              <a:t>Docker)</a:t>
            </a:r>
          </a:p>
          <a:p>
            <a:pPr>
              <a:lnSpc>
                <a:spcPct val="150000"/>
              </a:lnSpc>
            </a:pPr>
            <a:r>
              <a:rPr lang="ru-RU" sz="2400" i="1" dirty="0"/>
              <a:t>Файл </a:t>
            </a:r>
            <a:r>
              <a:rPr lang="en-US" sz="2400" i="1" dirty="0" err="1"/>
              <a:t>docker-compose.yml</a:t>
            </a:r>
            <a:r>
              <a:rPr lang="en-US" sz="2400" i="1" dirty="0"/>
              <a:t> — </a:t>
            </a:r>
            <a:r>
              <a:rPr lang="ru-RU" sz="2400" i="1" dirty="0"/>
              <a:t>это просто список инструкций</a:t>
            </a:r>
            <a:r>
              <a:rPr lang="ru-RU" sz="2400" i="1" dirty="0" smtClean="0"/>
              <a:t>:</a:t>
            </a:r>
          </a:p>
          <a:p>
            <a:pPr>
              <a:lnSpc>
                <a:spcPct val="150000"/>
              </a:lnSpc>
            </a:pPr>
            <a:r>
              <a:rPr lang="en-US" sz="2200" dirty="0"/>
              <a:t>services:</a:t>
            </a:r>
          </a:p>
          <a:p>
            <a:pPr>
              <a:lnSpc>
                <a:spcPct val="150000"/>
              </a:lnSpc>
            </a:pPr>
            <a:r>
              <a:rPr lang="en-US" sz="2200" dirty="0"/>
              <a:t>  </a:t>
            </a:r>
            <a:r>
              <a:rPr lang="en-US" sz="2200" dirty="0" err="1"/>
              <a:t>postgres</a:t>
            </a:r>
            <a:r>
              <a:rPr lang="en-US" sz="2200" dirty="0"/>
              <a:t>:</a:t>
            </a:r>
          </a:p>
          <a:p>
            <a:pPr>
              <a:lnSpc>
                <a:spcPct val="150000"/>
              </a:lnSpc>
            </a:pPr>
            <a:r>
              <a:rPr lang="en-US" sz="2200" dirty="0"/>
              <a:t>    image: </a:t>
            </a:r>
            <a:r>
              <a:rPr lang="en-US" sz="2200" dirty="0" err="1"/>
              <a:t>postgres:latest</a:t>
            </a:r>
            <a:r>
              <a:rPr lang="en-US" sz="2200" dirty="0"/>
              <a:t>      # </a:t>
            </a:r>
            <a:r>
              <a:rPr lang="ru-RU" sz="2200" dirty="0"/>
              <a:t>Откуда взять готовую базу данных</a:t>
            </a:r>
          </a:p>
          <a:p>
            <a:pPr>
              <a:lnSpc>
                <a:spcPct val="150000"/>
              </a:lnSpc>
            </a:pPr>
            <a:r>
              <a:rPr lang="ru-RU" sz="2200" dirty="0"/>
              <a:t>    </a:t>
            </a:r>
            <a:r>
              <a:rPr lang="en-US" sz="2200" dirty="0" err="1"/>
              <a:t>container_name</a:t>
            </a:r>
            <a:r>
              <a:rPr lang="en-US" sz="2200" dirty="0"/>
              <a:t>: </a:t>
            </a:r>
            <a:r>
              <a:rPr lang="en-US" sz="2200" dirty="0" err="1"/>
              <a:t>postgres</a:t>
            </a:r>
            <a:endParaRPr lang="en-US" sz="2200" dirty="0"/>
          </a:p>
          <a:p>
            <a:pPr>
              <a:lnSpc>
                <a:spcPct val="150000"/>
              </a:lnSpc>
            </a:pPr>
            <a:r>
              <a:rPr lang="en-US" sz="2200" dirty="0"/>
              <a:t>    environment:                # </a:t>
            </a:r>
            <a:r>
              <a:rPr lang="ru-RU" sz="2200" dirty="0"/>
              <a:t>Настройки (пароль, имя базы)</a:t>
            </a:r>
          </a:p>
          <a:p>
            <a:pPr>
              <a:lnSpc>
                <a:spcPct val="150000"/>
              </a:lnSpc>
            </a:pPr>
            <a:r>
              <a:rPr lang="ru-RU" sz="2200" dirty="0"/>
              <a:t>      </a:t>
            </a:r>
            <a:r>
              <a:rPr lang="en-US" sz="2200" dirty="0"/>
              <a:t>POSTGRES_DB: </a:t>
            </a:r>
            <a:r>
              <a:rPr lang="en-US" sz="2200" dirty="0" err="1"/>
              <a:t>my_notes</a:t>
            </a:r>
            <a:endParaRPr lang="en-US" sz="2200" dirty="0"/>
          </a:p>
          <a:p>
            <a:pPr>
              <a:lnSpc>
                <a:spcPct val="150000"/>
              </a:lnSpc>
            </a:pPr>
            <a:r>
              <a:rPr lang="en-US" sz="2200" dirty="0"/>
              <a:t>      POSTGRES_PASSWORD: admin</a:t>
            </a:r>
          </a:p>
          <a:p>
            <a:pPr>
              <a:lnSpc>
                <a:spcPct val="150000"/>
              </a:lnSpc>
            </a:pPr>
            <a:r>
              <a:rPr lang="en-US" sz="2200" dirty="0"/>
              <a:t>    ports:</a:t>
            </a:r>
          </a:p>
          <a:p>
            <a:pPr>
              <a:lnSpc>
                <a:spcPct val="150000"/>
              </a:lnSpc>
            </a:pPr>
            <a:r>
              <a:rPr lang="en-US" sz="2200" dirty="0"/>
              <a:t>      - "5432:5432"             # </a:t>
            </a:r>
            <a:r>
              <a:rPr lang="ru-RU" sz="2200" dirty="0"/>
              <a:t>Пробрасываем порт из контейнера наружу</a:t>
            </a:r>
          </a:p>
          <a:p>
            <a:pPr>
              <a:lnSpc>
                <a:spcPct val="150000"/>
              </a:lnSpc>
            </a:pPr>
            <a:r>
              <a:rPr lang="ru-RU" sz="2200" dirty="0"/>
              <a:t>    </a:t>
            </a:r>
            <a:r>
              <a:rPr lang="en-US" sz="2200" dirty="0"/>
              <a:t>volumes:</a:t>
            </a:r>
          </a:p>
          <a:p>
            <a:pPr>
              <a:lnSpc>
                <a:spcPct val="150000"/>
              </a:lnSpc>
            </a:pPr>
            <a:r>
              <a:rPr lang="en-US" sz="2200" dirty="0"/>
              <a:t>      - </a:t>
            </a:r>
            <a:r>
              <a:rPr lang="en-US" sz="2200" dirty="0" err="1"/>
              <a:t>pgdata</a:t>
            </a:r>
            <a:r>
              <a:rPr lang="en-US" sz="2200" dirty="0"/>
              <a:t>:/</a:t>
            </a:r>
            <a:r>
              <a:rPr lang="en-US" sz="2200" dirty="0" err="1"/>
              <a:t>var</a:t>
            </a:r>
            <a:r>
              <a:rPr lang="en-US" sz="2200" dirty="0"/>
              <a:t>/lib/</a:t>
            </a:r>
            <a:r>
              <a:rPr lang="en-US" sz="2200" dirty="0" err="1"/>
              <a:t>postgresql</a:t>
            </a:r>
            <a:r>
              <a:rPr lang="en-US" sz="2200" dirty="0"/>
              <a:t>/data # </a:t>
            </a:r>
            <a:r>
              <a:rPr lang="ru-RU" sz="2200" dirty="0"/>
              <a:t>Данные не пропадут при перезагрузке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19483941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0513" y="0"/>
            <a:ext cx="9143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4477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2">
      <a:majorFont>
        <a:latin typeface="Bookman Old Style"/>
        <a:ea typeface=""/>
        <a:cs typeface=""/>
      </a:majorFont>
      <a:minorFont>
        <a:latin typeface="Bookman Old Style"/>
        <a:ea typeface=""/>
        <a:cs typeface="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17912</TotalTime>
  <Words>661</Words>
  <Application>Microsoft Office PowerPoint</Application>
  <PresentationFormat>Широкоэкранный</PresentationFormat>
  <Paragraphs>250</Paragraphs>
  <Slides>34</Slides>
  <Notes>34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34</vt:i4>
      </vt:variant>
    </vt:vector>
  </HeadingPairs>
  <TitlesOfParts>
    <vt:vector size="40" baseType="lpstr">
      <vt:lpstr>Arial</vt:lpstr>
      <vt:lpstr>Bookman Old Style</vt:lpstr>
      <vt:lpstr>Calibri</vt:lpstr>
      <vt:lpstr>Cascadia Mono</vt:lpstr>
      <vt:lpstr>Times New Roman</vt:lpstr>
      <vt:lpstr>Тема Office</vt:lpstr>
      <vt:lpstr>6 семестр Лекция 8. 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Daniil Kljukin</cp:lastModifiedBy>
  <cp:revision>1102</cp:revision>
  <dcterms:modified xsi:type="dcterms:W3CDTF">2026-02-18T13:38:01Z</dcterms:modified>
</cp:coreProperties>
</file>